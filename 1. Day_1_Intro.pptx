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9"/>
  </p:notesMasterIdLst>
  <p:handoutMasterIdLst>
    <p:handoutMasterId r:id="rId80"/>
  </p:handoutMasterIdLst>
  <p:sldIdLst>
    <p:sldId id="262" r:id="rId5"/>
    <p:sldId id="263" r:id="rId6"/>
    <p:sldId id="264" r:id="rId7"/>
    <p:sldId id="265" r:id="rId8"/>
    <p:sldId id="266" r:id="rId9"/>
    <p:sldId id="269" r:id="rId10"/>
    <p:sldId id="267" r:id="rId11"/>
    <p:sldId id="268" r:id="rId12"/>
    <p:sldId id="270" r:id="rId13"/>
    <p:sldId id="271" r:id="rId14"/>
    <p:sldId id="272" r:id="rId15"/>
    <p:sldId id="273" r:id="rId16"/>
    <p:sldId id="274" r:id="rId17"/>
    <p:sldId id="556" r:id="rId18"/>
    <p:sldId id="557" r:id="rId19"/>
    <p:sldId id="558" r:id="rId20"/>
    <p:sldId id="569" r:id="rId21"/>
    <p:sldId id="562" r:id="rId22"/>
    <p:sldId id="563" r:id="rId23"/>
    <p:sldId id="568" r:id="rId24"/>
    <p:sldId id="560" r:id="rId25"/>
    <p:sldId id="561" r:id="rId26"/>
    <p:sldId id="564" r:id="rId27"/>
    <p:sldId id="566" r:id="rId28"/>
    <p:sldId id="567" r:id="rId29"/>
    <p:sldId id="565" r:id="rId30"/>
    <p:sldId id="559" r:id="rId31"/>
    <p:sldId id="570" r:id="rId32"/>
    <p:sldId id="572" r:id="rId33"/>
    <p:sldId id="574" r:id="rId34"/>
    <p:sldId id="575" r:id="rId35"/>
    <p:sldId id="576" r:id="rId36"/>
    <p:sldId id="577" r:id="rId37"/>
    <p:sldId id="580" r:id="rId38"/>
    <p:sldId id="582" r:id="rId39"/>
    <p:sldId id="583" r:id="rId40"/>
    <p:sldId id="340" r:id="rId41"/>
    <p:sldId id="341" r:id="rId42"/>
    <p:sldId id="343" r:id="rId43"/>
    <p:sldId id="344" r:id="rId44"/>
    <p:sldId id="346" r:id="rId45"/>
    <p:sldId id="347" r:id="rId46"/>
    <p:sldId id="348" r:id="rId47"/>
    <p:sldId id="349" r:id="rId48"/>
    <p:sldId id="345" r:id="rId49"/>
    <p:sldId id="331" r:id="rId50"/>
    <p:sldId id="395" r:id="rId51"/>
    <p:sldId id="352" r:id="rId52"/>
    <p:sldId id="397" r:id="rId53"/>
    <p:sldId id="398" r:id="rId54"/>
    <p:sldId id="399" r:id="rId55"/>
    <p:sldId id="400" r:id="rId56"/>
    <p:sldId id="401" r:id="rId57"/>
    <p:sldId id="396" r:id="rId58"/>
    <p:sldId id="406" r:id="rId59"/>
    <p:sldId id="403" r:id="rId60"/>
    <p:sldId id="404" r:id="rId61"/>
    <p:sldId id="405" r:id="rId62"/>
    <p:sldId id="584" r:id="rId63"/>
    <p:sldId id="585" r:id="rId64"/>
    <p:sldId id="587" r:id="rId65"/>
    <p:sldId id="588" r:id="rId66"/>
    <p:sldId id="589" r:id="rId67"/>
    <p:sldId id="590" r:id="rId68"/>
    <p:sldId id="591" r:id="rId69"/>
    <p:sldId id="592" r:id="rId70"/>
    <p:sldId id="593" r:id="rId71"/>
    <p:sldId id="594" r:id="rId72"/>
    <p:sldId id="595" r:id="rId73"/>
    <p:sldId id="596" r:id="rId74"/>
    <p:sldId id="597" r:id="rId75"/>
    <p:sldId id="598" r:id="rId76"/>
    <p:sldId id="599" r:id="rId77"/>
    <p:sldId id="600" r:id="rId78"/>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2" userDrawn="1">
          <p15:clr>
            <a:srgbClr val="A4A3A4"/>
          </p15:clr>
        </p15:guide>
        <p15:guide id="2" pos="75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1C30"/>
    <a:srgbClr val="FFFFFF"/>
    <a:srgbClr val="162447"/>
    <a:srgbClr val="DDBA4D"/>
    <a:srgbClr val="FF5F5E"/>
    <a:srgbClr val="696940"/>
    <a:srgbClr val="5A0362"/>
    <a:srgbClr val="D7B56D"/>
    <a:srgbClr val="D4AF37"/>
    <a:srgbClr val="3252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56" d="100"/>
          <a:sy n="56" d="100"/>
        </p:scale>
        <p:origin x="884" y="44"/>
      </p:cViewPr>
      <p:guideLst>
        <p:guide orient="horz" pos="3022"/>
        <p:guide pos="7559"/>
      </p:guideLst>
    </p:cSldViewPr>
  </p:slideViewPr>
  <p:notesTextViewPr>
    <p:cViewPr>
      <p:scale>
        <a:sx n="1" d="1"/>
        <a:sy n="1" d="1"/>
      </p:scale>
      <p:origin x="0" y="0"/>
    </p:cViewPr>
  </p:notesTextViewPr>
  <p:notesViewPr>
    <p:cSldViewPr snapToGrid="0">
      <p:cViewPr varScale="1">
        <p:scale>
          <a:sx n="70" d="100"/>
          <a:sy n="70" d="100"/>
        </p:scale>
        <p:origin x="3366" y="4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BC3F978-58BD-4155-BA32-77F5251948ED}" type="doc">
      <dgm:prSet loTypeId="urn:microsoft.com/office/officeart/2018/2/layout/IconCircleList" loCatId="icon" qsTypeId="urn:microsoft.com/office/officeart/2005/8/quickstyle/simple1#1" qsCatId="simple" csTypeId="urn:microsoft.com/office/officeart/2018/5/colors/Iconchunking_neutralicontext_colorful1" csCatId="colorful" phldr="1"/>
      <dgm:spPr/>
      <dgm:t>
        <a:bodyPr/>
        <a:lstStyle/>
        <a:p>
          <a:endParaRPr lang="en-US"/>
        </a:p>
      </dgm:t>
    </dgm:pt>
    <dgm:pt modelId="{28365848-7100-410C-AB31-97ADB60C9726}">
      <dgm:prSet custT="1"/>
      <dgm:spPr/>
      <dgm:t>
        <a:bodyPr/>
        <a:lstStyle/>
        <a:p>
          <a:pPr>
            <a:lnSpc>
              <a:spcPct val="100000"/>
            </a:lnSpc>
          </a:pPr>
          <a:r>
            <a:rPr lang="en-US" sz="1600" b="1" dirty="0">
              <a:solidFill>
                <a:schemeClr val="tx1"/>
              </a:solidFill>
            </a:rPr>
            <a:t>Predictive analytics is the use of data to predict future trends and events based on historical data.</a:t>
          </a:r>
        </a:p>
      </dgm:t>
    </dgm:pt>
    <dgm:pt modelId="{C2C5AEE5-8FD5-410F-BC45-44F8FB4D04D3}" type="parTrans" cxnId="{B7911F6F-69CE-4303-A343-5EF38A123C03}">
      <dgm:prSet/>
      <dgm:spPr/>
      <dgm:t>
        <a:bodyPr/>
        <a:lstStyle/>
        <a:p>
          <a:endParaRPr lang="en-US"/>
        </a:p>
      </dgm:t>
    </dgm:pt>
    <dgm:pt modelId="{1F2C5798-EC31-43B9-864C-61180E0581C1}" type="sibTrans" cxnId="{B7911F6F-69CE-4303-A343-5EF38A123C03}">
      <dgm:prSet/>
      <dgm:spPr/>
      <dgm:t>
        <a:bodyPr/>
        <a:lstStyle/>
        <a:p>
          <a:pPr>
            <a:lnSpc>
              <a:spcPct val="100000"/>
            </a:lnSpc>
          </a:pPr>
          <a:endParaRPr lang="en-US"/>
        </a:p>
      </dgm:t>
    </dgm:pt>
    <dgm:pt modelId="{85312C35-4AF4-4783-8987-D5BBC6AC1A84}">
      <dgm:prSet custT="1"/>
      <dgm:spPr/>
      <dgm:t>
        <a:bodyPr/>
        <a:lstStyle/>
        <a:p>
          <a:pPr>
            <a:lnSpc>
              <a:spcPct val="100000"/>
            </a:lnSpc>
          </a:pPr>
          <a:r>
            <a:rPr lang="en-US" sz="1600" b="1" kern="1200" dirty="0">
              <a:solidFill>
                <a:srgbClr val="030928"/>
              </a:solidFill>
              <a:latin typeface="Open Sans"/>
              <a:ea typeface="+mn-ea"/>
              <a:cs typeface="+mn-cs"/>
            </a:rPr>
            <a:t>The predictions could be for the near future and distant future.</a:t>
          </a:r>
        </a:p>
      </dgm:t>
    </dgm:pt>
    <dgm:pt modelId="{EA1BE4FB-B871-4FED-BEF8-5309D2DB1B97}" type="parTrans" cxnId="{72A2B9C0-76C2-4A25-A13C-8D10151511DD}">
      <dgm:prSet/>
      <dgm:spPr/>
      <dgm:t>
        <a:bodyPr/>
        <a:lstStyle/>
        <a:p>
          <a:endParaRPr lang="en-US"/>
        </a:p>
      </dgm:t>
    </dgm:pt>
    <dgm:pt modelId="{E760D4B6-FF80-457A-A428-FCB04C9EBF49}" type="sibTrans" cxnId="{72A2B9C0-76C2-4A25-A13C-8D10151511DD}">
      <dgm:prSet/>
      <dgm:spPr/>
      <dgm:t>
        <a:bodyPr/>
        <a:lstStyle/>
        <a:p>
          <a:pPr>
            <a:lnSpc>
              <a:spcPct val="100000"/>
            </a:lnSpc>
          </a:pPr>
          <a:endParaRPr lang="en-US"/>
        </a:p>
      </dgm:t>
    </dgm:pt>
    <dgm:pt modelId="{8DA7C260-2F90-445C-9E3B-B8945A20D388}">
      <dgm:prSet custT="1"/>
      <dgm:spPr/>
      <dgm:t>
        <a:bodyPr/>
        <a:lstStyle/>
        <a:p>
          <a:pPr>
            <a:lnSpc>
              <a:spcPct val="100000"/>
            </a:lnSpc>
          </a:pPr>
          <a:r>
            <a:rPr lang="en-US" sz="1600" b="1" kern="1200" dirty="0">
              <a:solidFill>
                <a:srgbClr val="030928"/>
              </a:solidFill>
              <a:latin typeface="Open Sans"/>
              <a:ea typeface="+mn-ea"/>
              <a:cs typeface="+mn-cs"/>
            </a:rPr>
            <a:t>Both Traditional econometric and modern machine learning is being used. </a:t>
          </a:r>
        </a:p>
      </dgm:t>
    </dgm:pt>
    <dgm:pt modelId="{F513A55B-9923-4687-91C0-C5AD4014284C}" type="parTrans" cxnId="{D90FA07C-47FB-4C9F-A2E5-E995A0C9E069}">
      <dgm:prSet/>
      <dgm:spPr/>
      <dgm:t>
        <a:bodyPr/>
        <a:lstStyle/>
        <a:p>
          <a:endParaRPr lang="en-US"/>
        </a:p>
      </dgm:t>
    </dgm:pt>
    <dgm:pt modelId="{C2F7BE0F-BAFD-48B7-95FB-43FC3E6DC939}" type="sibTrans" cxnId="{D90FA07C-47FB-4C9F-A2E5-E995A0C9E069}">
      <dgm:prSet/>
      <dgm:spPr/>
      <dgm:t>
        <a:bodyPr/>
        <a:lstStyle/>
        <a:p>
          <a:pPr>
            <a:lnSpc>
              <a:spcPct val="100000"/>
            </a:lnSpc>
          </a:pPr>
          <a:endParaRPr lang="en-US"/>
        </a:p>
      </dgm:t>
    </dgm:pt>
    <dgm:pt modelId="{D77F8EC0-7DE3-4781-AB5F-8679E3C4B169}">
      <dgm:prSet custT="1"/>
      <dgm:spPr/>
      <dgm:t>
        <a:bodyPr/>
        <a:lstStyle/>
        <a:p>
          <a:pPr algn="l">
            <a:lnSpc>
              <a:spcPct val="100000"/>
            </a:lnSpc>
          </a:pPr>
          <a:r>
            <a:rPr lang="en-US" sz="1600" b="1" kern="1200" dirty="0">
              <a:solidFill>
                <a:srgbClr val="030928"/>
              </a:solidFill>
              <a:latin typeface="Open Sans"/>
              <a:ea typeface="+mn-ea"/>
              <a:cs typeface="+mn-cs"/>
            </a:rPr>
            <a:t>The techniques differ significantly based on nature of data.</a:t>
          </a:r>
        </a:p>
      </dgm:t>
    </dgm:pt>
    <dgm:pt modelId="{457760C6-2754-48E7-8379-0E1C169EEAEE}" type="parTrans" cxnId="{CD16D747-9B8E-4E61-BCE8-0558F1BA27D3}">
      <dgm:prSet/>
      <dgm:spPr/>
      <dgm:t>
        <a:bodyPr/>
        <a:lstStyle/>
        <a:p>
          <a:endParaRPr lang="en-US"/>
        </a:p>
      </dgm:t>
    </dgm:pt>
    <dgm:pt modelId="{BCC2906D-E716-4D59-880A-851976CFA969}" type="sibTrans" cxnId="{CD16D747-9B8E-4E61-BCE8-0558F1BA27D3}">
      <dgm:prSet/>
      <dgm:spPr/>
      <dgm:t>
        <a:bodyPr/>
        <a:lstStyle/>
        <a:p>
          <a:endParaRPr lang="en-US"/>
        </a:p>
      </dgm:t>
    </dgm:pt>
    <dgm:pt modelId="{94B4C7F5-B11B-4EBD-9D09-DCE48DED3D94}" type="pres">
      <dgm:prSet presAssocID="{5BC3F978-58BD-4155-BA32-77F5251948ED}" presName="root" presStyleCnt="0">
        <dgm:presLayoutVars>
          <dgm:dir/>
          <dgm:resizeHandles val="exact"/>
        </dgm:presLayoutVars>
      </dgm:prSet>
      <dgm:spPr/>
    </dgm:pt>
    <dgm:pt modelId="{18709725-7F67-4A7A-B812-00B19BEE7ABD}" type="pres">
      <dgm:prSet presAssocID="{5BC3F978-58BD-4155-BA32-77F5251948ED}" presName="container" presStyleCnt="0">
        <dgm:presLayoutVars>
          <dgm:dir/>
          <dgm:resizeHandles val="exact"/>
        </dgm:presLayoutVars>
      </dgm:prSet>
      <dgm:spPr/>
    </dgm:pt>
    <dgm:pt modelId="{9CFBF1F1-B360-495C-9DC9-601C5B1EE004}" type="pres">
      <dgm:prSet presAssocID="{28365848-7100-410C-AB31-97ADB60C9726}" presName="compNode" presStyleCnt="0"/>
      <dgm:spPr/>
    </dgm:pt>
    <dgm:pt modelId="{62A1E545-1E5F-4F54-B787-644DE2DD0369}" type="pres">
      <dgm:prSet presAssocID="{28365848-7100-410C-AB31-97ADB60C9726}" presName="iconBgRect" presStyleLbl="bgShp" presStyleIdx="0" presStyleCnt="4"/>
      <dgm:spPr/>
    </dgm:pt>
    <dgm:pt modelId="{AACD1452-D671-46DD-BA65-4DCB0B4E6CF8}" type="pres">
      <dgm:prSet presAssocID="{28365848-7100-410C-AB31-97ADB60C972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atistics"/>
        </a:ext>
      </dgm:extLst>
    </dgm:pt>
    <dgm:pt modelId="{45D05AAD-FCCC-449F-969E-E34B647CB803}" type="pres">
      <dgm:prSet presAssocID="{28365848-7100-410C-AB31-97ADB60C9726}" presName="spaceRect" presStyleCnt="0"/>
      <dgm:spPr/>
    </dgm:pt>
    <dgm:pt modelId="{8B82376A-5841-4DEB-9805-9346B877E4C8}" type="pres">
      <dgm:prSet presAssocID="{28365848-7100-410C-AB31-97ADB60C9726}" presName="textRect" presStyleLbl="revTx" presStyleIdx="0" presStyleCnt="4" custScaleX="119602" custScaleY="144935" custLinFactNeighborX="3763" custLinFactNeighborY="-12834">
        <dgm:presLayoutVars>
          <dgm:chMax val="1"/>
          <dgm:chPref val="1"/>
        </dgm:presLayoutVars>
      </dgm:prSet>
      <dgm:spPr/>
    </dgm:pt>
    <dgm:pt modelId="{5782DEAF-B86F-4C6C-9ED5-AF711F598F32}" type="pres">
      <dgm:prSet presAssocID="{1F2C5798-EC31-43B9-864C-61180E0581C1}" presName="sibTrans" presStyleLbl="sibTrans2D1" presStyleIdx="0" presStyleCnt="0"/>
      <dgm:spPr/>
    </dgm:pt>
    <dgm:pt modelId="{FD18C0E3-7587-4733-A4FA-78D32B109AD5}" type="pres">
      <dgm:prSet presAssocID="{85312C35-4AF4-4783-8987-D5BBC6AC1A84}" presName="compNode" presStyleCnt="0"/>
      <dgm:spPr/>
    </dgm:pt>
    <dgm:pt modelId="{4B1EC72A-B34A-40D4-A685-E605C36C5ADE}" type="pres">
      <dgm:prSet presAssocID="{85312C35-4AF4-4783-8987-D5BBC6AC1A84}" presName="iconBgRect" presStyleLbl="bgShp" presStyleIdx="1" presStyleCnt="4"/>
      <dgm:spPr/>
    </dgm:pt>
    <dgm:pt modelId="{0CE791A2-1593-410A-BAF5-2BE67FB30F88}" type="pres">
      <dgm:prSet presAssocID="{85312C35-4AF4-4783-8987-D5BBC6AC1A8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4D8C2CB9-11CC-4310-B293-D7734C0CBCFC}" type="pres">
      <dgm:prSet presAssocID="{85312C35-4AF4-4783-8987-D5BBC6AC1A84}" presName="spaceRect" presStyleCnt="0"/>
      <dgm:spPr/>
    </dgm:pt>
    <dgm:pt modelId="{2EEE04FE-B8B8-4F6A-A26E-4AFCBB567BFD}" type="pres">
      <dgm:prSet presAssocID="{85312C35-4AF4-4783-8987-D5BBC6AC1A84}" presName="textRect" presStyleLbl="revTx" presStyleIdx="1" presStyleCnt="4" custScaleX="110590" custScaleY="131947">
        <dgm:presLayoutVars>
          <dgm:chMax val="1"/>
          <dgm:chPref val="1"/>
        </dgm:presLayoutVars>
      </dgm:prSet>
      <dgm:spPr/>
    </dgm:pt>
    <dgm:pt modelId="{B0CEEA8B-A004-4CE2-9658-F07D668B2B8A}" type="pres">
      <dgm:prSet presAssocID="{E760D4B6-FF80-457A-A428-FCB04C9EBF49}" presName="sibTrans" presStyleLbl="sibTrans2D1" presStyleIdx="0" presStyleCnt="0"/>
      <dgm:spPr/>
    </dgm:pt>
    <dgm:pt modelId="{C320188A-571E-4C32-9145-2D3E21DD0EBE}" type="pres">
      <dgm:prSet presAssocID="{8DA7C260-2F90-445C-9E3B-B8945A20D388}" presName="compNode" presStyleCnt="0"/>
      <dgm:spPr/>
    </dgm:pt>
    <dgm:pt modelId="{1AF3B3F3-F122-4123-8B58-BE79C0B88BDC}" type="pres">
      <dgm:prSet presAssocID="{8DA7C260-2F90-445C-9E3B-B8945A20D388}" presName="iconBgRect" presStyleLbl="bgShp" presStyleIdx="2" presStyleCnt="4" custLinFactNeighborX="-4135" custLinFactNeighborY="-9906"/>
      <dgm:spPr/>
    </dgm:pt>
    <dgm:pt modelId="{4776E922-7D8B-40F3-8A1E-6799BC2C3E2E}" type="pres">
      <dgm:prSet presAssocID="{8DA7C260-2F90-445C-9E3B-B8945A20D38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erson with Idea"/>
        </a:ext>
      </dgm:extLst>
    </dgm:pt>
    <dgm:pt modelId="{E8BA312B-2D98-4268-9017-2EDE5FA3737A}" type="pres">
      <dgm:prSet presAssocID="{8DA7C260-2F90-445C-9E3B-B8945A20D388}" presName="spaceRect" presStyleCnt="0"/>
      <dgm:spPr/>
    </dgm:pt>
    <dgm:pt modelId="{933A7C92-6BD1-4432-BCDA-BB793E81D79C}" type="pres">
      <dgm:prSet presAssocID="{8DA7C260-2F90-445C-9E3B-B8945A20D388}" presName="textRect" presStyleLbl="revTx" presStyleIdx="2" presStyleCnt="4" custScaleX="126450" custLinFactNeighborX="9456" custLinFactNeighborY="-8255">
        <dgm:presLayoutVars>
          <dgm:chMax val="1"/>
          <dgm:chPref val="1"/>
        </dgm:presLayoutVars>
      </dgm:prSet>
      <dgm:spPr/>
    </dgm:pt>
    <dgm:pt modelId="{2DA5DAA7-9B9C-45C4-85C5-DF3BA184A689}" type="pres">
      <dgm:prSet presAssocID="{C2F7BE0F-BAFD-48B7-95FB-43FC3E6DC939}" presName="sibTrans" presStyleLbl="sibTrans2D1" presStyleIdx="0" presStyleCnt="0"/>
      <dgm:spPr/>
    </dgm:pt>
    <dgm:pt modelId="{7C365FD7-E5FF-4E74-97D4-0BDCEEEA8389}" type="pres">
      <dgm:prSet presAssocID="{D77F8EC0-7DE3-4781-AB5F-8679E3C4B169}" presName="compNode" presStyleCnt="0"/>
      <dgm:spPr/>
    </dgm:pt>
    <dgm:pt modelId="{D73BED12-A7E7-4FF9-89D2-D20E4F78DB3F}" type="pres">
      <dgm:prSet presAssocID="{D77F8EC0-7DE3-4781-AB5F-8679E3C4B169}" presName="iconBgRect" presStyleLbl="bgShp" presStyleIdx="3" presStyleCnt="4" custLinFactNeighborX="4128" custLinFactNeighborY="-14859"/>
      <dgm:spPr/>
    </dgm:pt>
    <dgm:pt modelId="{F441064E-BCEB-4E01-9FEE-A16FB33D7641}" type="pres">
      <dgm:prSet presAssocID="{D77F8EC0-7DE3-4781-AB5F-8679E3C4B16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E0388B86-CAFF-4612-A1A2-5E2CECFF6635}" type="pres">
      <dgm:prSet presAssocID="{D77F8EC0-7DE3-4781-AB5F-8679E3C4B169}" presName="spaceRect" presStyleCnt="0"/>
      <dgm:spPr/>
    </dgm:pt>
    <dgm:pt modelId="{CD61FA96-0629-4094-94D0-D5466B63E46F}" type="pres">
      <dgm:prSet presAssocID="{D77F8EC0-7DE3-4781-AB5F-8679E3C4B169}" presName="textRect" presStyleLbl="revTx" presStyleIdx="3" presStyleCnt="4" custScaleY="56357" custLinFactNeighborX="350" custLinFactNeighborY="-14034">
        <dgm:presLayoutVars>
          <dgm:chMax val="1"/>
          <dgm:chPref val="1"/>
        </dgm:presLayoutVars>
      </dgm:prSet>
      <dgm:spPr/>
    </dgm:pt>
  </dgm:ptLst>
  <dgm:cxnLst>
    <dgm:cxn modelId="{88ED330F-853C-4FBA-99B9-07191DB874B1}" type="presOf" srcId="{C2F7BE0F-BAFD-48B7-95FB-43FC3E6DC939}" destId="{2DA5DAA7-9B9C-45C4-85C5-DF3BA184A689}" srcOrd="0" destOrd="0" presId="urn:microsoft.com/office/officeart/2018/2/layout/IconCircleList"/>
    <dgm:cxn modelId="{2C8E812D-5ACD-4562-9160-939BC3504971}" type="presOf" srcId="{1F2C5798-EC31-43B9-864C-61180E0581C1}" destId="{5782DEAF-B86F-4C6C-9ED5-AF711F598F32}" srcOrd="0" destOrd="0" presId="urn:microsoft.com/office/officeart/2018/2/layout/IconCircleList"/>
    <dgm:cxn modelId="{CD16D747-9B8E-4E61-BCE8-0558F1BA27D3}" srcId="{5BC3F978-58BD-4155-BA32-77F5251948ED}" destId="{D77F8EC0-7DE3-4781-AB5F-8679E3C4B169}" srcOrd="3" destOrd="0" parTransId="{457760C6-2754-48E7-8379-0E1C169EEAEE}" sibTransId="{BCC2906D-E716-4D59-880A-851976CFA969}"/>
    <dgm:cxn modelId="{B7911F6F-69CE-4303-A343-5EF38A123C03}" srcId="{5BC3F978-58BD-4155-BA32-77F5251948ED}" destId="{28365848-7100-410C-AB31-97ADB60C9726}" srcOrd="0" destOrd="0" parTransId="{C2C5AEE5-8FD5-410F-BC45-44F8FB4D04D3}" sibTransId="{1F2C5798-EC31-43B9-864C-61180E0581C1}"/>
    <dgm:cxn modelId="{EE3FCF53-5FEF-49FA-B878-8C4A9BAEAE57}" type="presOf" srcId="{85312C35-4AF4-4783-8987-D5BBC6AC1A84}" destId="{2EEE04FE-B8B8-4F6A-A26E-4AFCBB567BFD}" srcOrd="0" destOrd="0" presId="urn:microsoft.com/office/officeart/2018/2/layout/IconCircleList"/>
    <dgm:cxn modelId="{D90FA07C-47FB-4C9F-A2E5-E995A0C9E069}" srcId="{5BC3F978-58BD-4155-BA32-77F5251948ED}" destId="{8DA7C260-2F90-445C-9E3B-B8945A20D388}" srcOrd="2" destOrd="0" parTransId="{F513A55B-9923-4687-91C0-C5AD4014284C}" sibTransId="{C2F7BE0F-BAFD-48B7-95FB-43FC3E6DC939}"/>
    <dgm:cxn modelId="{CB18968A-7810-4063-B352-AA1739B3EA12}" type="presOf" srcId="{E760D4B6-FF80-457A-A428-FCB04C9EBF49}" destId="{B0CEEA8B-A004-4CE2-9658-F07D668B2B8A}" srcOrd="0" destOrd="0" presId="urn:microsoft.com/office/officeart/2018/2/layout/IconCircleList"/>
    <dgm:cxn modelId="{72A2B9C0-76C2-4A25-A13C-8D10151511DD}" srcId="{5BC3F978-58BD-4155-BA32-77F5251948ED}" destId="{85312C35-4AF4-4783-8987-D5BBC6AC1A84}" srcOrd="1" destOrd="0" parTransId="{EA1BE4FB-B871-4FED-BEF8-5309D2DB1B97}" sibTransId="{E760D4B6-FF80-457A-A428-FCB04C9EBF49}"/>
    <dgm:cxn modelId="{E33BEFDE-00E5-4ADF-8061-0B7D2AC92ECB}" type="presOf" srcId="{5BC3F978-58BD-4155-BA32-77F5251948ED}" destId="{94B4C7F5-B11B-4EBD-9D09-DCE48DED3D94}" srcOrd="0" destOrd="0" presId="urn:microsoft.com/office/officeart/2018/2/layout/IconCircleList"/>
    <dgm:cxn modelId="{6ABD06F0-DBC9-4836-A58E-2244FFEBB01A}" type="presOf" srcId="{28365848-7100-410C-AB31-97ADB60C9726}" destId="{8B82376A-5841-4DEB-9805-9346B877E4C8}" srcOrd="0" destOrd="0" presId="urn:microsoft.com/office/officeart/2018/2/layout/IconCircleList"/>
    <dgm:cxn modelId="{036F2BF5-062C-4ED5-B3C4-703606595314}" type="presOf" srcId="{D77F8EC0-7DE3-4781-AB5F-8679E3C4B169}" destId="{CD61FA96-0629-4094-94D0-D5466B63E46F}" srcOrd="0" destOrd="0" presId="urn:microsoft.com/office/officeart/2018/2/layout/IconCircleList"/>
    <dgm:cxn modelId="{7522A2FB-FF16-4381-BE10-B926BF41C5F4}" type="presOf" srcId="{8DA7C260-2F90-445C-9E3B-B8945A20D388}" destId="{933A7C92-6BD1-4432-BCDA-BB793E81D79C}" srcOrd="0" destOrd="0" presId="urn:microsoft.com/office/officeart/2018/2/layout/IconCircleList"/>
    <dgm:cxn modelId="{8B6CFA56-84A7-40A9-BD80-694A4D7EADFB}" type="presParOf" srcId="{94B4C7F5-B11B-4EBD-9D09-DCE48DED3D94}" destId="{18709725-7F67-4A7A-B812-00B19BEE7ABD}" srcOrd="0" destOrd="0" presId="urn:microsoft.com/office/officeart/2018/2/layout/IconCircleList"/>
    <dgm:cxn modelId="{01AEBEEF-2A48-4811-9DEB-9F10CE7FDB7D}" type="presParOf" srcId="{18709725-7F67-4A7A-B812-00B19BEE7ABD}" destId="{9CFBF1F1-B360-495C-9DC9-601C5B1EE004}" srcOrd="0" destOrd="0" presId="urn:microsoft.com/office/officeart/2018/2/layout/IconCircleList"/>
    <dgm:cxn modelId="{9F94A07D-8157-4AD0-B3BB-FF201659F97E}" type="presParOf" srcId="{9CFBF1F1-B360-495C-9DC9-601C5B1EE004}" destId="{62A1E545-1E5F-4F54-B787-644DE2DD0369}" srcOrd="0" destOrd="0" presId="urn:microsoft.com/office/officeart/2018/2/layout/IconCircleList"/>
    <dgm:cxn modelId="{F3B9B44C-98C5-4F52-A39B-7C67052C7963}" type="presParOf" srcId="{9CFBF1F1-B360-495C-9DC9-601C5B1EE004}" destId="{AACD1452-D671-46DD-BA65-4DCB0B4E6CF8}" srcOrd="1" destOrd="0" presId="urn:microsoft.com/office/officeart/2018/2/layout/IconCircleList"/>
    <dgm:cxn modelId="{DE7FF899-C796-4A5A-998C-AA46BB5F58A6}" type="presParOf" srcId="{9CFBF1F1-B360-495C-9DC9-601C5B1EE004}" destId="{45D05AAD-FCCC-449F-969E-E34B647CB803}" srcOrd="2" destOrd="0" presId="urn:microsoft.com/office/officeart/2018/2/layout/IconCircleList"/>
    <dgm:cxn modelId="{DFB536B7-FCBE-4DF0-B6F0-8E77F806296B}" type="presParOf" srcId="{9CFBF1F1-B360-495C-9DC9-601C5B1EE004}" destId="{8B82376A-5841-4DEB-9805-9346B877E4C8}" srcOrd="3" destOrd="0" presId="urn:microsoft.com/office/officeart/2018/2/layout/IconCircleList"/>
    <dgm:cxn modelId="{0F5FA806-259D-48CA-B532-0BC160C37B25}" type="presParOf" srcId="{18709725-7F67-4A7A-B812-00B19BEE7ABD}" destId="{5782DEAF-B86F-4C6C-9ED5-AF711F598F32}" srcOrd="1" destOrd="0" presId="urn:microsoft.com/office/officeart/2018/2/layout/IconCircleList"/>
    <dgm:cxn modelId="{46089A20-6A49-436A-90F2-61C4F883F3A5}" type="presParOf" srcId="{18709725-7F67-4A7A-B812-00B19BEE7ABD}" destId="{FD18C0E3-7587-4733-A4FA-78D32B109AD5}" srcOrd="2" destOrd="0" presId="urn:microsoft.com/office/officeart/2018/2/layout/IconCircleList"/>
    <dgm:cxn modelId="{77CE1480-A326-49E8-A4E3-704CDC3DEE2C}" type="presParOf" srcId="{FD18C0E3-7587-4733-A4FA-78D32B109AD5}" destId="{4B1EC72A-B34A-40D4-A685-E605C36C5ADE}" srcOrd="0" destOrd="0" presId="urn:microsoft.com/office/officeart/2018/2/layout/IconCircleList"/>
    <dgm:cxn modelId="{6C6BC46E-B1DA-446F-9211-47078B859A35}" type="presParOf" srcId="{FD18C0E3-7587-4733-A4FA-78D32B109AD5}" destId="{0CE791A2-1593-410A-BAF5-2BE67FB30F88}" srcOrd="1" destOrd="0" presId="urn:microsoft.com/office/officeart/2018/2/layout/IconCircleList"/>
    <dgm:cxn modelId="{385CAEF2-E2EE-4685-92C3-AF6C5995B289}" type="presParOf" srcId="{FD18C0E3-7587-4733-A4FA-78D32B109AD5}" destId="{4D8C2CB9-11CC-4310-B293-D7734C0CBCFC}" srcOrd="2" destOrd="0" presId="urn:microsoft.com/office/officeart/2018/2/layout/IconCircleList"/>
    <dgm:cxn modelId="{F3297E5D-92F4-48B3-8A20-1C10C2C7A91D}" type="presParOf" srcId="{FD18C0E3-7587-4733-A4FA-78D32B109AD5}" destId="{2EEE04FE-B8B8-4F6A-A26E-4AFCBB567BFD}" srcOrd="3" destOrd="0" presId="urn:microsoft.com/office/officeart/2018/2/layout/IconCircleList"/>
    <dgm:cxn modelId="{F6E80F90-90B1-4CE2-A198-B8A7276BCED1}" type="presParOf" srcId="{18709725-7F67-4A7A-B812-00B19BEE7ABD}" destId="{B0CEEA8B-A004-4CE2-9658-F07D668B2B8A}" srcOrd="3" destOrd="0" presId="urn:microsoft.com/office/officeart/2018/2/layout/IconCircleList"/>
    <dgm:cxn modelId="{12C0334E-35E0-48E2-8E1E-8272C6A69EDF}" type="presParOf" srcId="{18709725-7F67-4A7A-B812-00B19BEE7ABD}" destId="{C320188A-571E-4C32-9145-2D3E21DD0EBE}" srcOrd="4" destOrd="0" presId="urn:microsoft.com/office/officeart/2018/2/layout/IconCircleList"/>
    <dgm:cxn modelId="{A980AA12-6445-46C1-B71E-CDAD88C22D33}" type="presParOf" srcId="{C320188A-571E-4C32-9145-2D3E21DD0EBE}" destId="{1AF3B3F3-F122-4123-8B58-BE79C0B88BDC}" srcOrd="0" destOrd="0" presId="urn:microsoft.com/office/officeart/2018/2/layout/IconCircleList"/>
    <dgm:cxn modelId="{269BE0BC-5EE8-4FB4-BC43-3ABAEC72B4B3}" type="presParOf" srcId="{C320188A-571E-4C32-9145-2D3E21DD0EBE}" destId="{4776E922-7D8B-40F3-8A1E-6799BC2C3E2E}" srcOrd="1" destOrd="0" presId="urn:microsoft.com/office/officeart/2018/2/layout/IconCircleList"/>
    <dgm:cxn modelId="{0AE67A06-9BB8-49EE-983B-987705CFF460}" type="presParOf" srcId="{C320188A-571E-4C32-9145-2D3E21DD0EBE}" destId="{E8BA312B-2D98-4268-9017-2EDE5FA3737A}" srcOrd="2" destOrd="0" presId="urn:microsoft.com/office/officeart/2018/2/layout/IconCircleList"/>
    <dgm:cxn modelId="{B93EA663-16EF-4280-A2F9-43C529305A47}" type="presParOf" srcId="{C320188A-571E-4C32-9145-2D3E21DD0EBE}" destId="{933A7C92-6BD1-4432-BCDA-BB793E81D79C}" srcOrd="3" destOrd="0" presId="urn:microsoft.com/office/officeart/2018/2/layout/IconCircleList"/>
    <dgm:cxn modelId="{C66528EF-1E98-48E0-942C-5BBD0896082E}" type="presParOf" srcId="{18709725-7F67-4A7A-B812-00B19BEE7ABD}" destId="{2DA5DAA7-9B9C-45C4-85C5-DF3BA184A689}" srcOrd="5" destOrd="0" presId="urn:microsoft.com/office/officeart/2018/2/layout/IconCircleList"/>
    <dgm:cxn modelId="{11116020-9FA7-4906-BE8B-8A6BB8DFE2AC}" type="presParOf" srcId="{18709725-7F67-4A7A-B812-00B19BEE7ABD}" destId="{7C365FD7-E5FF-4E74-97D4-0BDCEEEA8389}" srcOrd="6" destOrd="0" presId="urn:microsoft.com/office/officeart/2018/2/layout/IconCircleList"/>
    <dgm:cxn modelId="{636FA40E-24F9-4601-A19E-FC7060149221}" type="presParOf" srcId="{7C365FD7-E5FF-4E74-97D4-0BDCEEEA8389}" destId="{D73BED12-A7E7-4FF9-89D2-D20E4F78DB3F}" srcOrd="0" destOrd="0" presId="urn:microsoft.com/office/officeart/2018/2/layout/IconCircleList"/>
    <dgm:cxn modelId="{42493B9C-58E3-402B-A2AF-E1B6F80B0A55}" type="presParOf" srcId="{7C365FD7-E5FF-4E74-97D4-0BDCEEEA8389}" destId="{F441064E-BCEB-4E01-9FEE-A16FB33D7641}" srcOrd="1" destOrd="0" presId="urn:microsoft.com/office/officeart/2018/2/layout/IconCircleList"/>
    <dgm:cxn modelId="{33A31AF8-84A8-4F6A-8812-83C7EEAC4986}" type="presParOf" srcId="{7C365FD7-E5FF-4E74-97D4-0BDCEEEA8389}" destId="{E0388B86-CAFF-4612-A1A2-5E2CECFF6635}" srcOrd="2" destOrd="0" presId="urn:microsoft.com/office/officeart/2018/2/layout/IconCircleList"/>
    <dgm:cxn modelId="{0B5CA45B-A555-4C65-84B2-E332B5B82590}" type="presParOf" srcId="{7C365FD7-E5FF-4E74-97D4-0BDCEEEA8389}" destId="{CD61FA96-0629-4094-94D0-D5466B63E46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A1E545-1E5F-4F54-B787-644DE2DD0369}">
      <dsp:nvSpPr>
        <dsp:cNvPr id="0" name=""/>
        <dsp:cNvSpPr/>
      </dsp:nvSpPr>
      <dsp:spPr>
        <a:xfrm>
          <a:off x="60296" y="423784"/>
          <a:ext cx="1384587" cy="13845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D1452-D671-46DD-BA65-4DCB0B4E6CF8}">
      <dsp:nvSpPr>
        <dsp:cNvPr id="0" name=""/>
        <dsp:cNvSpPr/>
      </dsp:nvSpPr>
      <dsp:spPr>
        <a:xfrm>
          <a:off x="351060" y="714548"/>
          <a:ext cx="803060" cy="8030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82376A-5841-4DEB-9805-9346B877E4C8}">
      <dsp:nvSpPr>
        <dsp:cNvPr id="0" name=""/>
        <dsp:cNvSpPr/>
      </dsp:nvSpPr>
      <dsp:spPr>
        <a:xfrm>
          <a:off x="1544521" y="0"/>
          <a:ext cx="3903415" cy="2006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a:solidFill>
                <a:schemeClr val="tx1"/>
              </a:solidFill>
            </a:rPr>
            <a:t>Predictive analytics is the use of data to predict future trends and events based on historical data.</a:t>
          </a:r>
        </a:p>
      </dsp:txBody>
      <dsp:txXfrm>
        <a:off x="1544521" y="0"/>
        <a:ext cx="3903415" cy="2006752"/>
      </dsp:txXfrm>
    </dsp:sp>
    <dsp:sp modelId="{4B1EC72A-B34A-40D4-A685-E605C36C5ADE}">
      <dsp:nvSpPr>
        <dsp:cNvPr id="0" name=""/>
        <dsp:cNvSpPr/>
      </dsp:nvSpPr>
      <dsp:spPr>
        <a:xfrm>
          <a:off x="5893795" y="423784"/>
          <a:ext cx="1384587" cy="13845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E791A2-1593-410A-BAF5-2BE67FB30F88}">
      <dsp:nvSpPr>
        <dsp:cNvPr id="0" name=""/>
        <dsp:cNvSpPr/>
      </dsp:nvSpPr>
      <dsp:spPr>
        <a:xfrm>
          <a:off x="6184558" y="714548"/>
          <a:ext cx="803060" cy="8030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EE04FE-B8B8-4F6A-A26E-4AFCBB567BFD}">
      <dsp:nvSpPr>
        <dsp:cNvPr id="0" name=""/>
        <dsp:cNvSpPr/>
      </dsp:nvSpPr>
      <dsp:spPr>
        <a:xfrm>
          <a:off x="7402269" y="202617"/>
          <a:ext cx="3609293" cy="1826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a:solidFill>
                <a:srgbClr val="030928"/>
              </a:solidFill>
              <a:latin typeface="Open Sans"/>
              <a:ea typeface="+mn-ea"/>
              <a:cs typeface="+mn-cs"/>
            </a:rPr>
            <a:t>The predictions could be for the near future and distant future.</a:t>
          </a:r>
        </a:p>
      </dsp:txBody>
      <dsp:txXfrm>
        <a:off x="7402269" y="202617"/>
        <a:ext cx="3609293" cy="1826921"/>
      </dsp:txXfrm>
    </dsp:sp>
    <dsp:sp modelId="{1AF3B3F3-F122-4123-8B58-BE79C0B88BDC}">
      <dsp:nvSpPr>
        <dsp:cNvPr id="0" name=""/>
        <dsp:cNvSpPr/>
      </dsp:nvSpPr>
      <dsp:spPr>
        <a:xfrm>
          <a:off x="3044" y="2723076"/>
          <a:ext cx="1384587" cy="13845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76E922-7D8B-40F3-8A1E-6799BC2C3E2E}">
      <dsp:nvSpPr>
        <dsp:cNvPr id="0" name=""/>
        <dsp:cNvSpPr/>
      </dsp:nvSpPr>
      <dsp:spPr>
        <a:xfrm>
          <a:off x="351060" y="3150997"/>
          <a:ext cx="803060" cy="8030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3A7C92-6BD1-4432-BCDA-BB793E81D79C}">
      <dsp:nvSpPr>
        <dsp:cNvPr id="0" name=""/>
        <dsp:cNvSpPr/>
      </dsp:nvSpPr>
      <dsp:spPr>
        <a:xfrm>
          <a:off x="1618574" y="2745936"/>
          <a:ext cx="4126912" cy="138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a:solidFill>
                <a:srgbClr val="030928"/>
              </a:solidFill>
              <a:latin typeface="Open Sans"/>
              <a:ea typeface="+mn-ea"/>
              <a:cs typeface="+mn-cs"/>
            </a:rPr>
            <a:t>Both Traditional econometric and modern machine learning is being used. </a:t>
          </a:r>
        </a:p>
      </dsp:txBody>
      <dsp:txXfrm>
        <a:off x="1618574" y="2745936"/>
        <a:ext cx="4126912" cy="1384587"/>
      </dsp:txXfrm>
    </dsp:sp>
    <dsp:sp modelId="{D73BED12-A7E7-4FF9-89D2-D20E4F78DB3F}">
      <dsp:nvSpPr>
        <dsp:cNvPr id="0" name=""/>
        <dsp:cNvSpPr/>
      </dsp:nvSpPr>
      <dsp:spPr>
        <a:xfrm>
          <a:off x="6062699" y="2654497"/>
          <a:ext cx="1384587" cy="138458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41064E-BCEB-4E01-9FEE-A16FB33D7641}">
      <dsp:nvSpPr>
        <dsp:cNvPr id="0" name=""/>
        <dsp:cNvSpPr/>
      </dsp:nvSpPr>
      <dsp:spPr>
        <a:xfrm>
          <a:off x="6296307" y="3150997"/>
          <a:ext cx="803060" cy="8030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61FA96-0629-4094-94D0-D5466B63E46F}">
      <dsp:nvSpPr>
        <dsp:cNvPr id="0" name=""/>
        <dsp:cNvSpPr/>
      </dsp:nvSpPr>
      <dsp:spPr>
        <a:xfrm>
          <a:off x="7698251" y="2968058"/>
          <a:ext cx="3263671" cy="780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a:solidFill>
                <a:srgbClr val="030928"/>
              </a:solidFill>
              <a:latin typeface="Open Sans"/>
              <a:ea typeface="+mn-ea"/>
              <a:cs typeface="+mn-cs"/>
            </a:rPr>
            <a:t>The techniques differ significantly based on nature of data.</a:t>
          </a:r>
        </a:p>
      </dsp:txBody>
      <dsp:txXfrm>
        <a:off x="7698251" y="2968058"/>
        <a:ext cx="3263671" cy="78031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a:extLst>
              <a:ext uri="{FF2B5EF4-FFF2-40B4-BE49-F238E27FC236}">
                <a16:creationId xmlns:a16="http://schemas.microsoft.com/office/drawing/2014/main" id="{5A8E637E-89BF-3A2E-D0D9-950F65E846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a:extLst>
              <a:ext uri="{FF2B5EF4-FFF2-40B4-BE49-F238E27FC236}">
                <a16:creationId xmlns:a16="http://schemas.microsoft.com/office/drawing/2014/main" id="{A6C97E34-0981-5F94-DA3C-178F1923AA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007D1C-E4D4-4341-B965-1A11DDA11589}" type="datetimeFigureOut">
              <a:rPr lang="pl-PL" smtClean="0"/>
              <a:t>28.09.2026</a:t>
            </a:fld>
            <a:endParaRPr lang="pl-PL"/>
          </a:p>
        </p:txBody>
      </p:sp>
      <p:sp>
        <p:nvSpPr>
          <p:cNvPr id="4" name="Symbol zastępczy stopki 3">
            <a:extLst>
              <a:ext uri="{FF2B5EF4-FFF2-40B4-BE49-F238E27FC236}">
                <a16:creationId xmlns:a16="http://schemas.microsoft.com/office/drawing/2014/main" id="{B3B77C07-1725-68DA-4843-9170D21CFE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5" name="Symbol zastępczy numeru slajdu 4">
            <a:extLst>
              <a:ext uri="{FF2B5EF4-FFF2-40B4-BE49-F238E27FC236}">
                <a16:creationId xmlns:a16="http://schemas.microsoft.com/office/drawing/2014/main" id="{B9881022-7C08-24D4-5869-2065966F10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DFE46B-CA11-444D-9FFD-6F43691F8208}" type="slidenum">
              <a:rPr lang="pl-PL" smtClean="0"/>
              <a:t>‹#›</a:t>
            </a:fld>
            <a:endParaRPr lang="pl-PL"/>
          </a:p>
        </p:txBody>
      </p:sp>
    </p:spTree>
    <p:extLst>
      <p:ext uri="{BB962C8B-B14F-4D97-AF65-F5344CB8AC3E}">
        <p14:creationId xmlns:p14="http://schemas.microsoft.com/office/powerpoint/2010/main" val="928869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1681E1-122F-4C1A-8DB8-0C8F18998454}" type="datetimeFigureOut">
              <a:rPr lang="pl-PL" smtClean="0"/>
              <a:t>28.09.2026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328E27-D489-49E3-912D-D4E92DC6D636}" type="slidenum">
              <a:rPr lang="pl-PL" smtClean="0"/>
              <a:t>‹#›</a:t>
            </a:fld>
            <a:endParaRPr lang="pl-PL"/>
          </a:p>
        </p:txBody>
      </p:sp>
    </p:spTree>
    <p:extLst>
      <p:ext uri="{BB962C8B-B14F-4D97-AF65-F5344CB8AC3E}">
        <p14:creationId xmlns:p14="http://schemas.microsoft.com/office/powerpoint/2010/main" val="2840782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 install notebook pandas matplotlib</a:t>
            </a:r>
          </a:p>
          <a:p>
            <a:endParaRPr lang="en-US" dirty="0"/>
          </a:p>
          <a:p>
            <a:r>
              <a:rPr lang="en-US" dirty="0"/>
              <a:t>In case notebook is not installed</a:t>
            </a:r>
          </a:p>
        </p:txBody>
      </p:sp>
      <p:sp>
        <p:nvSpPr>
          <p:cNvPr id="4" name="Slide Number Placeholder 3"/>
          <p:cNvSpPr>
            <a:spLocks noGrp="1"/>
          </p:cNvSpPr>
          <p:nvPr>
            <p:ph type="sldNum" sz="quarter" idx="5"/>
          </p:nvPr>
        </p:nvSpPr>
        <p:spPr/>
        <p:txBody>
          <a:bodyPr/>
          <a:lstStyle/>
          <a:p>
            <a:fld id="{4B328E27-D489-49E3-912D-D4E92DC6D636}" type="slidenum">
              <a:rPr lang="pl-PL" smtClean="0"/>
              <a:t>19</a:t>
            </a:fld>
            <a:endParaRPr lang="pl-PL"/>
          </a:p>
        </p:txBody>
      </p:sp>
    </p:spTree>
    <p:extLst>
      <p:ext uri="{BB962C8B-B14F-4D97-AF65-F5344CB8AC3E}">
        <p14:creationId xmlns:p14="http://schemas.microsoft.com/office/powerpoint/2010/main" val="2281906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t>
            </a:r>
          </a:p>
          <a:p>
            <a:endParaRPr lang="en-US" dirty="0"/>
          </a:p>
          <a:p>
            <a:r>
              <a:rPr lang="en-US" dirty="0"/>
              <a:t>In case of the another derive </a:t>
            </a:r>
          </a:p>
        </p:txBody>
      </p:sp>
      <p:sp>
        <p:nvSpPr>
          <p:cNvPr id="4" name="Slide Number Placeholder 3"/>
          <p:cNvSpPr>
            <a:spLocks noGrp="1"/>
          </p:cNvSpPr>
          <p:nvPr>
            <p:ph type="sldNum" sz="quarter" idx="5"/>
          </p:nvPr>
        </p:nvSpPr>
        <p:spPr/>
        <p:txBody>
          <a:bodyPr/>
          <a:lstStyle/>
          <a:p>
            <a:fld id="{4B328E27-D489-49E3-912D-D4E92DC6D636}" type="slidenum">
              <a:rPr lang="pl-PL" smtClean="0"/>
              <a:t>23</a:t>
            </a:fld>
            <a:endParaRPr lang="pl-PL"/>
          </a:p>
        </p:txBody>
      </p:sp>
    </p:spTree>
    <p:extLst>
      <p:ext uri="{BB962C8B-B14F-4D97-AF65-F5344CB8AC3E}">
        <p14:creationId xmlns:p14="http://schemas.microsoft.com/office/powerpoint/2010/main" val="716773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https://framerusercontent.com/images/Y6gJ9PWVnJVc6f0RHAdRl6QaE.png?width=1450&amp;height=1023 </a:t>
            </a:r>
          </a:p>
        </p:txBody>
      </p:sp>
      <p:sp>
        <p:nvSpPr>
          <p:cNvPr id="4" name="Slide Number Placeholder 3"/>
          <p:cNvSpPr>
            <a:spLocks noGrp="1"/>
          </p:cNvSpPr>
          <p:nvPr>
            <p:ph type="sldNum" sz="quarter" idx="5"/>
          </p:nvPr>
        </p:nvSpPr>
        <p:spPr/>
        <p:txBody>
          <a:bodyPr/>
          <a:lstStyle/>
          <a:p>
            <a:fld id="{4B328E27-D489-49E3-912D-D4E92DC6D636}" type="slidenum">
              <a:rPr lang="pl-PL" smtClean="0"/>
              <a:t>51</a:t>
            </a:fld>
            <a:endParaRPr lang="pl-PL"/>
          </a:p>
        </p:txBody>
      </p:sp>
    </p:spTree>
    <p:extLst>
      <p:ext uri="{BB962C8B-B14F-4D97-AF65-F5344CB8AC3E}">
        <p14:creationId xmlns:p14="http://schemas.microsoft.com/office/powerpoint/2010/main" val="1495541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800C600-8FF6-7A97-2012-46DEF47AF826}"/>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8F0D444D-85FB-D98D-75A1-81F88B069C94}"/>
              </a:ext>
            </a:extLst>
          </p:cNvPr>
          <p:cNvSpPr>
            <a:spLocks noGrp="1"/>
          </p:cNvSpPr>
          <p:nvPr>
            <p:ph type="subTitle" idx="1"/>
          </p:nvPr>
        </p:nvSpPr>
        <p:spPr>
          <a:xfrm>
            <a:off x="1524000" y="3602038"/>
            <a:ext cx="9144000" cy="1655762"/>
          </a:xfrm>
        </p:spPr>
        <p:txBody>
          <a:bodyPr/>
          <a:lstStyle>
            <a:lvl1pPr marL="0" indent="0" algn="ctr">
              <a:buNone/>
              <a:defRPr sz="2400">
                <a:solidFill>
                  <a:schemeClr val="accent6">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dirty="0"/>
              <a:t>Kliknij, aby edytować styl wzorca podtytułu</a:t>
            </a:r>
          </a:p>
        </p:txBody>
      </p:sp>
    </p:spTree>
    <p:extLst>
      <p:ext uri="{BB962C8B-B14F-4D97-AF65-F5344CB8AC3E}">
        <p14:creationId xmlns:p14="http://schemas.microsoft.com/office/powerpoint/2010/main" val="1646867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4784C1-997B-6A92-4BC4-BCD892812850}"/>
              </a:ext>
            </a:extLst>
          </p:cNvPr>
          <p:cNvSpPr>
            <a:spLocks noGrp="1"/>
          </p:cNvSpPr>
          <p:nvPr>
            <p:ph type="title"/>
          </p:nvPr>
        </p:nvSpPr>
        <p:spPr/>
        <p:txBody>
          <a:bodyPr>
            <a:normAutofit/>
          </a:bodyPr>
          <a:lstStyle>
            <a:lvl1pPr>
              <a:defRPr sz="2800"/>
            </a:lvl1pPr>
          </a:lstStyle>
          <a:p>
            <a:r>
              <a:rPr lang="pl-PL" dirty="0"/>
              <a:t>Kliknij, aby edytować styl</a:t>
            </a:r>
          </a:p>
        </p:txBody>
      </p:sp>
      <p:sp>
        <p:nvSpPr>
          <p:cNvPr id="3" name="Symbol zastępczy zawartości 2">
            <a:extLst>
              <a:ext uri="{FF2B5EF4-FFF2-40B4-BE49-F238E27FC236}">
                <a16:creationId xmlns:a16="http://schemas.microsoft.com/office/drawing/2014/main" id="{6B99B5A7-48DC-CADF-2818-03921E6E12B0}"/>
              </a:ext>
            </a:extLst>
          </p:cNvPr>
          <p:cNvSpPr>
            <a:spLocks noGrp="1"/>
          </p:cNvSpPr>
          <p:nvPr>
            <p:ph idx="1"/>
          </p:nvPr>
        </p:nvSpPr>
        <p:spPr/>
        <p:txBody>
          <a:bodyPr/>
          <a:lstStyle>
            <a:lvl1pPr>
              <a:defRPr sz="2400"/>
            </a:lvl1pPr>
            <a:lvl2pPr>
              <a:defRPr sz="2400"/>
            </a:lvl2pPr>
          </a:lstStyle>
          <a:p>
            <a:pPr lvl="0"/>
            <a:r>
              <a:rPr lang="pl-PL" dirty="0"/>
              <a:t>Kliknij, aby edytować style wzorca tekstu</a:t>
            </a:r>
          </a:p>
          <a:p>
            <a:pPr lvl="1"/>
            <a:r>
              <a:rPr lang="pl-PL" dirty="0"/>
              <a:t>Drugi poziom</a:t>
            </a:r>
          </a:p>
          <a:p>
            <a:pPr lvl="2"/>
            <a:r>
              <a:rPr lang="pl-PL" dirty="0"/>
              <a:t>Trzeci poziom</a:t>
            </a:r>
          </a:p>
          <a:p>
            <a:pPr lvl="3"/>
            <a:r>
              <a:rPr lang="pl-PL" dirty="0"/>
              <a:t>Czwarty poziom</a:t>
            </a:r>
          </a:p>
          <a:p>
            <a:pPr lvl="4"/>
            <a:r>
              <a:rPr lang="pl-PL" dirty="0"/>
              <a:t>Piąty poziom</a:t>
            </a:r>
          </a:p>
        </p:txBody>
      </p:sp>
      <p:sp>
        <p:nvSpPr>
          <p:cNvPr id="4" name="Symbol zastępczy daty 3">
            <a:extLst>
              <a:ext uri="{FF2B5EF4-FFF2-40B4-BE49-F238E27FC236}">
                <a16:creationId xmlns:a16="http://schemas.microsoft.com/office/drawing/2014/main" id="{DC83CB1A-D62D-A919-3935-8AFFB23B4137}"/>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5" name="Symbol zastępczy stopki 4">
            <a:extLst>
              <a:ext uri="{FF2B5EF4-FFF2-40B4-BE49-F238E27FC236}">
                <a16:creationId xmlns:a16="http://schemas.microsoft.com/office/drawing/2014/main" id="{076CFBA1-B5B0-D735-B002-C627687AA228}"/>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B000279D-0C8E-26F0-EFA2-94A51FB537C2}"/>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4025187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A7FEC98-68AE-A17A-3E4C-B79FBF374F67}"/>
              </a:ext>
            </a:extLst>
          </p:cNvPr>
          <p:cNvSpPr>
            <a:spLocks noGrp="1"/>
          </p:cNvSpPr>
          <p:nvPr>
            <p:ph type="title"/>
          </p:nvPr>
        </p:nvSpPr>
        <p:spPr>
          <a:xfrm>
            <a:off x="831850" y="1709738"/>
            <a:ext cx="10515600" cy="2852737"/>
          </a:xfrm>
        </p:spPr>
        <p:txBody>
          <a:bodyPr anchor="b">
            <a:normAutofit/>
          </a:bodyPr>
          <a:lstStyle>
            <a:lvl1pPr>
              <a:defRPr sz="3600"/>
            </a:lvl1pPr>
          </a:lstStyle>
          <a:p>
            <a:r>
              <a:rPr lang="pl-PL" dirty="0"/>
              <a:t>Kliknij, aby edytować styl</a:t>
            </a:r>
          </a:p>
        </p:txBody>
      </p:sp>
      <p:sp>
        <p:nvSpPr>
          <p:cNvPr id="3" name="Symbol zastępczy tekstu 2">
            <a:extLst>
              <a:ext uri="{FF2B5EF4-FFF2-40B4-BE49-F238E27FC236}">
                <a16:creationId xmlns:a16="http://schemas.microsoft.com/office/drawing/2014/main" id="{5144E67D-61BE-DD61-B543-B99C2CE3C8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D9F15712-CCFE-7FC2-DABD-5619C5DE5E31}"/>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5" name="Symbol zastępczy stopki 4">
            <a:extLst>
              <a:ext uri="{FF2B5EF4-FFF2-40B4-BE49-F238E27FC236}">
                <a16:creationId xmlns:a16="http://schemas.microsoft.com/office/drawing/2014/main" id="{4AF4D2D5-A54C-7FF4-68ED-61D95E6EE9CB}"/>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B40500A8-07FB-A348-3ED9-3CD4B53B86C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26683408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DA08300-10BB-8B35-1299-C9A38D046390}"/>
              </a:ext>
            </a:extLst>
          </p:cNvPr>
          <p:cNvSpPr>
            <a:spLocks noGrp="1"/>
          </p:cNvSpPr>
          <p:nvPr>
            <p:ph type="title"/>
          </p:nvPr>
        </p:nvSpPr>
        <p:spPr/>
        <p:txBody>
          <a:bodyPr>
            <a:normAutofit/>
          </a:bodyPr>
          <a:lstStyle>
            <a:lvl1pPr>
              <a:defRPr sz="2800"/>
            </a:lvl1pPr>
          </a:lstStyle>
          <a:p>
            <a:r>
              <a:rPr lang="pl-PL" dirty="0"/>
              <a:t>Kliknij, aby edytować styl</a:t>
            </a:r>
          </a:p>
        </p:txBody>
      </p:sp>
      <p:sp>
        <p:nvSpPr>
          <p:cNvPr id="3" name="Symbol zastępczy zawartości 2">
            <a:extLst>
              <a:ext uri="{FF2B5EF4-FFF2-40B4-BE49-F238E27FC236}">
                <a16:creationId xmlns:a16="http://schemas.microsoft.com/office/drawing/2014/main" id="{FDC44532-FF0A-D2D9-7B6A-59A309165220}"/>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765A82E4-DEF8-BBC5-32CE-C6679EA9FB30}"/>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71428BC0-A5A4-557F-B513-CE7B1D5AB9B2}"/>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6" name="Symbol zastępczy stopki 5">
            <a:extLst>
              <a:ext uri="{FF2B5EF4-FFF2-40B4-BE49-F238E27FC236}">
                <a16:creationId xmlns:a16="http://schemas.microsoft.com/office/drawing/2014/main" id="{B03FF53E-3CD7-777B-1D3F-30F9677B1830}"/>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66F1D7E5-C72F-2172-2148-037BEFA1E423}"/>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27143563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8682DB6-0262-619C-15C7-E0E5A10DC624}"/>
              </a:ext>
            </a:extLst>
          </p:cNvPr>
          <p:cNvSpPr>
            <a:spLocks noGrp="1"/>
          </p:cNvSpPr>
          <p:nvPr>
            <p:ph type="title"/>
          </p:nvPr>
        </p:nvSpPr>
        <p:spPr>
          <a:xfrm>
            <a:off x="839788" y="365125"/>
            <a:ext cx="10515600" cy="1325563"/>
          </a:xfrm>
        </p:spPr>
        <p:txBody>
          <a:bodyPr>
            <a:normAutofit/>
          </a:bodyPr>
          <a:lstStyle>
            <a:lvl1pPr>
              <a:defRPr sz="2800"/>
            </a:lvl1pPr>
          </a:lstStyle>
          <a:p>
            <a:r>
              <a:rPr lang="pl-PL" dirty="0"/>
              <a:t>Kliknij, aby edytować styl</a:t>
            </a:r>
          </a:p>
        </p:txBody>
      </p:sp>
      <p:sp>
        <p:nvSpPr>
          <p:cNvPr id="3" name="Symbol zastępczy tekstu 2">
            <a:extLst>
              <a:ext uri="{FF2B5EF4-FFF2-40B4-BE49-F238E27FC236}">
                <a16:creationId xmlns:a16="http://schemas.microsoft.com/office/drawing/2014/main" id="{F810DB0A-BC88-E08A-C66A-ACA091E704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E6A2EF2E-41DA-BAB7-6AAA-4F16A66B2AA1}"/>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AEC169F7-DDC9-2134-BD09-F35D4C56BC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A4CF6FF1-DCC8-7F35-8D3E-AF860417C5D4}"/>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9E3233AD-71D6-A5DE-E079-E930485776DE}"/>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8" name="Symbol zastępczy stopki 7">
            <a:extLst>
              <a:ext uri="{FF2B5EF4-FFF2-40B4-BE49-F238E27FC236}">
                <a16:creationId xmlns:a16="http://schemas.microsoft.com/office/drawing/2014/main" id="{FE27CEC9-E93D-F7F6-E605-4316652BA229}"/>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55B63DCE-61CF-180A-A13E-512FEB6A6C6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4111073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9B391DE-6D7E-5529-13A9-D252894D9D52}"/>
              </a:ext>
            </a:extLst>
          </p:cNvPr>
          <p:cNvSpPr>
            <a:spLocks noGrp="1"/>
          </p:cNvSpPr>
          <p:nvPr>
            <p:ph type="title"/>
          </p:nvPr>
        </p:nvSpPr>
        <p:spPr/>
        <p:txBody>
          <a:bodyPr>
            <a:normAutofit/>
          </a:bodyPr>
          <a:lstStyle>
            <a:lvl1pPr>
              <a:defRPr sz="2800"/>
            </a:lvl1pPr>
          </a:lstStyle>
          <a:p>
            <a:r>
              <a:rPr lang="pl-PL" dirty="0"/>
              <a:t>Kliknij, aby edytować styl</a:t>
            </a:r>
          </a:p>
        </p:txBody>
      </p:sp>
      <p:sp>
        <p:nvSpPr>
          <p:cNvPr id="3" name="Symbol zastępczy daty 2">
            <a:extLst>
              <a:ext uri="{FF2B5EF4-FFF2-40B4-BE49-F238E27FC236}">
                <a16:creationId xmlns:a16="http://schemas.microsoft.com/office/drawing/2014/main" id="{779351F6-ACF3-E6EB-9ECD-76299856AD0E}"/>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4" name="Symbol zastępczy stopki 3">
            <a:extLst>
              <a:ext uri="{FF2B5EF4-FFF2-40B4-BE49-F238E27FC236}">
                <a16:creationId xmlns:a16="http://schemas.microsoft.com/office/drawing/2014/main" id="{B16E8048-344D-C9C5-4A95-516A7B83FDD9}"/>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A77A23A4-7CEE-A89A-AEDA-8E119CE2E3D8}"/>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30829416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11E8E01F-F574-FDEB-D48F-D0A01381A4FB}"/>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3" name="Symbol zastępczy stopki 2">
            <a:extLst>
              <a:ext uri="{FF2B5EF4-FFF2-40B4-BE49-F238E27FC236}">
                <a16:creationId xmlns:a16="http://schemas.microsoft.com/office/drawing/2014/main" id="{EF71F7EB-DB47-CB23-3AED-BE559900E773}"/>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B18E8E7C-8373-E77F-9964-4EA50BE607A2}"/>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714360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223A87-C7B6-45A9-E7D1-DA969C867794}"/>
              </a:ext>
            </a:extLst>
          </p:cNvPr>
          <p:cNvSpPr>
            <a:spLocks noGrp="1"/>
          </p:cNvSpPr>
          <p:nvPr>
            <p:ph type="title"/>
          </p:nvPr>
        </p:nvSpPr>
        <p:spPr>
          <a:xfrm>
            <a:off x="839788" y="457200"/>
            <a:ext cx="3932237" cy="1600200"/>
          </a:xfrm>
        </p:spPr>
        <p:txBody>
          <a:bodyPr anchor="b">
            <a:normAutofit/>
          </a:bodyPr>
          <a:lstStyle>
            <a:lvl1pPr>
              <a:defRPr sz="2800"/>
            </a:lvl1pPr>
          </a:lstStyle>
          <a:p>
            <a:r>
              <a:rPr lang="pl-PL" dirty="0"/>
              <a:t>Kliknij, aby edytować styl</a:t>
            </a:r>
          </a:p>
        </p:txBody>
      </p:sp>
      <p:sp>
        <p:nvSpPr>
          <p:cNvPr id="3" name="Symbol zastępczy zawartości 2">
            <a:extLst>
              <a:ext uri="{FF2B5EF4-FFF2-40B4-BE49-F238E27FC236}">
                <a16:creationId xmlns:a16="http://schemas.microsoft.com/office/drawing/2014/main" id="{47CA3F37-968F-654B-1DB7-B9B5C1B4CE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084A5BC2-A2DA-F657-0DC7-A08C4984EB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0B7363BF-C7BF-F582-C148-A4BA0A290900}"/>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6" name="Symbol zastępczy stopki 5">
            <a:extLst>
              <a:ext uri="{FF2B5EF4-FFF2-40B4-BE49-F238E27FC236}">
                <a16:creationId xmlns:a16="http://schemas.microsoft.com/office/drawing/2014/main" id="{D3A24784-3E5C-2007-12D8-DFDF98E95409}"/>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3CFE686C-EA9E-43E0-6069-39455DFC9618}"/>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36641118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EBF02C6-A6D2-FF1C-6B4A-B8B107048769}"/>
              </a:ext>
            </a:extLst>
          </p:cNvPr>
          <p:cNvSpPr>
            <a:spLocks noGrp="1"/>
          </p:cNvSpPr>
          <p:nvPr>
            <p:ph type="title"/>
          </p:nvPr>
        </p:nvSpPr>
        <p:spPr>
          <a:xfrm>
            <a:off x="839788" y="457200"/>
            <a:ext cx="3932237" cy="1600200"/>
          </a:xfrm>
        </p:spPr>
        <p:txBody>
          <a:bodyPr anchor="b">
            <a:normAutofit/>
          </a:bodyPr>
          <a:lstStyle>
            <a:lvl1pPr>
              <a:defRPr sz="2800"/>
            </a:lvl1pPr>
          </a:lstStyle>
          <a:p>
            <a:r>
              <a:rPr lang="pl-PL" dirty="0"/>
              <a:t>Kliknij, aby edytować styl</a:t>
            </a:r>
          </a:p>
        </p:txBody>
      </p:sp>
      <p:sp>
        <p:nvSpPr>
          <p:cNvPr id="3" name="Symbol zastępczy obrazu 2">
            <a:extLst>
              <a:ext uri="{FF2B5EF4-FFF2-40B4-BE49-F238E27FC236}">
                <a16:creationId xmlns:a16="http://schemas.microsoft.com/office/drawing/2014/main" id="{02FEBA59-63E7-3B39-3736-183495937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2CC5F966-3644-137D-94D3-BE4B3145F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632053C-DEE4-B9A7-F3E4-8F14362BEA72}"/>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6" name="Symbol zastępczy stopki 5">
            <a:extLst>
              <a:ext uri="{FF2B5EF4-FFF2-40B4-BE49-F238E27FC236}">
                <a16:creationId xmlns:a16="http://schemas.microsoft.com/office/drawing/2014/main" id="{6352A1D4-25C1-A263-F37D-3D51B945E85B}"/>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2989E317-0255-0D92-DCA2-71DEE2883259}"/>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42265138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3B4610B-74C9-8D98-B107-8C500DCBF75C}"/>
              </a:ext>
            </a:extLst>
          </p:cNvPr>
          <p:cNvSpPr>
            <a:spLocks noGrp="1"/>
          </p:cNvSpPr>
          <p:nvPr>
            <p:ph type="title"/>
          </p:nvPr>
        </p:nvSpPr>
        <p:spPr/>
        <p:txBody>
          <a:bodyPr>
            <a:normAutofit/>
          </a:bodyPr>
          <a:lstStyle>
            <a:lvl1pPr>
              <a:defRPr sz="2800"/>
            </a:lvl1pPr>
          </a:lstStyle>
          <a:p>
            <a:r>
              <a:rPr lang="pl-PL" dirty="0"/>
              <a:t>Kliknij, aby edytować styl</a:t>
            </a:r>
          </a:p>
        </p:txBody>
      </p:sp>
      <p:sp>
        <p:nvSpPr>
          <p:cNvPr id="3" name="Symbol zastępczy tytułu pionowego 2">
            <a:extLst>
              <a:ext uri="{FF2B5EF4-FFF2-40B4-BE49-F238E27FC236}">
                <a16:creationId xmlns:a16="http://schemas.microsoft.com/office/drawing/2014/main" id="{E1548815-6368-F86D-7B0F-8FFCEE5EC8E6}"/>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DF3A208B-EF84-9317-B8D6-950B3816CA7D}"/>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5" name="Symbol zastępczy stopki 4">
            <a:extLst>
              <a:ext uri="{FF2B5EF4-FFF2-40B4-BE49-F238E27FC236}">
                <a16:creationId xmlns:a16="http://schemas.microsoft.com/office/drawing/2014/main" id="{775AA465-2E19-FF4D-A81F-773B4A2FD221}"/>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146A29DE-825A-79D4-5825-D4A5E19E34F9}"/>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7460154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2B1B4A3D-6B2A-AA3C-4E40-40EEBC324EBE}"/>
              </a:ext>
            </a:extLst>
          </p:cNvPr>
          <p:cNvSpPr>
            <a:spLocks noGrp="1"/>
          </p:cNvSpPr>
          <p:nvPr>
            <p:ph type="title" orient="vert"/>
          </p:nvPr>
        </p:nvSpPr>
        <p:spPr>
          <a:xfrm>
            <a:off x="8724900" y="365125"/>
            <a:ext cx="2628900" cy="5811838"/>
          </a:xfrm>
        </p:spPr>
        <p:txBody>
          <a:bodyPr vert="eaVert">
            <a:normAutofit/>
          </a:bodyPr>
          <a:lstStyle>
            <a:lvl1pPr>
              <a:defRPr sz="2800"/>
            </a:lvl1pPr>
          </a:lstStyle>
          <a:p>
            <a:r>
              <a:rPr lang="pl-PL" dirty="0"/>
              <a:t>Kliknij, aby edytować styl</a:t>
            </a:r>
          </a:p>
        </p:txBody>
      </p:sp>
      <p:sp>
        <p:nvSpPr>
          <p:cNvPr id="3" name="Symbol zastępczy tytułu pionowego 2">
            <a:extLst>
              <a:ext uri="{FF2B5EF4-FFF2-40B4-BE49-F238E27FC236}">
                <a16:creationId xmlns:a16="http://schemas.microsoft.com/office/drawing/2014/main" id="{A6462A6D-B658-E7AE-6FEB-55CC04A8213D}"/>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1931249-CE0B-F3C2-36BD-9F7A5607E6AC}"/>
              </a:ext>
            </a:extLst>
          </p:cNvPr>
          <p:cNvSpPr>
            <a:spLocks noGrp="1"/>
          </p:cNvSpPr>
          <p:nvPr>
            <p:ph type="dt" sz="half" idx="10"/>
          </p:nvPr>
        </p:nvSpPr>
        <p:spPr/>
        <p:txBody>
          <a:bodyPr/>
          <a:lstStyle/>
          <a:p>
            <a:fld id="{495643F8-85DF-4C73-9E90-80F4D6D0E137}" type="datetimeFigureOut">
              <a:rPr lang="pl-PL" smtClean="0"/>
              <a:t>28.09.2026</a:t>
            </a:fld>
            <a:endParaRPr lang="pl-PL"/>
          </a:p>
        </p:txBody>
      </p:sp>
      <p:sp>
        <p:nvSpPr>
          <p:cNvPr id="5" name="Symbol zastępczy stopki 4">
            <a:extLst>
              <a:ext uri="{FF2B5EF4-FFF2-40B4-BE49-F238E27FC236}">
                <a16:creationId xmlns:a16="http://schemas.microsoft.com/office/drawing/2014/main" id="{DB6F213C-CB12-1D41-C48C-D98201B72BF2}"/>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D068A6BF-2D89-5E91-2B1E-2FE5040BE517}"/>
              </a:ext>
            </a:extLst>
          </p:cNvPr>
          <p:cNvSpPr>
            <a:spLocks noGrp="1"/>
          </p:cNvSpPr>
          <p:nvPr>
            <p:ph type="sldNum" sz="quarter" idx="12"/>
          </p:nvPr>
        </p:nvSpPr>
        <p:spPr/>
        <p:txBody>
          <a:bodyPr/>
          <a:lstStyle/>
          <a:p>
            <a:fld id="{DEAF6AAD-7FCE-4087-9480-7F01B9F7F525}" type="slidenum">
              <a:rPr lang="pl-PL" smtClean="0"/>
              <a:t>‹#›</a:t>
            </a:fld>
            <a:endParaRPr lang="pl-PL"/>
          </a:p>
        </p:txBody>
      </p:sp>
    </p:spTree>
    <p:extLst>
      <p:ext uri="{BB962C8B-B14F-4D97-AF65-F5344CB8AC3E}">
        <p14:creationId xmlns:p14="http://schemas.microsoft.com/office/powerpoint/2010/main" val="14093986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8A8ED001-1A35-B962-25E5-5BC770DA3B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A7B18F7B-AD4E-3756-D770-80C1466389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C6B7FBB-357F-100F-5CA0-3664DAFB1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5643F8-85DF-4C73-9E90-80F4D6D0E137}" type="datetimeFigureOut">
              <a:rPr lang="pl-PL" smtClean="0"/>
              <a:t>28.09.2026</a:t>
            </a:fld>
            <a:endParaRPr lang="pl-PL"/>
          </a:p>
        </p:txBody>
      </p:sp>
      <p:sp>
        <p:nvSpPr>
          <p:cNvPr id="5" name="Symbol zastępczy stopki 4">
            <a:extLst>
              <a:ext uri="{FF2B5EF4-FFF2-40B4-BE49-F238E27FC236}">
                <a16:creationId xmlns:a16="http://schemas.microsoft.com/office/drawing/2014/main" id="{BD340CE9-A27D-7E3C-09B5-29DEDD6AA6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B9AE6980-B34F-8DF3-BA3B-E899AA09D7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AF6AAD-7FCE-4087-9480-7F01B9F7F525}" type="slidenum">
              <a:rPr lang="pl-PL" smtClean="0"/>
              <a:t>‹#›</a:t>
            </a:fld>
            <a:endParaRPr lang="pl-PL"/>
          </a:p>
        </p:txBody>
      </p:sp>
    </p:spTree>
    <p:extLst>
      <p:ext uri="{BB962C8B-B14F-4D97-AF65-F5344CB8AC3E}">
        <p14:creationId xmlns:p14="http://schemas.microsoft.com/office/powerpoint/2010/main" val="1124533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data.gov/" TargetMode="External"/><Relationship Id="rId2" Type="http://schemas.openxmlformats.org/officeDocument/2006/relationships/hyperlink" Target="https://datasetsearch.research.google.com/" TargetMode="Externa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20C634-4308-8AD9-44C8-702B0CB3C067}"/>
              </a:ext>
            </a:extLst>
          </p:cNvPr>
          <p:cNvSpPr>
            <a:spLocks noGrp="1"/>
          </p:cNvSpPr>
          <p:nvPr>
            <p:ph type="ctrTitle"/>
          </p:nvPr>
        </p:nvSpPr>
        <p:spPr/>
        <p:txBody>
          <a:bodyPr/>
          <a:lstStyle/>
          <a:p>
            <a:r>
              <a:rPr lang="en-US" dirty="0"/>
              <a:t>Business Analytics-Elective </a:t>
            </a:r>
          </a:p>
        </p:txBody>
      </p:sp>
      <p:sp>
        <p:nvSpPr>
          <p:cNvPr id="5" name="Subtitle 4">
            <a:extLst>
              <a:ext uri="{FF2B5EF4-FFF2-40B4-BE49-F238E27FC236}">
                <a16:creationId xmlns:a16="http://schemas.microsoft.com/office/drawing/2014/main" id="{01D63128-A6C8-98BD-5E10-C28BFB1096EF}"/>
              </a:ext>
            </a:extLst>
          </p:cNvPr>
          <p:cNvSpPr>
            <a:spLocks noGrp="1"/>
          </p:cNvSpPr>
          <p:nvPr>
            <p:ph type="subTitle" idx="1"/>
          </p:nvPr>
        </p:nvSpPr>
        <p:spPr/>
        <p:txBody>
          <a:bodyPr/>
          <a:lstStyle/>
          <a:p>
            <a:r>
              <a:rPr lang="en-US" b="1" dirty="0"/>
              <a:t>JUNAID AHMED </a:t>
            </a:r>
          </a:p>
        </p:txBody>
      </p:sp>
    </p:spTree>
    <p:extLst>
      <p:ext uri="{BB962C8B-B14F-4D97-AF65-F5344CB8AC3E}">
        <p14:creationId xmlns:p14="http://schemas.microsoft.com/office/powerpoint/2010/main" val="133134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638F4-6045-3C0C-542C-8E26E7C922FE}"/>
              </a:ext>
            </a:extLst>
          </p:cNvPr>
          <p:cNvSpPr>
            <a:spLocks noGrp="1"/>
          </p:cNvSpPr>
          <p:nvPr>
            <p:ph type="title"/>
          </p:nvPr>
        </p:nvSpPr>
        <p:spPr>
          <a:xfrm>
            <a:off x="838200" y="365125"/>
            <a:ext cx="10515600" cy="846455"/>
          </a:xfrm>
        </p:spPr>
        <p:txBody>
          <a:bodyPr/>
          <a:lstStyle/>
          <a:p>
            <a:pPr algn="ctr"/>
            <a:r>
              <a:rPr lang="en-US" b="1" dirty="0"/>
              <a:t>Course Introduction</a:t>
            </a:r>
          </a:p>
        </p:txBody>
      </p:sp>
      <p:sp>
        <p:nvSpPr>
          <p:cNvPr id="3" name="Content Placeholder 2">
            <a:extLst>
              <a:ext uri="{FF2B5EF4-FFF2-40B4-BE49-F238E27FC236}">
                <a16:creationId xmlns:a16="http://schemas.microsoft.com/office/drawing/2014/main" id="{F7EA9EA6-5C5F-778C-0E88-987DA7539543}"/>
              </a:ext>
            </a:extLst>
          </p:cNvPr>
          <p:cNvSpPr>
            <a:spLocks noGrp="1"/>
          </p:cNvSpPr>
          <p:nvPr>
            <p:ph idx="1"/>
          </p:nvPr>
        </p:nvSpPr>
        <p:spPr>
          <a:xfrm>
            <a:off x="838200" y="1371600"/>
            <a:ext cx="10515600" cy="4805363"/>
          </a:xfrm>
        </p:spPr>
        <p:txBody>
          <a:bodyPr/>
          <a:lstStyle/>
          <a:p>
            <a:r>
              <a:rPr lang="en-US" dirty="0"/>
              <a:t>The course is all about</a:t>
            </a:r>
          </a:p>
          <a:p>
            <a:endParaRPr lang="en-US" dirty="0"/>
          </a:p>
          <a:p>
            <a:r>
              <a:rPr lang="en-US" b="1" dirty="0"/>
              <a:t>Understanding the Business data and its properties</a:t>
            </a:r>
            <a:r>
              <a:rPr lang="en-US" dirty="0"/>
              <a:t>. </a:t>
            </a:r>
          </a:p>
          <a:p>
            <a:pPr lvl="1"/>
            <a:r>
              <a:rPr lang="en-US" dirty="0"/>
              <a:t>Why We need the data </a:t>
            </a:r>
            <a:r>
              <a:rPr lang="en-US" dirty="0">
                <a:sym typeface="Wingdings" panose="05000000000000000000" pitchFamily="2" charset="2"/>
              </a:rPr>
              <a:t> Solve the problems </a:t>
            </a:r>
            <a:r>
              <a:rPr lang="en-US" dirty="0"/>
              <a:t> </a:t>
            </a:r>
          </a:p>
          <a:p>
            <a:pPr lvl="1"/>
            <a:r>
              <a:rPr lang="en-US" dirty="0"/>
              <a:t>What data is needed     </a:t>
            </a:r>
            <a:r>
              <a:rPr lang="en-US" dirty="0">
                <a:sym typeface="Wingdings" panose="05000000000000000000" pitchFamily="2" charset="2"/>
              </a:rPr>
              <a:t> Depending upon the problem.</a:t>
            </a:r>
          </a:p>
          <a:p>
            <a:pPr lvl="1"/>
            <a:endParaRPr lang="en-US" dirty="0">
              <a:sym typeface="Wingdings" panose="05000000000000000000" pitchFamily="2" charset="2"/>
            </a:endParaRPr>
          </a:p>
          <a:p>
            <a:pPr marL="57150" lvl="1" indent="-57150"/>
            <a:r>
              <a:rPr lang="en-US" b="1" dirty="0">
                <a:sym typeface="Wingdings" panose="05000000000000000000" pitchFamily="2" charset="2"/>
              </a:rPr>
              <a:t> The Fundamental of Analytics </a:t>
            </a:r>
          </a:p>
          <a:p>
            <a:pPr marL="514350" lvl="2" indent="-57150"/>
            <a:r>
              <a:rPr lang="en-US" dirty="0">
                <a:sym typeface="Wingdings" panose="05000000000000000000" pitchFamily="2" charset="2"/>
              </a:rPr>
              <a:t> Descriptive </a:t>
            </a:r>
          </a:p>
          <a:p>
            <a:pPr marL="514350" lvl="2" indent="-57150"/>
            <a:r>
              <a:rPr lang="en-US" dirty="0">
                <a:sym typeface="Wingdings" panose="05000000000000000000" pitchFamily="2" charset="2"/>
              </a:rPr>
              <a:t> Diagnostic  </a:t>
            </a:r>
          </a:p>
          <a:p>
            <a:pPr marL="514350" lvl="2" indent="-57150"/>
            <a:r>
              <a:rPr lang="en-US" dirty="0"/>
              <a:t> Predictive </a:t>
            </a:r>
          </a:p>
          <a:p>
            <a:pPr marL="514350" lvl="2" indent="-57150"/>
            <a:r>
              <a:rPr lang="en-US" dirty="0"/>
              <a:t> Prescriptive </a:t>
            </a:r>
          </a:p>
          <a:p>
            <a:endParaRPr lang="en-US" dirty="0"/>
          </a:p>
        </p:txBody>
      </p:sp>
    </p:spTree>
    <p:extLst>
      <p:ext uri="{BB962C8B-B14F-4D97-AF65-F5344CB8AC3E}">
        <p14:creationId xmlns:p14="http://schemas.microsoft.com/office/powerpoint/2010/main" val="2522389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9E45B-3B92-6408-C883-AF6282B1AFAE}"/>
              </a:ext>
            </a:extLst>
          </p:cNvPr>
          <p:cNvSpPr>
            <a:spLocks noGrp="1"/>
          </p:cNvSpPr>
          <p:nvPr>
            <p:ph type="title"/>
          </p:nvPr>
        </p:nvSpPr>
        <p:spPr/>
        <p:txBody>
          <a:bodyPr/>
          <a:lstStyle/>
          <a:p>
            <a:pPr algn="ctr"/>
            <a:r>
              <a:rPr lang="en-US" b="1" dirty="0"/>
              <a:t>Course Introduction</a:t>
            </a:r>
          </a:p>
        </p:txBody>
      </p:sp>
      <p:sp>
        <p:nvSpPr>
          <p:cNvPr id="3" name="Content Placeholder 2">
            <a:extLst>
              <a:ext uri="{FF2B5EF4-FFF2-40B4-BE49-F238E27FC236}">
                <a16:creationId xmlns:a16="http://schemas.microsoft.com/office/drawing/2014/main" id="{3364C242-15C9-85FB-E714-A0A05B079EBB}"/>
              </a:ext>
            </a:extLst>
          </p:cNvPr>
          <p:cNvSpPr>
            <a:spLocks noGrp="1"/>
          </p:cNvSpPr>
          <p:nvPr>
            <p:ph idx="1"/>
          </p:nvPr>
        </p:nvSpPr>
        <p:spPr/>
        <p:txBody>
          <a:bodyPr/>
          <a:lstStyle/>
          <a:p>
            <a:r>
              <a:rPr lang="en-US" dirty="0"/>
              <a:t>Visualization </a:t>
            </a:r>
          </a:p>
          <a:p>
            <a:endParaRPr lang="en-US" dirty="0"/>
          </a:p>
          <a:p>
            <a:r>
              <a:rPr lang="en-US" dirty="0"/>
              <a:t>Analytics in age of AI.</a:t>
            </a:r>
          </a:p>
          <a:p>
            <a:endParaRPr lang="en-US" dirty="0"/>
          </a:p>
          <a:p>
            <a:r>
              <a:rPr lang="en-US" dirty="0"/>
              <a:t>Git and Version Control systems</a:t>
            </a:r>
          </a:p>
          <a:p>
            <a:endParaRPr lang="en-US" dirty="0"/>
          </a:p>
          <a:p>
            <a:r>
              <a:rPr lang="en-US" i="1" dirty="0"/>
              <a:t>If possible, use of the tools such as Power BI, SQL, and Agentic coding.  </a:t>
            </a:r>
          </a:p>
        </p:txBody>
      </p:sp>
    </p:spTree>
    <p:extLst>
      <p:ext uri="{BB962C8B-B14F-4D97-AF65-F5344CB8AC3E}">
        <p14:creationId xmlns:p14="http://schemas.microsoft.com/office/powerpoint/2010/main" val="584784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1CA14-705D-3616-59A5-A86963DC928E}"/>
              </a:ext>
            </a:extLst>
          </p:cNvPr>
          <p:cNvSpPr>
            <a:spLocks noGrp="1"/>
          </p:cNvSpPr>
          <p:nvPr>
            <p:ph type="title"/>
          </p:nvPr>
        </p:nvSpPr>
        <p:spPr/>
        <p:txBody>
          <a:bodyPr/>
          <a:lstStyle/>
          <a:p>
            <a:r>
              <a:rPr lang="en-US" dirty="0"/>
              <a:t>How to pass course </a:t>
            </a:r>
          </a:p>
        </p:txBody>
      </p:sp>
      <p:sp>
        <p:nvSpPr>
          <p:cNvPr id="3" name="Content Placeholder 2">
            <a:extLst>
              <a:ext uri="{FF2B5EF4-FFF2-40B4-BE49-F238E27FC236}">
                <a16:creationId xmlns:a16="http://schemas.microsoft.com/office/drawing/2014/main" id="{3EA9A337-E7F0-2428-DFDA-8027188D63DF}"/>
              </a:ext>
            </a:extLst>
          </p:cNvPr>
          <p:cNvSpPr>
            <a:spLocks noGrp="1"/>
          </p:cNvSpPr>
          <p:nvPr>
            <p:ph idx="1"/>
          </p:nvPr>
        </p:nvSpPr>
        <p:spPr/>
        <p:txBody>
          <a:bodyPr/>
          <a:lstStyle/>
          <a:p>
            <a:pPr marL="457200" indent="-457200">
              <a:buFont typeface="+mj-lt"/>
              <a:buAutoNum type="arabicPeriod"/>
            </a:pPr>
            <a:r>
              <a:rPr lang="en-US" b="1" dirty="0"/>
              <a:t>Attendance</a:t>
            </a:r>
            <a:r>
              <a:rPr lang="en-US" dirty="0"/>
              <a:t> = 1</a:t>
            </a:r>
          </a:p>
          <a:p>
            <a:pPr marL="457200" indent="-457200">
              <a:buFont typeface="+mj-lt"/>
              <a:buAutoNum type="arabicPeriod"/>
            </a:pPr>
            <a:endParaRPr lang="en-US" dirty="0"/>
          </a:p>
          <a:p>
            <a:pPr marL="457200" indent="-457200">
              <a:buFont typeface="+mj-lt"/>
              <a:buAutoNum type="arabicPeriod"/>
            </a:pPr>
            <a:r>
              <a:rPr lang="en-US" b="1" dirty="0"/>
              <a:t>Mini project </a:t>
            </a:r>
            <a:r>
              <a:rPr lang="en-US" dirty="0"/>
              <a:t>= 1    =&gt; </a:t>
            </a:r>
            <a:r>
              <a:rPr lang="en-US" i="1" dirty="0">
                <a:solidFill>
                  <a:srgbClr val="FF0000"/>
                </a:solidFill>
              </a:rPr>
              <a:t>Submit by October 11, 2026</a:t>
            </a:r>
          </a:p>
          <a:p>
            <a:pPr marL="457200" indent="-457200">
              <a:buFont typeface="+mj-lt"/>
              <a:buAutoNum type="arabicPeriod"/>
            </a:pPr>
            <a:endParaRPr lang="en-US" dirty="0"/>
          </a:p>
          <a:p>
            <a:pPr marL="457200" indent="-457200">
              <a:buFont typeface="+mj-lt"/>
              <a:buAutoNum type="arabicPeriod"/>
            </a:pPr>
            <a:r>
              <a:rPr lang="en-US" b="1" dirty="0"/>
              <a:t>HomeWorks and Class activity </a:t>
            </a:r>
            <a:r>
              <a:rPr lang="en-US" dirty="0"/>
              <a:t>= 1</a:t>
            </a:r>
          </a:p>
          <a:p>
            <a:pPr marL="457200" indent="-457200">
              <a:buFont typeface="+mj-lt"/>
              <a:buAutoNum type="arabicPeriod"/>
            </a:pPr>
            <a:endParaRPr lang="en-US" dirty="0"/>
          </a:p>
          <a:p>
            <a:pPr marL="457200" indent="-457200">
              <a:buFont typeface="+mj-lt"/>
              <a:buAutoNum type="arabicPeriod"/>
            </a:pPr>
            <a:r>
              <a:rPr lang="en-US" b="1" dirty="0"/>
              <a:t>Final project </a:t>
            </a:r>
            <a:r>
              <a:rPr lang="en-US" dirty="0"/>
              <a:t>= 2   =&gt; </a:t>
            </a:r>
            <a:r>
              <a:rPr lang="en-US" i="1" dirty="0">
                <a:solidFill>
                  <a:srgbClr val="FF0000"/>
                </a:solidFill>
              </a:rPr>
              <a:t>Submit by November 6, 2026</a:t>
            </a:r>
          </a:p>
          <a:p>
            <a:pPr marL="457200" indent="-457200">
              <a:buFont typeface="+mj-lt"/>
              <a:buAutoNum type="arabicPeriod"/>
            </a:pPr>
            <a:endParaRPr lang="en-US" dirty="0"/>
          </a:p>
        </p:txBody>
      </p:sp>
    </p:spTree>
    <p:extLst>
      <p:ext uri="{BB962C8B-B14F-4D97-AF65-F5344CB8AC3E}">
        <p14:creationId xmlns:p14="http://schemas.microsoft.com/office/powerpoint/2010/main" val="3518475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9B6C0-0B2E-3172-816B-708ACD8E406F}"/>
              </a:ext>
            </a:extLst>
          </p:cNvPr>
          <p:cNvSpPr>
            <a:spLocks noGrp="1"/>
          </p:cNvSpPr>
          <p:nvPr>
            <p:ph type="title"/>
          </p:nvPr>
        </p:nvSpPr>
        <p:spPr/>
        <p:txBody>
          <a:bodyPr/>
          <a:lstStyle/>
          <a:p>
            <a:pPr algn="ctr"/>
            <a:r>
              <a:rPr lang="en-US" dirty="0"/>
              <a:t>What are you studying? </a:t>
            </a:r>
          </a:p>
        </p:txBody>
      </p:sp>
      <p:graphicFrame>
        <p:nvGraphicFramePr>
          <p:cNvPr id="5" name="Content Placeholder 4">
            <a:extLst>
              <a:ext uri="{FF2B5EF4-FFF2-40B4-BE49-F238E27FC236}">
                <a16:creationId xmlns:a16="http://schemas.microsoft.com/office/drawing/2014/main" id="{027451F3-9AB2-FFB5-C919-19B4B9152468}"/>
              </a:ext>
            </a:extLst>
          </p:cNvPr>
          <p:cNvGraphicFramePr>
            <a:graphicFrameLocks noGrp="1"/>
          </p:cNvGraphicFramePr>
          <p:nvPr>
            <p:ph idx="1"/>
            <p:extLst>
              <p:ext uri="{D42A27DB-BD31-4B8C-83A1-F6EECF244321}">
                <p14:modId xmlns:p14="http://schemas.microsoft.com/office/powerpoint/2010/main" val="3003336734"/>
              </p:ext>
            </p:extLst>
          </p:nvPr>
        </p:nvGraphicFramePr>
        <p:xfrm>
          <a:off x="838200" y="1825625"/>
          <a:ext cx="10515597" cy="1854200"/>
        </p:xfrm>
        <a:graphic>
          <a:graphicData uri="http://schemas.openxmlformats.org/drawingml/2006/table">
            <a:tbl>
              <a:tblPr firstRow="1" bandRow="1">
                <a:tableStyleId>{5C22544A-7EE6-4342-B048-85BDC9FD1C3A}</a:tableStyleId>
              </a:tblPr>
              <a:tblGrid>
                <a:gridCol w="1550670">
                  <a:extLst>
                    <a:ext uri="{9D8B030D-6E8A-4147-A177-3AD203B41FA5}">
                      <a16:colId xmlns:a16="http://schemas.microsoft.com/office/drawing/2014/main" val="1051664532"/>
                    </a:ext>
                  </a:extLst>
                </a:gridCol>
                <a:gridCol w="5459728">
                  <a:extLst>
                    <a:ext uri="{9D8B030D-6E8A-4147-A177-3AD203B41FA5}">
                      <a16:colId xmlns:a16="http://schemas.microsoft.com/office/drawing/2014/main" val="2942704418"/>
                    </a:ext>
                  </a:extLst>
                </a:gridCol>
                <a:gridCol w="3505199">
                  <a:extLst>
                    <a:ext uri="{9D8B030D-6E8A-4147-A177-3AD203B41FA5}">
                      <a16:colId xmlns:a16="http://schemas.microsoft.com/office/drawing/2014/main" val="2871483125"/>
                    </a:ext>
                  </a:extLst>
                </a:gridCol>
              </a:tblGrid>
              <a:tr h="370840">
                <a:tc>
                  <a:txBody>
                    <a:bodyPr/>
                    <a:lstStyle/>
                    <a:p>
                      <a:r>
                        <a:rPr lang="en-US" dirty="0"/>
                        <a:t>S.No</a:t>
                      </a:r>
                    </a:p>
                  </a:txBody>
                  <a:tcPr/>
                </a:tc>
                <a:tc>
                  <a:txBody>
                    <a:bodyPr/>
                    <a:lstStyle/>
                    <a:p>
                      <a:r>
                        <a:rPr lang="en-US" dirty="0"/>
                        <a:t>Field </a:t>
                      </a:r>
                    </a:p>
                  </a:txBody>
                  <a:tcPr/>
                </a:tc>
                <a:tc>
                  <a:txBody>
                    <a:bodyPr/>
                    <a:lstStyle/>
                    <a:p>
                      <a:r>
                        <a:rPr lang="en-US" dirty="0"/>
                        <a:t>No</a:t>
                      </a:r>
                    </a:p>
                  </a:txBody>
                  <a:tcPr/>
                </a:tc>
                <a:extLst>
                  <a:ext uri="{0D108BD9-81ED-4DB2-BD59-A6C34878D82A}">
                    <a16:rowId xmlns:a16="http://schemas.microsoft.com/office/drawing/2014/main" val="411370808"/>
                  </a:ext>
                </a:extLst>
              </a:tr>
              <a:tr h="370840">
                <a:tc>
                  <a:txBody>
                    <a:bodyPr/>
                    <a:lstStyle/>
                    <a:p>
                      <a:r>
                        <a:rPr lang="en-US" dirty="0"/>
                        <a:t>1</a:t>
                      </a:r>
                    </a:p>
                  </a:txBody>
                  <a:tcPr/>
                </a:tc>
                <a:tc>
                  <a:txBody>
                    <a:bodyPr/>
                    <a:lstStyle/>
                    <a:p>
                      <a:r>
                        <a:rPr lang="en-US" dirty="0"/>
                        <a:t>AI and Management </a:t>
                      </a:r>
                    </a:p>
                  </a:txBody>
                  <a:tcPr/>
                </a:tc>
                <a:tc>
                  <a:txBody>
                    <a:bodyPr/>
                    <a:lstStyle/>
                    <a:p>
                      <a:endParaRPr lang="en-US" dirty="0"/>
                    </a:p>
                  </a:txBody>
                  <a:tcPr/>
                </a:tc>
                <a:extLst>
                  <a:ext uri="{0D108BD9-81ED-4DB2-BD59-A6C34878D82A}">
                    <a16:rowId xmlns:a16="http://schemas.microsoft.com/office/drawing/2014/main" val="4035489742"/>
                  </a:ext>
                </a:extLst>
              </a:tr>
              <a:tr h="370840">
                <a:tc>
                  <a:txBody>
                    <a:bodyPr/>
                    <a:lstStyle/>
                    <a:p>
                      <a:r>
                        <a:rPr lang="en-US" dirty="0"/>
                        <a:t>2</a:t>
                      </a:r>
                    </a:p>
                  </a:txBody>
                  <a:tcPr/>
                </a:tc>
                <a:tc>
                  <a:txBody>
                    <a:bodyPr/>
                    <a:lstStyle/>
                    <a:p>
                      <a:r>
                        <a:rPr lang="en-US" dirty="0"/>
                        <a:t>Business Administration (Marketing and HR)</a:t>
                      </a:r>
                    </a:p>
                  </a:txBody>
                  <a:tcPr/>
                </a:tc>
                <a:tc>
                  <a:txBody>
                    <a:bodyPr/>
                    <a:lstStyle/>
                    <a:p>
                      <a:endParaRPr lang="en-US" dirty="0"/>
                    </a:p>
                  </a:txBody>
                  <a:tcPr/>
                </a:tc>
                <a:extLst>
                  <a:ext uri="{0D108BD9-81ED-4DB2-BD59-A6C34878D82A}">
                    <a16:rowId xmlns:a16="http://schemas.microsoft.com/office/drawing/2014/main" val="3940534033"/>
                  </a:ext>
                </a:extLst>
              </a:tr>
              <a:tr h="370840">
                <a:tc>
                  <a:txBody>
                    <a:bodyPr/>
                    <a:lstStyle/>
                    <a:p>
                      <a:r>
                        <a:rPr lang="en-US" dirty="0"/>
                        <a:t>3</a:t>
                      </a:r>
                    </a:p>
                  </a:txBody>
                  <a:tcPr/>
                </a:tc>
                <a:tc>
                  <a:txBody>
                    <a:bodyPr/>
                    <a:lstStyle/>
                    <a:p>
                      <a:r>
                        <a:rPr lang="en-US" dirty="0"/>
                        <a:t>Accounts, Finance and Economics</a:t>
                      </a:r>
                    </a:p>
                  </a:txBody>
                  <a:tcPr/>
                </a:tc>
                <a:tc>
                  <a:txBody>
                    <a:bodyPr/>
                    <a:lstStyle/>
                    <a:p>
                      <a:endParaRPr lang="en-US" dirty="0"/>
                    </a:p>
                  </a:txBody>
                  <a:tcPr/>
                </a:tc>
                <a:extLst>
                  <a:ext uri="{0D108BD9-81ED-4DB2-BD59-A6C34878D82A}">
                    <a16:rowId xmlns:a16="http://schemas.microsoft.com/office/drawing/2014/main" val="3912430902"/>
                  </a:ext>
                </a:extLst>
              </a:tr>
              <a:tr h="370840">
                <a:tc>
                  <a:txBody>
                    <a:bodyPr/>
                    <a:lstStyle/>
                    <a:p>
                      <a:r>
                        <a:rPr lang="en-US" dirty="0"/>
                        <a:t>4</a:t>
                      </a:r>
                    </a:p>
                  </a:txBody>
                  <a:tcPr/>
                </a:tc>
                <a:tc>
                  <a:txBody>
                    <a:bodyPr/>
                    <a:lstStyle/>
                    <a:p>
                      <a:r>
                        <a:rPr lang="en-US" dirty="0"/>
                        <a:t>Social Science-Psychology, Sociology etc. </a:t>
                      </a:r>
                    </a:p>
                  </a:txBody>
                  <a:tcPr/>
                </a:tc>
                <a:tc>
                  <a:txBody>
                    <a:bodyPr/>
                    <a:lstStyle/>
                    <a:p>
                      <a:endParaRPr lang="en-US" dirty="0"/>
                    </a:p>
                  </a:txBody>
                  <a:tcPr/>
                </a:tc>
                <a:extLst>
                  <a:ext uri="{0D108BD9-81ED-4DB2-BD59-A6C34878D82A}">
                    <a16:rowId xmlns:a16="http://schemas.microsoft.com/office/drawing/2014/main" val="429884051"/>
                  </a:ext>
                </a:extLst>
              </a:tr>
            </a:tbl>
          </a:graphicData>
        </a:graphic>
      </p:graphicFrame>
    </p:spTree>
    <p:extLst>
      <p:ext uri="{BB962C8B-B14F-4D97-AF65-F5344CB8AC3E}">
        <p14:creationId xmlns:p14="http://schemas.microsoft.com/office/powerpoint/2010/main" val="1730861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FB57A-4A70-ECAC-B920-7FB23E3E336B}"/>
              </a:ext>
            </a:extLst>
          </p:cNvPr>
          <p:cNvSpPr>
            <a:spLocks noGrp="1"/>
          </p:cNvSpPr>
          <p:nvPr>
            <p:ph type="title"/>
          </p:nvPr>
        </p:nvSpPr>
        <p:spPr/>
        <p:txBody>
          <a:bodyPr/>
          <a:lstStyle/>
          <a:p>
            <a:r>
              <a:rPr lang="en-US" dirty="0"/>
              <a:t>Python Knowledge</a:t>
            </a:r>
          </a:p>
        </p:txBody>
      </p:sp>
      <p:sp>
        <p:nvSpPr>
          <p:cNvPr id="3" name="Content Placeholder 2">
            <a:extLst>
              <a:ext uri="{FF2B5EF4-FFF2-40B4-BE49-F238E27FC236}">
                <a16:creationId xmlns:a16="http://schemas.microsoft.com/office/drawing/2014/main" id="{EDBD8905-9B82-83E6-3D8A-DACFF21E5BA7}"/>
              </a:ext>
            </a:extLst>
          </p:cNvPr>
          <p:cNvSpPr>
            <a:spLocks noGrp="1"/>
          </p:cNvSpPr>
          <p:nvPr>
            <p:ph idx="1"/>
          </p:nvPr>
        </p:nvSpPr>
        <p:spPr/>
        <p:txBody>
          <a:bodyPr/>
          <a:lstStyle/>
          <a:p>
            <a:r>
              <a:rPr lang="en-US" i="1" dirty="0"/>
              <a:t>How many of you have taken any course of python?</a:t>
            </a:r>
          </a:p>
          <a:p>
            <a:endParaRPr lang="en-US" dirty="0"/>
          </a:p>
          <a:p>
            <a:endParaRPr lang="en-US" dirty="0"/>
          </a:p>
          <a:p>
            <a:endParaRPr lang="en-US" dirty="0"/>
          </a:p>
          <a:p>
            <a:endParaRPr lang="en-US" dirty="0"/>
          </a:p>
          <a:p>
            <a:r>
              <a:rPr lang="en-US" i="1" dirty="0"/>
              <a:t>Do you want a smaller introduction of python syntax?</a:t>
            </a:r>
          </a:p>
        </p:txBody>
      </p:sp>
    </p:spTree>
    <p:extLst>
      <p:ext uri="{BB962C8B-B14F-4D97-AF65-F5344CB8AC3E}">
        <p14:creationId xmlns:p14="http://schemas.microsoft.com/office/powerpoint/2010/main" val="2408207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E4390-EDE1-BCE3-0154-F0F6546EE89D}"/>
              </a:ext>
            </a:extLst>
          </p:cNvPr>
          <p:cNvSpPr>
            <a:spLocks noGrp="1"/>
          </p:cNvSpPr>
          <p:nvPr>
            <p:ph type="title"/>
          </p:nvPr>
        </p:nvSpPr>
        <p:spPr/>
        <p:txBody>
          <a:bodyPr/>
          <a:lstStyle/>
          <a:p>
            <a:pPr algn="ctr"/>
            <a:r>
              <a:rPr lang="en-US" dirty="0" err="1"/>
              <a:t>Sallybus</a:t>
            </a:r>
            <a:r>
              <a:rPr lang="en-US" dirty="0"/>
              <a:t> </a:t>
            </a:r>
          </a:p>
        </p:txBody>
      </p:sp>
      <p:sp>
        <p:nvSpPr>
          <p:cNvPr id="5" name="Text Placeholder 4">
            <a:extLst>
              <a:ext uri="{FF2B5EF4-FFF2-40B4-BE49-F238E27FC236}">
                <a16:creationId xmlns:a16="http://schemas.microsoft.com/office/drawing/2014/main" id="{F4AD3125-E157-307F-2A89-3A6AF8B0869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9458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600C299-3F52-F00E-806D-A0BDF5D457D7}"/>
              </a:ext>
            </a:extLst>
          </p:cNvPr>
          <p:cNvSpPr>
            <a:spLocks noGrp="1"/>
          </p:cNvSpPr>
          <p:nvPr>
            <p:ph idx="1"/>
          </p:nvPr>
        </p:nvSpPr>
        <p:spPr>
          <a:xfrm>
            <a:off x="194310" y="171450"/>
            <a:ext cx="11761470" cy="6005513"/>
          </a:xfrm>
        </p:spPr>
        <p:txBody>
          <a:bodyPr>
            <a:normAutofit lnSpcReduction="10000"/>
          </a:bodyPr>
          <a:lstStyle/>
          <a:p>
            <a:r>
              <a:rPr lang="en-US" b="1" dirty="0"/>
              <a:t>Day 1</a:t>
            </a:r>
            <a:r>
              <a:rPr lang="en-US" dirty="0"/>
              <a:t>: Basic Git hub, Data and Data analytics, Social network analysis, Types of data Structured Vs Unstructured, Collecting data (primary, secondary, big web data-API &amp; Web scrapping). Fundamentals of the Cross Section, Timeseries and Panels data</a:t>
            </a:r>
          </a:p>
          <a:p>
            <a:endParaRPr lang="en-US" dirty="0"/>
          </a:p>
          <a:p>
            <a:r>
              <a:rPr lang="en-US" b="1" dirty="0"/>
              <a:t>Days 2</a:t>
            </a:r>
            <a:r>
              <a:rPr lang="en-US" dirty="0"/>
              <a:t>: Hands on Analytics using Exploratory Data analytics (Descriptive and Diagnostic), Importance of Visualization and storytelling. Data Analytics-Cross Sectional Analytics (Descriptive, Diagnostic, and Predictive Analytics), Fundamentals of experimental, A/B Analysis</a:t>
            </a:r>
          </a:p>
          <a:p>
            <a:endParaRPr lang="en-US" dirty="0"/>
          </a:p>
          <a:p>
            <a:r>
              <a:rPr lang="en-US" b="1" dirty="0"/>
              <a:t>Days 3: </a:t>
            </a:r>
            <a:r>
              <a:rPr lang="en-US" dirty="0"/>
              <a:t>Unstructured Data and Analytics + Social network analysis</a:t>
            </a:r>
          </a:p>
          <a:p>
            <a:endParaRPr lang="en-US" dirty="0"/>
          </a:p>
          <a:p>
            <a:r>
              <a:rPr lang="en-US" b="1" dirty="0"/>
              <a:t>Days</a:t>
            </a:r>
            <a:r>
              <a:rPr lang="en-US" dirty="0"/>
              <a:t> </a:t>
            </a:r>
            <a:r>
              <a:rPr lang="en-US" b="1" dirty="0"/>
              <a:t>4</a:t>
            </a:r>
            <a:r>
              <a:rPr lang="en-US" dirty="0"/>
              <a:t>: Timeseries and Panels Data Analytics</a:t>
            </a:r>
          </a:p>
          <a:p>
            <a:endParaRPr lang="en-US" dirty="0"/>
          </a:p>
          <a:p>
            <a:r>
              <a:rPr lang="en-US" b="1" dirty="0"/>
              <a:t>Day 5</a:t>
            </a:r>
            <a:r>
              <a:rPr lang="en-US" dirty="0"/>
              <a:t>: Additional Topics of agentic coding, SQL and </a:t>
            </a:r>
            <a:r>
              <a:rPr lang="en-US" dirty="0" err="1"/>
              <a:t>PowerBI</a:t>
            </a:r>
            <a:endParaRPr lang="en-US" dirty="0"/>
          </a:p>
        </p:txBody>
      </p:sp>
    </p:spTree>
    <p:extLst>
      <p:ext uri="{BB962C8B-B14F-4D97-AF65-F5344CB8AC3E}">
        <p14:creationId xmlns:p14="http://schemas.microsoft.com/office/powerpoint/2010/main" val="2094115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96E31-E933-985A-5D8D-F63421769958}"/>
              </a:ext>
            </a:extLst>
          </p:cNvPr>
          <p:cNvSpPr>
            <a:spLocks noGrp="1"/>
          </p:cNvSpPr>
          <p:nvPr>
            <p:ph type="title"/>
          </p:nvPr>
        </p:nvSpPr>
        <p:spPr/>
        <p:txBody>
          <a:bodyPr/>
          <a:lstStyle/>
          <a:p>
            <a:r>
              <a:rPr lang="en-US" dirty="0"/>
              <a:t>Question, Comments and thoughts </a:t>
            </a:r>
          </a:p>
        </p:txBody>
      </p:sp>
      <p:sp>
        <p:nvSpPr>
          <p:cNvPr id="3" name="Content Placeholder 2">
            <a:extLst>
              <a:ext uri="{FF2B5EF4-FFF2-40B4-BE49-F238E27FC236}">
                <a16:creationId xmlns:a16="http://schemas.microsoft.com/office/drawing/2014/main" id="{837B3637-487C-E9E2-DB7D-08A0563A46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99129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9FD2DC-0C71-E915-F33E-C6C834E58666}"/>
              </a:ext>
            </a:extLst>
          </p:cNvPr>
          <p:cNvSpPr>
            <a:spLocks noGrp="1"/>
          </p:cNvSpPr>
          <p:nvPr>
            <p:ph type="title"/>
          </p:nvPr>
        </p:nvSpPr>
        <p:spPr/>
        <p:txBody>
          <a:bodyPr/>
          <a:lstStyle/>
          <a:p>
            <a:pPr algn="ctr"/>
            <a:r>
              <a:rPr lang="en-US" dirty="0"/>
              <a:t>Day 1: Fundamental of Analytics</a:t>
            </a:r>
          </a:p>
        </p:txBody>
      </p:sp>
      <p:sp>
        <p:nvSpPr>
          <p:cNvPr id="5" name="Text Placeholder 4">
            <a:extLst>
              <a:ext uri="{FF2B5EF4-FFF2-40B4-BE49-F238E27FC236}">
                <a16:creationId xmlns:a16="http://schemas.microsoft.com/office/drawing/2014/main" id="{9A0ABF58-E688-BA84-C74F-B18EFB6AE08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2611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A9C2E-633E-9DCB-B370-86625F771929}"/>
              </a:ext>
            </a:extLst>
          </p:cNvPr>
          <p:cNvSpPr>
            <a:spLocks noGrp="1"/>
          </p:cNvSpPr>
          <p:nvPr>
            <p:ph type="title"/>
          </p:nvPr>
        </p:nvSpPr>
        <p:spPr/>
        <p:txBody>
          <a:bodyPr/>
          <a:lstStyle/>
          <a:p>
            <a:r>
              <a:rPr lang="en-US" dirty="0"/>
              <a:t>Todays agenda</a:t>
            </a:r>
          </a:p>
        </p:txBody>
      </p:sp>
      <p:sp>
        <p:nvSpPr>
          <p:cNvPr id="5" name="Content Placeholder 4">
            <a:extLst>
              <a:ext uri="{FF2B5EF4-FFF2-40B4-BE49-F238E27FC236}">
                <a16:creationId xmlns:a16="http://schemas.microsoft.com/office/drawing/2014/main" id="{962D51B6-9932-C67F-BD8F-5F4C486FC00B}"/>
              </a:ext>
            </a:extLst>
          </p:cNvPr>
          <p:cNvSpPr>
            <a:spLocks noGrp="1"/>
          </p:cNvSpPr>
          <p:nvPr>
            <p:ph idx="1"/>
          </p:nvPr>
        </p:nvSpPr>
        <p:spPr/>
        <p:txBody>
          <a:bodyPr/>
          <a:lstStyle/>
          <a:p>
            <a:pPr marL="457200" indent="-457200">
              <a:buFont typeface="+mj-lt"/>
              <a:buAutoNum type="arabicPeriod"/>
            </a:pPr>
            <a:r>
              <a:rPr lang="en-US" i="1" dirty="0"/>
              <a:t>Hands on Python?</a:t>
            </a:r>
          </a:p>
          <a:p>
            <a:pPr marL="457200" indent="-457200">
              <a:buFont typeface="+mj-lt"/>
              <a:buAutoNum type="arabicPeriod"/>
            </a:pPr>
            <a:endParaRPr lang="en-US" i="1" dirty="0"/>
          </a:p>
          <a:p>
            <a:pPr marL="457200" indent="-457200">
              <a:buFont typeface="+mj-lt"/>
              <a:buAutoNum type="arabicPeriod"/>
            </a:pPr>
            <a:r>
              <a:rPr lang="en-US" dirty="0"/>
              <a:t>Fundamental of GitHub </a:t>
            </a:r>
          </a:p>
          <a:p>
            <a:pPr marL="457200" indent="-457200">
              <a:buFont typeface="+mj-lt"/>
              <a:buAutoNum type="arabicPeriod"/>
            </a:pPr>
            <a:endParaRPr lang="en-US" dirty="0"/>
          </a:p>
          <a:p>
            <a:pPr marL="457200" indent="-457200">
              <a:buFont typeface="+mj-lt"/>
              <a:buAutoNum type="arabicPeriod"/>
            </a:pPr>
            <a:r>
              <a:rPr lang="en-US" dirty="0"/>
              <a:t>Data</a:t>
            </a:r>
          </a:p>
          <a:p>
            <a:pPr marL="457200" indent="-457200">
              <a:buFont typeface="+mj-lt"/>
              <a:buAutoNum type="arabicPeriod"/>
            </a:pPr>
            <a:endParaRPr lang="en-US" dirty="0"/>
          </a:p>
          <a:p>
            <a:pPr marL="457200" indent="-457200">
              <a:buFont typeface="+mj-lt"/>
              <a:buAutoNum type="arabicPeriod"/>
            </a:pPr>
            <a:r>
              <a:rPr lang="en-US" dirty="0"/>
              <a:t>Analytics  </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2628140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DE4F38-4301-69FA-F5E1-0AE4C8FB31F1}"/>
              </a:ext>
            </a:extLst>
          </p:cNvPr>
          <p:cNvSpPr>
            <a:spLocks noGrp="1"/>
          </p:cNvSpPr>
          <p:nvPr>
            <p:ph type="title"/>
          </p:nvPr>
        </p:nvSpPr>
        <p:spPr>
          <a:xfrm>
            <a:off x="831850" y="1709739"/>
            <a:ext cx="10515600" cy="1113472"/>
          </a:xfrm>
        </p:spPr>
        <p:txBody>
          <a:bodyPr/>
          <a:lstStyle/>
          <a:p>
            <a:pPr algn="ctr"/>
            <a:r>
              <a:rPr lang="en-US" dirty="0"/>
              <a:t>Python?</a:t>
            </a:r>
          </a:p>
        </p:txBody>
      </p:sp>
      <p:sp>
        <p:nvSpPr>
          <p:cNvPr id="5" name="Text Placeholder 4">
            <a:extLst>
              <a:ext uri="{FF2B5EF4-FFF2-40B4-BE49-F238E27FC236}">
                <a16:creationId xmlns:a16="http://schemas.microsoft.com/office/drawing/2014/main" id="{3CFB4266-AEB1-A37B-A4BE-FD396B2D0DE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04889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0364-0AF2-B556-5C87-2F4DF496A38E}"/>
              </a:ext>
            </a:extLst>
          </p:cNvPr>
          <p:cNvSpPr>
            <a:spLocks noGrp="1"/>
          </p:cNvSpPr>
          <p:nvPr>
            <p:ph type="title"/>
          </p:nvPr>
        </p:nvSpPr>
        <p:spPr>
          <a:xfrm>
            <a:off x="831850" y="1709739"/>
            <a:ext cx="10515600" cy="1639252"/>
          </a:xfrm>
        </p:spPr>
        <p:txBody>
          <a:bodyPr/>
          <a:lstStyle/>
          <a:p>
            <a:pPr algn="ctr"/>
            <a:r>
              <a:rPr lang="en-US" dirty="0"/>
              <a:t>Git Hub</a:t>
            </a:r>
          </a:p>
        </p:txBody>
      </p:sp>
      <p:sp>
        <p:nvSpPr>
          <p:cNvPr id="3" name="Text Placeholder 2">
            <a:extLst>
              <a:ext uri="{FF2B5EF4-FFF2-40B4-BE49-F238E27FC236}">
                <a16:creationId xmlns:a16="http://schemas.microsoft.com/office/drawing/2014/main" id="{CA5FFCFA-EE0C-0863-FF7C-4727072141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49044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C1E5C-6117-E310-97B7-D1F98DBC74CB}"/>
              </a:ext>
            </a:extLst>
          </p:cNvPr>
          <p:cNvSpPr>
            <a:spLocks noGrp="1"/>
          </p:cNvSpPr>
          <p:nvPr>
            <p:ph type="title"/>
          </p:nvPr>
        </p:nvSpPr>
        <p:spPr>
          <a:xfrm>
            <a:off x="952500" y="0"/>
            <a:ext cx="10515600" cy="1325563"/>
          </a:xfrm>
        </p:spPr>
        <p:txBody>
          <a:bodyPr/>
          <a:lstStyle/>
          <a:p>
            <a:pPr algn="ctr"/>
            <a:r>
              <a:rPr lang="en-US" b="1" dirty="0">
                <a:latin typeface="Times New Roman" panose="02020603050405020304" pitchFamily="18" charset="0"/>
                <a:cs typeface="Times New Roman" panose="02020603050405020304" pitchFamily="18" charset="0"/>
              </a:rPr>
              <a:t>An Introduction to Version Control: Git and GitHub </a:t>
            </a:r>
          </a:p>
        </p:txBody>
      </p:sp>
      <p:sp>
        <p:nvSpPr>
          <p:cNvPr id="3" name="Content Placeholder 2">
            <a:extLst>
              <a:ext uri="{FF2B5EF4-FFF2-40B4-BE49-F238E27FC236}">
                <a16:creationId xmlns:a16="http://schemas.microsoft.com/office/drawing/2014/main" id="{FFDF8D56-793D-4AA2-65C3-7B3890A20F7E}"/>
              </a:ext>
            </a:extLst>
          </p:cNvPr>
          <p:cNvSpPr>
            <a:spLocks noGrp="1"/>
          </p:cNvSpPr>
          <p:nvPr>
            <p:ph idx="1"/>
          </p:nvPr>
        </p:nvSpPr>
        <p:spPr>
          <a:xfrm>
            <a:off x="100965" y="1460500"/>
            <a:ext cx="11990070" cy="5032375"/>
          </a:xfrm>
        </p:spPr>
        <p:txBody>
          <a:bodyPr>
            <a:normAutofit lnSpcReduction="10000"/>
          </a:bodyPr>
          <a:lstStyle/>
          <a:p>
            <a:r>
              <a:rPr lang="en-US" b="1" dirty="0"/>
              <a:t>Version Control</a:t>
            </a:r>
            <a:r>
              <a:rPr lang="en-US" dirty="0"/>
              <a:t>: A system that records changes to files over time, allowing you to recall specific versions later. Essential for collaborative work and maintaining project history.</a:t>
            </a:r>
          </a:p>
          <a:p>
            <a:endParaRPr lang="en-US" dirty="0"/>
          </a:p>
          <a:p>
            <a:r>
              <a:rPr lang="en-US" b="1" dirty="0"/>
              <a:t>Git</a:t>
            </a:r>
            <a:r>
              <a:rPr lang="en-US" dirty="0"/>
              <a:t>: A distributed version control system created by Linus Torvalds in 2005. Tracks changes locally and facilitates collaboration among developers.</a:t>
            </a:r>
          </a:p>
          <a:p>
            <a:endParaRPr lang="en-US" dirty="0"/>
          </a:p>
          <a:p>
            <a:r>
              <a:rPr lang="en-US" b="1" dirty="0"/>
              <a:t>GitHub</a:t>
            </a:r>
            <a:r>
              <a:rPr lang="en-US" dirty="0"/>
              <a:t>: A web-based platform for hosting Git repositories. Offers tools for collaboration, issue tracking, and code review.</a:t>
            </a:r>
          </a:p>
          <a:p>
            <a:endParaRPr lang="en-US" dirty="0"/>
          </a:p>
          <a:p>
            <a:r>
              <a:rPr lang="en-US" dirty="0"/>
              <a:t>Facilitates </a:t>
            </a:r>
            <a:r>
              <a:rPr lang="en-US" b="1" dirty="0"/>
              <a:t>teamwork</a:t>
            </a:r>
            <a:r>
              <a:rPr lang="en-US" dirty="0"/>
              <a:t> with features like </a:t>
            </a:r>
            <a:r>
              <a:rPr lang="en-US" b="1" dirty="0"/>
              <a:t>branching, merging, and pull requests</a:t>
            </a:r>
            <a:r>
              <a:rPr lang="en-US" dirty="0"/>
              <a:t>. </a:t>
            </a:r>
            <a:r>
              <a:rPr lang="en-US" b="1" dirty="0"/>
              <a:t>Ensures code safety </a:t>
            </a:r>
            <a:r>
              <a:rPr lang="en-US" dirty="0"/>
              <a:t>with backup and versioning capabilities. </a:t>
            </a:r>
            <a:r>
              <a:rPr lang="en-US" b="1" dirty="0"/>
              <a:t>Encourages transparency and open-source contribution</a:t>
            </a:r>
            <a:r>
              <a:rPr lang="en-US" dirty="0"/>
              <a:t>.</a:t>
            </a:r>
          </a:p>
        </p:txBody>
      </p:sp>
    </p:spTree>
    <p:extLst>
      <p:ext uri="{BB962C8B-B14F-4D97-AF65-F5344CB8AC3E}">
        <p14:creationId xmlns:p14="http://schemas.microsoft.com/office/powerpoint/2010/main" val="3990518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2C56-B7D3-EA89-E8C0-0A49889B0F39}"/>
              </a:ext>
            </a:extLst>
          </p:cNvPr>
          <p:cNvSpPr>
            <a:spLocks noGrp="1"/>
          </p:cNvSpPr>
          <p:nvPr>
            <p:ph type="title"/>
          </p:nvPr>
        </p:nvSpPr>
        <p:spPr>
          <a:xfrm>
            <a:off x="186690" y="2915282"/>
            <a:ext cx="3459480" cy="1325563"/>
          </a:xfrm>
        </p:spPr>
        <p:txBody>
          <a:bodyPr/>
          <a:lstStyle/>
          <a:p>
            <a:r>
              <a:rPr lang="en-US" dirty="0"/>
              <a:t>Versioning </a:t>
            </a:r>
          </a:p>
        </p:txBody>
      </p:sp>
      <p:sp>
        <p:nvSpPr>
          <p:cNvPr id="4" name="Rectangle 3">
            <a:extLst>
              <a:ext uri="{FF2B5EF4-FFF2-40B4-BE49-F238E27FC236}">
                <a16:creationId xmlns:a16="http://schemas.microsoft.com/office/drawing/2014/main" id="{9D784F6B-B34C-D7EB-B19D-78692243C162}"/>
              </a:ext>
            </a:extLst>
          </p:cNvPr>
          <p:cNvSpPr/>
          <p:nvPr/>
        </p:nvSpPr>
        <p:spPr>
          <a:xfrm>
            <a:off x="4617720" y="570865"/>
            <a:ext cx="4229100" cy="110871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800" b="1" dirty="0"/>
              <a:t>Take snapshot of changes </a:t>
            </a:r>
          </a:p>
        </p:txBody>
      </p:sp>
      <p:sp>
        <p:nvSpPr>
          <p:cNvPr id="5" name="Rectangle 4">
            <a:extLst>
              <a:ext uri="{FF2B5EF4-FFF2-40B4-BE49-F238E27FC236}">
                <a16:creationId xmlns:a16="http://schemas.microsoft.com/office/drawing/2014/main" id="{0BC457AF-DA3E-3E25-8D45-8DDDBD4DCB75}"/>
              </a:ext>
            </a:extLst>
          </p:cNvPr>
          <p:cNvSpPr/>
          <p:nvPr/>
        </p:nvSpPr>
        <p:spPr>
          <a:xfrm>
            <a:off x="4560570" y="4939661"/>
            <a:ext cx="4229100" cy="110871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b="1" dirty="0"/>
              <a:t>Revert back</a:t>
            </a:r>
          </a:p>
        </p:txBody>
      </p:sp>
      <p:sp>
        <p:nvSpPr>
          <p:cNvPr id="6" name="Rectangle 5">
            <a:extLst>
              <a:ext uri="{FF2B5EF4-FFF2-40B4-BE49-F238E27FC236}">
                <a16:creationId xmlns:a16="http://schemas.microsoft.com/office/drawing/2014/main" id="{80268635-EF9A-58DA-1375-4B41A0EF5260}"/>
              </a:ext>
            </a:extLst>
          </p:cNvPr>
          <p:cNvSpPr/>
          <p:nvPr/>
        </p:nvSpPr>
        <p:spPr>
          <a:xfrm>
            <a:off x="4617720" y="2469354"/>
            <a:ext cx="4229100" cy="110871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800" b="1" dirty="0"/>
              <a:t>View History </a:t>
            </a:r>
          </a:p>
        </p:txBody>
      </p:sp>
      <p:cxnSp>
        <p:nvCxnSpPr>
          <p:cNvPr id="7" name="Straight Arrow Connector 6">
            <a:extLst>
              <a:ext uri="{FF2B5EF4-FFF2-40B4-BE49-F238E27FC236}">
                <a16:creationId xmlns:a16="http://schemas.microsoft.com/office/drawing/2014/main" id="{6F84A1F4-E3CA-0CAF-C972-61196D76C686}"/>
              </a:ext>
            </a:extLst>
          </p:cNvPr>
          <p:cNvCxnSpPr>
            <a:stCxn id="4" idx="2"/>
            <a:endCxn id="6" idx="0"/>
          </p:cNvCxnSpPr>
          <p:nvPr/>
        </p:nvCxnSpPr>
        <p:spPr>
          <a:xfrm>
            <a:off x="6732270" y="1679575"/>
            <a:ext cx="0" cy="789779"/>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Straight Arrow Connector 8">
            <a:extLst>
              <a:ext uri="{FF2B5EF4-FFF2-40B4-BE49-F238E27FC236}">
                <a16:creationId xmlns:a16="http://schemas.microsoft.com/office/drawing/2014/main" id="{AB17FDD8-4730-4339-04D3-3D8E0874A699}"/>
              </a:ext>
            </a:extLst>
          </p:cNvPr>
          <p:cNvCxnSpPr>
            <a:stCxn id="6" idx="2"/>
          </p:cNvCxnSpPr>
          <p:nvPr/>
        </p:nvCxnSpPr>
        <p:spPr>
          <a:xfrm>
            <a:off x="6732270" y="3578064"/>
            <a:ext cx="80010" cy="13615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5101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50999-4FC8-48F3-0D05-ACD06996FE2C}"/>
              </a:ext>
            </a:extLst>
          </p:cNvPr>
          <p:cNvSpPr>
            <a:spLocks noGrp="1"/>
          </p:cNvSpPr>
          <p:nvPr>
            <p:ph type="title"/>
          </p:nvPr>
        </p:nvSpPr>
        <p:spPr>
          <a:xfrm>
            <a:off x="289560" y="2672398"/>
            <a:ext cx="4019550" cy="1325563"/>
          </a:xfrm>
        </p:spPr>
        <p:txBody>
          <a:bodyPr/>
          <a:lstStyle/>
          <a:p>
            <a:r>
              <a:rPr lang="en-US" dirty="0"/>
              <a:t>Hands on Git hub Workflow </a:t>
            </a:r>
          </a:p>
        </p:txBody>
      </p:sp>
      <p:sp>
        <p:nvSpPr>
          <p:cNvPr id="4" name="Rectangle 3">
            <a:extLst>
              <a:ext uri="{FF2B5EF4-FFF2-40B4-BE49-F238E27FC236}">
                <a16:creationId xmlns:a16="http://schemas.microsoft.com/office/drawing/2014/main" id="{613445D9-8127-0348-7487-FD1239F19DC9}"/>
              </a:ext>
            </a:extLst>
          </p:cNvPr>
          <p:cNvSpPr/>
          <p:nvPr/>
        </p:nvSpPr>
        <p:spPr>
          <a:xfrm>
            <a:off x="4598670" y="199549"/>
            <a:ext cx="2606040" cy="92583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Create a repo on GitHub </a:t>
            </a:r>
          </a:p>
        </p:txBody>
      </p:sp>
      <p:sp>
        <p:nvSpPr>
          <p:cNvPr id="5" name="Rectangle 4">
            <a:extLst>
              <a:ext uri="{FF2B5EF4-FFF2-40B4-BE49-F238E27FC236}">
                <a16:creationId xmlns:a16="http://schemas.microsoft.com/office/drawing/2014/main" id="{B16A22B1-39CA-B043-2722-9AE10FF5ACC7}"/>
              </a:ext>
            </a:extLst>
          </p:cNvPr>
          <p:cNvSpPr/>
          <p:nvPr/>
        </p:nvSpPr>
        <p:spPr>
          <a:xfrm>
            <a:off x="4598670" y="5150248"/>
            <a:ext cx="2606040" cy="92583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Commit and Push to origin </a:t>
            </a:r>
          </a:p>
        </p:txBody>
      </p:sp>
      <p:sp>
        <p:nvSpPr>
          <p:cNvPr id="6" name="Rectangle 5">
            <a:extLst>
              <a:ext uri="{FF2B5EF4-FFF2-40B4-BE49-F238E27FC236}">
                <a16:creationId xmlns:a16="http://schemas.microsoft.com/office/drawing/2014/main" id="{08450021-6A44-775E-C73D-0352C4650484}"/>
              </a:ext>
            </a:extLst>
          </p:cNvPr>
          <p:cNvSpPr/>
          <p:nvPr/>
        </p:nvSpPr>
        <p:spPr>
          <a:xfrm>
            <a:off x="4598670" y="3654108"/>
            <a:ext cx="2606040" cy="92583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Work on files </a:t>
            </a:r>
          </a:p>
        </p:txBody>
      </p:sp>
      <p:sp>
        <p:nvSpPr>
          <p:cNvPr id="7" name="Rectangle 6">
            <a:extLst>
              <a:ext uri="{FF2B5EF4-FFF2-40B4-BE49-F238E27FC236}">
                <a16:creationId xmlns:a16="http://schemas.microsoft.com/office/drawing/2014/main" id="{2A07B290-A8A5-6FA2-2A51-9C4F45801DDF}"/>
              </a:ext>
            </a:extLst>
          </p:cNvPr>
          <p:cNvSpPr/>
          <p:nvPr/>
        </p:nvSpPr>
        <p:spPr>
          <a:xfrm>
            <a:off x="4598670" y="1896031"/>
            <a:ext cx="2606040" cy="92583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Clone </a:t>
            </a:r>
          </a:p>
        </p:txBody>
      </p:sp>
      <p:cxnSp>
        <p:nvCxnSpPr>
          <p:cNvPr id="8" name="Straight Arrow Connector 7">
            <a:extLst>
              <a:ext uri="{FF2B5EF4-FFF2-40B4-BE49-F238E27FC236}">
                <a16:creationId xmlns:a16="http://schemas.microsoft.com/office/drawing/2014/main" id="{5041DF24-F90F-2EE8-4BA4-1AB2C5F4DB13}"/>
              </a:ext>
            </a:extLst>
          </p:cNvPr>
          <p:cNvCxnSpPr>
            <a:stCxn id="4" idx="2"/>
            <a:endCxn id="7" idx="0"/>
          </p:cNvCxnSpPr>
          <p:nvPr/>
        </p:nvCxnSpPr>
        <p:spPr>
          <a:xfrm>
            <a:off x="5901690" y="1125379"/>
            <a:ext cx="0" cy="77065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CDFA2C56-DBE9-238E-C8DF-7C2D688E537C}"/>
              </a:ext>
            </a:extLst>
          </p:cNvPr>
          <p:cNvCxnSpPr>
            <a:stCxn id="7" idx="2"/>
            <a:endCxn id="6" idx="0"/>
          </p:cNvCxnSpPr>
          <p:nvPr/>
        </p:nvCxnSpPr>
        <p:spPr>
          <a:xfrm>
            <a:off x="5901690" y="2821861"/>
            <a:ext cx="0" cy="8322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7AB8C1B-BBFC-6254-CCD0-999E6795B87E}"/>
              </a:ext>
            </a:extLst>
          </p:cNvPr>
          <p:cNvCxnSpPr>
            <a:stCxn id="6" idx="2"/>
            <a:endCxn id="5" idx="0"/>
          </p:cNvCxnSpPr>
          <p:nvPr/>
        </p:nvCxnSpPr>
        <p:spPr>
          <a:xfrm>
            <a:off x="5901690" y="4579938"/>
            <a:ext cx="0" cy="5703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598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440E6-A173-F435-837E-FD8445101491}"/>
              </a:ext>
            </a:extLst>
          </p:cNvPr>
          <p:cNvSpPr>
            <a:spLocks noGrp="1"/>
          </p:cNvSpPr>
          <p:nvPr>
            <p:ph type="title"/>
          </p:nvPr>
        </p:nvSpPr>
        <p:spPr>
          <a:xfrm>
            <a:off x="518160" y="2433955"/>
            <a:ext cx="10515600" cy="1325563"/>
          </a:xfrm>
        </p:spPr>
        <p:txBody>
          <a:bodyPr/>
          <a:lstStyle/>
          <a:p>
            <a:pPr algn="ctr"/>
            <a:r>
              <a:rPr lang="en-US" i="1" dirty="0"/>
              <a:t>Working with terminal</a:t>
            </a:r>
          </a:p>
        </p:txBody>
      </p:sp>
    </p:spTree>
    <p:extLst>
      <p:ext uri="{BB962C8B-B14F-4D97-AF65-F5344CB8AC3E}">
        <p14:creationId xmlns:p14="http://schemas.microsoft.com/office/powerpoint/2010/main" val="1921871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B069C-4907-1325-F555-8CEE5D0FA5FE}"/>
              </a:ext>
            </a:extLst>
          </p:cNvPr>
          <p:cNvSpPr>
            <a:spLocks noGrp="1"/>
          </p:cNvSpPr>
          <p:nvPr>
            <p:ph type="title"/>
          </p:nvPr>
        </p:nvSpPr>
        <p:spPr>
          <a:xfrm>
            <a:off x="838200" y="365125"/>
            <a:ext cx="10515600" cy="594995"/>
          </a:xfrm>
        </p:spPr>
        <p:txBody>
          <a:bodyPr/>
          <a:lstStyle/>
          <a:p>
            <a:r>
              <a:rPr lang="en-US" dirty="0"/>
              <a:t>Working with </a:t>
            </a:r>
            <a:r>
              <a:rPr lang="en-US" dirty="0" err="1"/>
              <a:t>github</a:t>
            </a:r>
            <a:endParaRPr lang="en-US" dirty="0"/>
          </a:p>
        </p:txBody>
      </p:sp>
      <p:sp>
        <p:nvSpPr>
          <p:cNvPr id="3" name="Content Placeholder 2">
            <a:extLst>
              <a:ext uri="{FF2B5EF4-FFF2-40B4-BE49-F238E27FC236}">
                <a16:creationId xmlns:a16="http://schemas.microsoft.com/office/drawing/2014/main" id="{23754F52-47B1-7F7E-9CDD-069892168C0D}"/>
              </a:ext>
            </a:extLst>
          </p:cNvPr>
          <p:cNvSpPr>
            <a:spLocks noGrp="1"/>
          </p:cNvSpPr>
          <p:nvPr>
            <p:ph idx="1"/>
          </p:nvPr>
        </p:nvSpPr>
        <p:spPr>
          <a:xfrm>
            <a:off x="838200" y="1074420"/>
            <a:ext cx="10515600" cy="5102543"/>
          </a:xfrm>
        </p:spPr>
        <p:txBody>
          <a:bodyPr>
            <a:normAutofit fontScale="92500" lnSpcReduction="10000"/>
          </a:bodyPr>
          <a:lstStyle/>
          <a:p>
            <a:r>
              <a:rPr lang="en-US" dirty="0"/>
              <a:t>Open your laptop terminal and type</a:t>
            </a:r>
          </a:p>
          <a:p>
            <a:endParaRPr lang="en-US" dirty="0"/>
          </a:p>
          <a:p>
            <a:pPr marL="0" indent="0" algn="ctr">
              <a:buNone/>
            </a:pPr>
            <a:r>
              <a:rPr lang="en-US" sz="3200" b="1" i="1" dirty="0"/>
              <a:t>git –-version</a:t>
            </a:r>
          </a:p>
          <a:p>
            <a:pPr marL="0" indent="0" algn="ctr">
              <a:buNone/>
            </a:pPr>
            <a:endParaRPr lang="en-US" sz="3200" b="1" i="1" dirty="0"/>
          </a:p>
          <a:p>
            <a:pPr marL="0" indent="0" algn="ctr">
              <a:buNone/>
            </a:pPr>
            <a:r>
              <a:rPr lang="en-US" sz="3200" b="1" i="1" dirty="0"/>
              <a:t>Incase: </a:t>
            </a:r>
            <a:r>
              <a:rPr lang="en-US" sz="3200" b="1" i="1" dirty="0">
                <a:solidFill>
                  <a:srgbClr val="FF0000"/>
                </a:solidFill>
              </a:rPr>
              <a:t>'git' is not recognized as an internal or external command, operable program or batch file</a:t>
            </a:r>
            <a:r>
              <a:rPr lang="en-US" sz="3200" b="1" i="1" dirty="0"/>
              <a:t>.</a:t>
            </a:r>
          </a:p>
          <a:p>
            <a:pPr marL="0" indent="0" algn="ctr">
              <a:buNone/>
            </a:pPr>
            <a:endParaRPr lang="en-US" sz="3200" b="1" i="1" dirty="0"/>
          </a:p>
          <a:p>
            <a:pPr marL="0" indent="0" algn="ctr">
              <a:buNone/>
            </a:pPr>
            <a:r>
              <a:rPr lang="en-US" sz="3200" b="1" dirty="0">
                <a:solidFill>
                  <a:srgbClr val="00B050"/>
                </a:solidFill>
              </a:rPr>
              <a:t>Installation-Windows</a:t>
            </a:r>
          </a:p>
          <a:p>
            <a:pPr marL="0" indent="0" algn="ctr">
              <a:buNone/>
            </a:pPr>
            <a:r>
              <a:rPr lang="en-US" sz="3200" b="1" i="1" dirty="0"/>
              <a:t>Go to: </a:t>
            </a:r>
            <a:r>
              <a:rPr lang="en-US" sz="3200" b="1" i="1" dirty="0">
                <a:solidFill>
                  <a:srgbClr val="FF0000"/>
                </a:solidFill>
              </a:rPr>
              <a:t>https://git-scm.com/install/windows</a:t>
            </a:r>
          </a:p>
          <a:p>
            <a:pPr marL="0" indent="0" algn="ctr">
              <a:buNone/>
            </a:pPr>
            <a:r>
              <a:rPr lang="en-US" sz="3200" dirty="0"/>
              <a:t>During installation, make sure </a:t>
            </a:r>
            <a:r>
              <a:rPr lang="en-US" sz="3200" b="1" dirty="0"/>
              <a:t>“Add Git to PATH”</a:t>
            </a:r>
            <a:r>
              <a:rPr lang="en-US" sz="3200" dirty="0"/>
              <a:t> is selected</a:t>
            </a:r>
            <a:endParaRPr lang="en-US" sz="3200" b="1" i="1" dirty="0">
              <a:solidFill>
                <a:srgbClr val="FF0000"/>
              </a:solidFill>
            </a:endParaRPr>
          </a:p>
        </p:txBody>
      </p:sp>
    </p:spTree>
    <p:extLst>
      <p:ext uri="{BB962C8B-B14F-4D97-AF65-F5344CB8AC3E}">
        <p14:creationId xmlns:p14="http://schemas.microsoft.com/office/powerpoint/2010/main" val="2773141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2A-9243-EA42-691B-7F5468345665}"/>
              </a:ext>
            </a:extLst>
          </p:cNvPr>
          <p:cNvSpPr>
            <a:spLocks noGrp="1"/>
          </p:cNvSpPr>
          <p:nvPr>
            <p:ph type="title"/>
          </p:nvPr>
        </p:nvSpPr>
        <p:spPr/>
        <p:txBody>
          <a:bodyPr/>
          <a:lstStyle/>
          <a:p>
            <a:r>
              <a:rPr lang="en-US" dirty="0"/>
              <a:t>MacBook </a:t>
            </a:r>
          </a:p>
        </p:txBody>
      </p:sp>
      <p:sp>
        <p:nvSpPr>
          <p:cNvPr id="3" name="Content Placeholder 2">
            <a:extLst>
              <a:ext uri="{FF2B5EF4-FFF2-40B4-BE49-F238E27FC236}">
                <a16:creationId xmlns:a16="http://schemas.microsoft.com/office/drawing/2014/main" id="{E2DCF5E2-ACB2-A7E4-FE75-B4A540DECD52}"/>
              </a:ext>
            </a:extLst>
          </p:cNvPr>
          <p:cNvSpPr>
            <a:spLocks noGrp="1"/>
          </p:cNvSpPr>
          <p:nvPr>
            <p:ph idx="1"/>
          </p:nvPr>
        </p:nvSpPr>
        <p:spPr/>
        <p:txBody>
          <a:bodyPr/>
          <a:lstStyle/>
          <a:p>
            <a:r>
              <a:rPr lang="en-US" dirty="0"/>
              <a:t>Install homebrew</a:t>
            </a:r>
          </a:p>
          <a:p>
            <a:endParaRPr lang="en-US" dirty="0"/>
          </a:p>
          <a:p>
            <a:pPr marL="0" indent="0" algn="ctr">
              <a:buNone/>
            </a:pPr>
            <a:r>
              <a:rPr lang="en-US" b="1" i="1" dirty="0"/>
              <a:t>/bin/bash -c "$(curl -</a:t>
            </a:r>
            <a:r>
              <a:rPr lang="en-US" b="1" i="1" dirty="0" err="1"/>
              <a:t>fsSL</a:t>
            </a:r>
            <a:r>
              <a:rPr lang="en-US" b="1" i="1" dirty="0"/>
              <a:t> https://raw.githubusercontent.com/Homebrew/install/HEAD/install.sh)"</a:t>
            </a:r>
          </a:p>
          <a:p>
            <a:pPr marL="0" indent="0" algn="ctr">
              <a:buNone/>
            </a:pPr>
            <a:endParaRPr lang="en-US" b="1" i="1" dirty="0"/>
          </a:p>
          <a:p>
            <a:pPr marL="0" indent="0" algn="ctr">
              <a:buNone/>
            </a:pPr>
            <a:r>
              <a:rPr lang="en-US" b="1" i="1" dirty="0"/>
              <a:t>And than</a:t>
            </a:r>
          </a:p>
          <a:p>
            <a:pPr marL="0" indent="0" algn="ctr">
              <a:buNone/>
            </a:pPr>
            <a:endParaRPr lang="en-US" b="1" i="1" dirty="0"/>
          </a:p>
          <a:p>
            <a:pPr marL="0" indent="0" algn="ctr">
              <a:buNone/>
            </a:pPr>
            <a:r>
              <a:rPr lang="en-US" b="1" i="1" dirty="0"/>
              <a:t> $ brew install git</a:t>
            </a:r>
          </a:p>
          <a:p>
            <a:pPr marL="0" indent="0" algn="ctr">
              <a:buNone/>
            </a:pPr>
            <a:endParaRPr lang="en-US" b="1" i="1" dirty="0"/>
          </a:p>
        </p:txBody>
      </p:sp>
    </p:spTree>
    <p:extLst>
      <p:ext uri="{BB962C8B-B14F-4D97-AF65-F5344CB8AC3E}">
        <p14:creationId xmlns:p14="http://schemas.microsoft.com/office/powerpoint/2010/main" val="325163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E90D3-5B0F-50D5-82BB-5D68CB7983F4}"/>
              </a:ext>
            </a:extLst>
          </p:cNvPr>
          <p:cNvSpPr>
            <a:spLocks noGrp="1"/>
          </p:cNvSpPr>
          <p:nvPr>
            <p:ph type="title"/>
          </p:nvPr>
        </p:nvSpPr>
        <p:spPr/>
        <p:txBody>
          <a:bodyPr/>
          <a:lstStyle/>
          <a:p>
            <a:r>
              <a:rPr lang="en-US" dirty="0"/>
              <a:t>Working with GitHub </a:t>
            </a:r>
          </a:p>
        </p:txBody>
      </p:sp>
      <p:sp>
        <p:nvSpPr>
          <p:cNvPr id="3" name="Content Placeholder 2">
            <a:extLst>
              <a:ext uri="{FF2B5EF4-FFF2-40B4-BE49-F238E27FC236}">
                <a16:creationId xmlns:a16="http://schemas.microsoft.com/office/drawing/2014/main" id="{D1D44689-F3EF-0E8B-4CB5-578F7F86242D}"/>
              </a:ext>
            </a:extLst>
          </p:cNvPr>
          <p:cNvSpPr>
            <a:spLocks noGrp="1"/>
          </p:cNvSpPr>
          <p:nvPr>
            <p:ph idx="1"/>
          </p:nvPr>
        </p:nvSpPr>
        <p:spPr/>
        <p:txBody>
          <a:bodyPr/>
          <a:lstStyle/>
          <a:p>
            <a:r>
              <a:rPr lang="en-US" dirty="0"/>
              <a:t>Most developers and data scientist tend to work locally by</a:t>
            </a:r>
          </a:p>
          <a:p>
            <a:endParaRPr lang="en-US" dirty="0"/>
          </a:p>
          <a:p>
            <a:pPr marL="457200" indent="-457200">
              <a:buFont typeface="+mj-lt"/>
              <a:buAutoNum type="arabicPeriod"/>
            </a:pPr>
            <a:r>
              <a:rPr lang="en-US" dirty="0"/>
              <a:t>Cloning a repo </a:t>
            </a:r>
          </a:p>
          <a:p>
            <a:pPr marL="457200" indent="-457200">
              <a:buFont typeface="+mj-lt"/>
              <a:buAutoNum type="arabicPeriod"/>
            </a:pPr>
            <a:endParaRPr lang="en-US" dirty="0"/>
          </a:p>
          <a:p>
            <a:pPr marL="457200" indent="-457200">
              <a:buFont typeface="+mj-lt"/>
              <a:buAutoNum type="arabicPeriod"/>
            </a:pPr>
            <a:r>
              <a:rPr lang="en-US" dirty="0"/>
              <a:t>Working locally</a:t>
            </a:r>
          </a:p>
          <a:p>
            <a:pPr marL="457200" indent="-457200">
              <a:buFont typeface="+mj-lt"/>
              <a:buAutoNum type="arabicPeriod"/>
            </a:pPr>
            <a:endParaRPr lang="en-US" dirty="0"/>
          </a:p>
          <a:p>
            <a:pPr marL="457200" indent="-457200">
              <a:buFont typeface="+mj-lt"/>
              <a:buAutoNum type="arabicPeriod"/>
            </a:pPr>
            <a:r>
              <a:rPr lang="en-US" dirty="0"/>
              <a:t>Making a changes by pushing it on </a:t>
            </a:r>
            <a:r>
              <a:rPr lang="en-US" dirty="0" err="1"/>
              <a:t>github</a:t>
            </a:r>
            <a:r>
              <a:rPr lang="en-US" dirty="0"/>
              <a:t>.</a:t>
            </a:r>
          </a:p>
        </p:txBody>
      </p:sp>
    </p:spTree>
    <p:extLst>
      <p:ext uri="{BB962C8B-B14F-4D97-AF65-F5344CB8AC3E}">
        <p14:creationId xmlns:p14="http://schemas.microsoft.com/office/powerpoint/2010/main" val="3124431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B3EE-2D8A-0186-54A2-B61EE9C53009}"/>
              </a:ext>
            </a:extLst>
          </p:cNvPr>
          <p:cNvSpPr>
            <a:spLocks noGrp="1"/>
          </p:cNvSpPr>
          <p:nvPr>
            <p:ph type="title"/>
          </p:nvPr>
        </p:nvSpPr>
        <p:spPr/>
        <p:txBody>
          <a:bodyPr/>
          <a:lstStyle/>
          <a:p>
            <a:r>
              <a:rPr lang="en-US" dirty="0"/>
              <a:t>Now its your turn Working in the </a:t>
            </a:r>
            <a:r>
              <a:rPr lang="en-US" dirty="0" err="1"/>
              <a:t>Github</a:t>
            </a:r>
            <a:endParaRPr lang="en-US" dirty="0"/>
          </a:p>
        </p:txBody>
      </p:sp>
      <p:sp>
        <p:nvSpPr>
          <p:cNvPr id="3" name="Content Placeholder 2">
            <a:extLst>
              <a:ext uri="{FF2B5EF4-FFF2-40B4-BE49-F238E27FC236}">
                <a16:creationId xmlns:a16="http://schemas.microsoft.com/office/drawing/2014/main" id="{646A9793-7E68-3E6B-8DCB-840E8829D631}"/>
              </a:ext>
            </a:extLst>
          </p:cNvPr>
          <p:cNvSpPr>
            <a:spLocks noGrp="1"/>
          </p:cNvSpPr>
          <p:nvPr>
            <p:ph idx="1"/>
          </p:nvPr>
        </p:nvSpPr>
        <p:spPr/>
        <p:txBody>
          <a:bodyPr/>
          <a:lstStyle/>
          <a:p>
            <a:r>
              <a:rPr lang="en-US" dirty="0"/>
              <a:t>1</a:t>
            </a:r>
            <a:r>
              <a:rPr lang="en-US" b="1" dirty="0"/>
              <a:t>. Account Please retrieve your account- I wait 3 minutes</a:t>
            </a:r>
            <a:r>
              <a:rPr lang="en-US" dirty="0"/>
              <a:t>. </a:t>
            </a:r>
          </a:p>
          <a:p>
            <a:endParaRPr lang="en-US" dirty="0"/>
          </a:p>
          <a:p>
            <a:r>
              <a:rPr lang="en-US" dirty="0"/>
              <a:t>2. </a:t>
            </a:r>
            <a:r>
              <a:rPr lang="en-US" b="1" dirty="0"/>
              <a:t>Local machine terminal</a:t>
            </a:r>
            <a:r>
              <a:rPr lang="en-US" dirty="0"/>
              <a:t>. Essential but we can also work in terminal provided by code editor.</a:t>
            </a:r>
          </a:p>
          <a:p>
            <a:endParaRPr lang="en-US" dirty="0"/>
          </a:p>
          <a:p>
            <a:r>
              <a:rPr lang="en-US" dirty="0"/>
              <a:t>3. </a:t>
            </a:r>
            <a:r>
              <a:rPr lang="en-US" b="1" dirty="0"/>
              <a:t>Essential git commands. </a:t>
            </a:r>
          </a:p>
        </p:txBody>
      </p:sp>
    </p:spTree>
    <p:extLst>
      <p:ext uri="{BB962C8B-B14F-4D97-AF65-F5344CB8AC3E}">
        <p14:creationId xmlns:p14="http://schemas.microsoft.com/office/powerpoint/2010/main" val="2837535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A14-406E-03C2-823F-A7884E1AD0D6}"/>
              </a:ext>
            </a:extLst>
          </p:cNvPr>
          <p:cNvSpPr>
            <a:spLocks noGrp="1"/>
          </p:cNvSpPr>
          <p:nvPr>
            <p:ph type="title"/>
          </p:nvPr>
        </p:nvSpPr>
        <p:spPr/>
        <p:txBody>
          <a:bodyPr/>
          <a:lstStyle/>
          <a:p>
            <a:r>
              <a:rPr lang="en-US" dirty="0"/>
              <a:t>4 Essential Git Commands</a:t>
            </a:r>
          </a:p>
        </p:txBody>
      </p:sp>
      <p:sp>
        <p:nvSpPr>
          <p:cNvPr id="3" name="Content Placeholder 2">
            <a:extLst>
              <a:ext uri="{FF2B5EF4-FFF2-40B4-BE49-F238E27FC236}">
                <a16:creationId xmlns:a16="http://schemas.microsoft.com/office/drawing/2014/main" id="{CC807360-906A-C0A0-34AB-3CAFB2C29DB9}"/>
              </a:ext>
            </a:extLst>
          </p:cNvPr>
          <p:cNvSpPr>
            <a:spLocks noGrp="1"/>
          </p:cNvSpPr>
          <p:nvPr>
            <p:ph idx="1"/>
          </p:nvPr>
        </p:nvSpPr>
        <p:spPr/>
        <p:txBody>
          <a:bodyPr>
            <a:normAutofit fontScale="77500" lnSpcReduction="20000"/>
          </a:bodyPr>
          <a:lstStyle/>
          <a:p>
            <a:pPr marL="457200" indent="-457200">
              <a:buFont typeface="+mj-lt"/>
              <a:buAutoNum type="arabicPeriod"/>
            </a:pPr>
            <a:r>
              <a:rPr lang="en-US" b="1" dirty="0"/>
              <a:t>git clone command: </a:t>
            </a:r>
            <a:r>
              <a:rPr lang="en-US" dirty="0"/>
              <a:t>Allow you to clone a </a:t>
            </a:r>
            <a:r>
              <a:rPr lang="en-US" dirty="0" err="1"/>
              <a:t>github</a:t>
            </a:r>
            <a:r>
              <a:rPr lang="en-US" dirty="0"/>
              <a:t> repo into local machine.</a:t>
            </a:r>
          </a:p>
          <a:p>
            <a:pPr marL="0" indent="0" algn="ctr">
              <a:buNone/>
            </a:pPr>
            <a:r>
              <a:rPr lang="en-US" b="1" i="1" dirty="0"/>
              <a:t>git clone https://github.com/Kozminski-Network-Business-Analytics/intro_to_github.git</a:t>
            </a:r>
          </a:p>
          <a:p>
            <a:pPr marL="0" indent="0">
              <a:buNone/>
            </a:pPr>
            <a:endParaRPr lang="en-US" dirty="0"/>
          </a:p>
          <a:p>
            <a:pPr marL="0" indent="0">
              <a:buNone/>
            </a:pPr>
            <a:r>
              <a:rPr lang="en-US" b="1" dirty="0"/>
              <a:t>2.  cd  </a:t>
            </a:r>
            <a:r>
              <a:rPr lang="en-US" b="1" dirty="0" err="1"/>
              <a:t>folder_name</a:t>
            </a:r>
            <a:r>
              <a:rPr lang="en-US" dirty="0"/>
              <a:t>: allow you enter into </a:t>
            </a:r>
            <a:r>
              <a:rPr lang="en-US" dirty="0" err="1"/>
              <a:t>github</a:t>
            </a:r>
            <a:r>
              <a:rPr lang="en-US" dirty="0"/>
              <a:t> folder</a:t>
            </a:r>
          </a:p>
          <a:p>
            <a:pPr marL="0" indent="0" algn="ctr">
              <a:buNone/>
            </a:pPr>
            <a:r>
              <a:rPr lang="en-US" b="1" i="1" dirty="0"/>
              <a:t>cd </a:t>
            </a:r>
            <a:r>
              <a:rPr lang="en-US" b="1" i="1" dirty="0" err="1"/>
              <a:t>intro_to_github</a:t>
            </a:r>
            <a:endParaRPr lang="en-US" b="1" i="1" dirty="0"/>
          </a:p>
          <a:p>
            <a:pPr marL="0" indent="0">
              <a:buNone/>
            </a:pPr>
            <a:endParaRPr lang="en-US" b="1" dirty="0"/>
          </a:p>
          <a:p>
            <a:pPr marL="0" indent="0">
              <a:buNone/>
            </a:pPr>
            <a:r>
              <a:rPr lang="en-US" b="1" dirty="0"/>
              <a:t>3. Creating code editor: </a:t>
            </a:r>
            <a:r>
              <a:rPr lang="en-US" dirty="0"/>
              <a:t>Allow you to create and open a code editor. </a:t>
            </a:r>
          </a:p>
          <a:p>
            <a:pPr marL="0" indent="0" algn="ctr">
              <a:buNone/>
            </a:pPr>
            <a:r>
              <a:rPr lang="en-US" b="1" i="1" dirty="0"/>
              <a:t>code .</a:t>
            </a:r>
          </a:p>
          <a:p>
            <a:endParaRPr lang="en-US" dirty="0"/>
          </a:p>
          <a:p>
            <a:pPr marL="0" indent="0">
              <a:buNone/>
            </a:pPr>
            <a:r>
              <a:rPr lang="en-US" b="1" dirty="0"/>
              <a:t>4. Pushing code editor file at </a:t>
            </a:r>
            <a:r>
              <a:rPr lang="en-US" b="1" dirty="0" err="1"/>
              <a:t>github</a:t>
            </a:r>
            <a:endParaRPr lang="en-US" b="1" dirty="0"/>
          </a:p>
          <a:p>
            <a:pPr marL="0" indent="0" algn="ctr">
              <a:buNone/>
            </a:pPr>
            <a:r>
              <a:rPr lang="en-US" b="1" i="1" dirty="0"/>
              <a:t>git add </a:t>
            </a:r>
            <a:r>
              <a:rPr lang="en-US" b="1" i="1" dirty="0" err="1"/>
              <a:t>intro.ipynb</a:t>
            </a:r>
            <a:endParaRPr lang="en-US" b="1" i="1" dirty="0"/>
          </a:p>
          <a:p>
            <a:pPr marL="0" indent="0" algn="ctr">
              <a:buNone/>
            </a:pPr>
            <a:r>
              <a:rPr lang="en-US" b="1" i="1" dirty="0"/>
              <a:t>git commit -m "Add simple house visualization"</a:t>
            </a:r>
          </a:p>
          <a:p>
            <a:pPr marL="0" indent="0" algn="ctr">
              <a:buNone/>
            </a:pPr>
            <a:r>
              <a:rPr lang="en-US" b="1" i="1" dirty="0"/>
              <a:t>git push origin main</a:t>
            </a:r>
          </a:p>
          <a:p>
            <a:endParaRPr lang="en-US" dirty="0"/>
          </a:p>
          <a:p>
            <a:endParaRPr lang="en-US" dirty="0"/>
          </a:p>
          <a:p>
            <a:endParaRPr lang="en-US" dirty="0"/>
          </a:p>
        </p:txBody>
      </p:sp>
    </p:spTree>
    <p:extLst>
      <p:ext uri="{BB962C8B-B14F-4D97-AF65-F5344CB8AC3E}">
        <p14:creationId xmlns:p14="http://schemas.microsoft.com/office/powerpoint/2010/main" val="317851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9ACA-B82E-8B51-72CD-A067505658DB}"/>
              </a:ext>
            </a:extLst>
          </p:cNvPr>
          <p:cNvSpPr>
            <a:spLocks noGrp="1"/>
          </p:cNvSpPr>
          <p:nvPr>
            <p:ph type="title"/>
          </p:nvPr>
        </p:nvSpPr>
        <p:spPr/>
        <p:txBody>
          <a:bodyPr/>
          <a:lstStyle/>
          <a:p>
            <a:r>
              <a:rPr lang="en-US" dirty="0"/>
              <a:t>Working with </a:t>
            </a:r>
            <a:r>
              <a:rPr lang="en-US" dirty="0" err="1"/>
              <a:t>jupyternotebook</a:t>
            </a:r>
            <a:r>
              <a:rPr lang="en-US" dirty="0"/>
              <a:t> from anaconda</a:t>
            </a:r>
          </a:p>
        </p:txBody>
      </p:sp>
      <p:sp>
        <p:nvSpPr>
          <p:cNvPr id="3" name="Content Placeholder 2">
            <a:extLst>
              <a:ext uri="{FF2B5EF4-FFF2-40B4-BE49-F238E27FC236}">
                <a16:creationId xmlns:a16="http://schemas.microsoft.com/office/drawing/2014/main" id="{6EE0AA97-3942-8DAA-2154-650430543E6C}"/>
              </a:ext>
            </a:extLst>
          </p:cNvPr>
          <p:cNvSpPr>
            <a:spLocks noGrp="1"/>
          </p:cNvSpPr>
          <p:nvPr>
            <p:ph idx="1"/>
          </p:nvPr>
        </p:nvSpPr>
        <p:spPr/>
        <p:txBody>
          <a:bodyPr/>
          <a:lstStyle/>
          <a:p>
            <a:r>
              <a:rPr lang="en-US" dirty="0"/>
              <a:t>Open Anaconda Prompt</a:t>
            </a:r>
          </a:p>
          <a:p>
            <a:endParaRPr lang="en-US" dirty="0"/>
          </a:p>
          <a:p>
            <a:r>
              <a:rPr lang="en-US" dirty="0"/>
              <a:t>Navigate to your folder by </a:t>
            </a:r>
          </a:p>
          <a:p>
            <a:pPr marL="0" indent="0" algn="ctr">
              <a:buNone/>
            </a:pPr>
            <a:r>
              <a:rPr lang="en-US" b="1" i="1" dirty="0"/>
              <a:t>cd {folder </a:t>
            </a:r>
            <a:r>
              <a:rPr lang="en-US" b="1" i="1" dirty="0" err="1"/>
              <a:t>direrctory</a:t>
            </a:r>
            <a:r>
              <a:rPr lang="en-US" b="1" i="1" dirty="0"/>
              <a:t>}</a:t>
            </a:r>
          </a:p>
          <a:p>
            <a:pPr marL="0" indent="0" algn="ctr">
              <a:buNone/>
            </a:pPr>
            <a:r>
              <a:rPr lang="en-US" b="1" dirty="0"/>
              <a:t>Most of </a:t>
            </a:r>
            <a:r>
              <a:rPr lang="en-US" b="1" dirty="0" err="1"/>
              <a:t>jupyter</a:t>
            </a:r>
            <a:r>
              <a:rPr lang="en-US" b="1" dirty="0"/>
              <a:t> working is in specific folder. So be aware of that.</a:t>
            </a:r>
          </a:p>
          <a:p>
            <a:endParaRPr lang="en-US" dirty="0"/>
          </a:p>
          <a:p>
            <a:r>
              <a:rPr lang="en-US" dirty="0"/>
              <a:t>Same procedure</a:t>
            </a:r>
          </a:p>
          <a:p>
            <a:endParaRPr lang="en-US" dirty="0"/>
          </a:p>
          <a:p>
            <a:pPr marL="0" indent="0" algn="ctr">
              <a:buNone/>
            </a:pPr>
            <a:r>
              <a:rPr lang="en-US" b="1" i="1" dirty="0"/>
              <a:t>git clone {web directory from </a:t>
            </a:r>
            <a:r>
              <a:rPr lang="en-US" b="1" i="1" dirty="0" err="1"/>
              <a:t>github</a:t>
            </a:r>
            <a:r>
              <a:rPr lang="en-US" b="1" i="1"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08447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13E11-6ABA-FAA0-52BB-D25F8563B80B}"/>
              </a:ext>
            </a:extLst>
          </p:cNvPr>
          <p:cNvSpPr>
            <a:spLocks noGrp="1"/>
          </p:cNvSpPr>
          <p:nvPr>
            <p:ph type="title"/>
          </p:nvPr>
        </p:nvSpPr>
        <p:spPr/>
        <p:txBody>
          <a:bodyPr/>
          <a:lstStyle/>
          <a:p>
            <a:pPr algn="ctr"/>
            <a:r>
              <a:rPr lang="en-US" dirty="0"/>
              <a:t>Virtual Environment </a:t>
            </a:r>
          </a:p>
        </p:txBody>
      </p:sp>
      <p:sp>
        <p:nvSpPr>
          <p:cNvPr id="3" name="Content Placeholder 2">
            <a:extLst>
              <a:ext uri="{FF2B5EF4-FFF2-40B4-BE49-F238E27FC236}">
                <a16:creationId xmlns:a16="http://schemas.microsoft.com/office/drawing/2014/main" id="{88ADF0A7-9F02-A4C5-35FF-7AD646C9116E}"/>
              </a:ext>
            </a:extLst>
          </p:cNvPr>
          <p:cNvSpPr>
            <a:spLocks noGrp="1"/>
          </p:cNvSpPr>
          <p:nvPr>
            <p:ph idx="1"/>
          </p:nvPr>
        </p:nvSpPr>
        <p:spPr/>
        <p:txBody>
          <a:bodyPr/>
          <a:lstStyle/>
          <a:p>
            <a:r>
              <a:rPr lang="en-US" dirty="0"/>
              <a:t>Effective way of working on a new project</a:t>
            </a:r>
          </a:p>
          <a:p>
            <a:endParaRPr lang="en-US" dirty="0"/>
          </a:p>
          <a:p>
            <a:r>
              <a:rPr lang="en-US" dirty="0"/>
              <a:t>Manage packages effectively</a:t>
            </a:r>
          </a:p>
          <a:p>
            <a:endParaRPr lang="en-US" dirty="0"/>
          </a:p>
          <a:p>
            <a:r>
              <a:rPr lang="en-US" dirty="0"/>
              <a:t>Help to reduce conflict in between different packages and version.</a:t>
            </a:r>
          </a:p>
        </p:txBody>
      </p:sp>
    </p:spTree>
    <p:extLst>
      <p:ext uri="{BB962C8B-B14F-4D97-AF65-F5344CB8AC3E}">
        <p14:creationId xmlns:p14="http://schemas.microsoft.com/office/powerpoint/2010/main" val="3039594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C2161-F5F5-0FD7-FC9B-882959A5F39E}"/>
              </a:ext>
            </a:extLst>
          </p:cNvPr>
          <p:cNvSpPr>
            <a:spLocks noGrp="1"/>
          </p:cNvSpPr>
          <p:nvPr>
            <p:ph type="title"/>
          </p:nvPr>
        </p:nvSpPr>
        <p:spPr/>
        <p:txBody>
          <a:bodyPr/>
          <a:lstStyle/>
          <a:p>
            <a:pPr algn="ctr"/>
            <a:r>
              <a:rPr lang="en-US"/>
              <a:t>Essential commands </a:t>
            </a:r>
          </a:p>
        </p:txBody>
      </p:sp>
      <p:sp>
        <p:nvSpPr>
          <p:cNvPr id="3" name="Content Placeholder 2">
            <a:extLst>
              <a:ext uri="{FF2B5EF4-FFF2-40B4-BE49-F238E27FC236}">
                <a16:creationId xmlns:a16="http://schemas.microsoft.com/office/drawing/2014/main" id="{8E588DB7-B1BC-3004-A112-3042EE9888FC}"/>
              </a:ext>
            </a:extLst>
          </p:cNvPr>
          <p:cNvSpPr>
            <a:spLocks noGrp="1"/>
          </p:cNvSpPr>
          <p:nvPr>
            <p:ph idx="1"/>
          </p:nvPr>
        </p:nvSpPr>
        <p:spPr/>
        <p:txBody>
          <a:bodyPr/>
          <a:lstStyle/>
          <a:p>
            <a:r>
              <a:rPr lang="en-US" dirty="0" err="1"/>
              <a:t>conda</a:t>
            </a:r>
            <a:r>
              <a:rPr lang="en-US" dirty="0"/>
              <a:t> env list</a:t>
            </a:r>
          </a:p>
          <a:p>
            <a:r>
              <a:rPr lang="en-US" dirty="0" err="1"/>
              <a:t>conda</a:t>
            </a:r>
            <a:r>
              <a:rPr lang="en-US" dirty="0"/>
              <a:t> create --name {</a:t>
            </a:r>
            <a:r>
              <a:rPr lang="en-US" dirty="0" err="1"/>
              <a:t>myenv</a:t>
            </a:r>
            <a:r>
              <a:rPr lang="en-US" dirty="0"/>
              <a:t>} python=3.11</a:t>
            </a:r>
          </a:p>
          <a:p>
            <a:r>
              <a:rPr lang="en-US" dirty="0" err="1"/>
              <a:t>conda</a:t>
            </a:r>
            <a:r>
              <a:rPr lang="en-US" dirty="0"/>
              <a:t> activate {</a:t>
            </a:r>
            <a:r>
              <a:rPr lang="en-US" dirty="0" err="1"/>
              <a:t>myenv</a:t>
            </a:r>
            <a:r>
              <a:rPr lang="en-US" dirty="0"/>
              <a:t>}</a:t>
            </a:r>
          </a:p>
          <a:p>
            <a:r>
              <a:rPr lang="en-US" dirty="0" err="1"/>
              <a:t>conda</a:t>
            </a:r>
            <a:r>
              <a:rPr lang="en-US" dirty="0"/>
              <a:t> deactivate</a:t>
            </a:r>
          </a:p>
          <a:p>
            <a:endParaRPr lang="en-US" dirty="0"/>
          </a:p>
          <a:p>
            <a:endParaRPr lang="en-US" dirty="0"/>
          </a:p>
          <a:p>
            <a:endParaRPr lang="en-US" dirty="0"/>
          </a:p>
        </p:txBody>
      </p:sp>
    </p:spTree>
    <p:extLst>
      <p:ext uri="{BB962C8B-B14F-4D97-AF65-F5344CB8AC3E}">
        <p14:creationId xmlns:p14="http://schemas.microsoft.com/office/powerpoint/2010/main" val="2898042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8761-1F44-73CA-A773-DFE56C94EAD5}"/>
              </a:ext>
            </a:extLst>
          </p:cNvPr>
          <p:cNvSpPr>
            <a:spLocks noGrp="1"/>
          </p:cNvSpPr>
          <p:nvPr>
            <p:ph type="title"/>
          </p:nvPr>
        </p:nvSpPr>
        <p:spPr/>
        <p:txBody>
          <a:bodyPr/>
          <a:lstStyle/>
          <a:p>
            <a:pPr algn="ctr"/>
            <a:r>
              <a:rPr lang="en-US" dirty="0"/>
              <a:t>Let’s Do practices</a:t>
            </a:r>
          </a:p>
        </p:txBody>
      </p:sp>
      <p:sp>
        <p:nvSpPr>
          <p:cNvPr id="3" name="Content Placeholder 2">
            <a:extLst>
              <a:ext uri="{FF2B5EF4-FFF2-40B4-BE49-F238E27FC236}">
                <a16:creationId xmlns:a16="http://schemas.microsoft.com/office/drawing/2014/main" id="{568AF67A-2E8E-53CB-122C-A3AC2F67222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05457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4B5C-8D2E-4BB0-B909-D8B2013A612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Code Editor Settings: Jupyter Notebook </a:t>
            </a:r>
          </a:p>
        </p:txBody>
      </p:sp>
      <p:sp>
        <p:nvSpPr>
          <p:cNvPr id="3" name="Content Placeholder 2">
            <a:extLst>
              <a:ext uri="{FF2B5EF4-FFF2-40B4-BE49-F238E27FC236}">
                <a16:creationId xmlns:a16="http://schemas.microsoft.com/office/drawing/2014/main" id="{2FE0A94F-AE5E-CB23-4FC2-E19A9A7776C5}"/>
              </a:ext>
            </a:extLst>
          </p:cNvPr>
          <p:cNvSpPr>
            <a:spLocks noGrp="1"/>
          </p:cNvSpPr>
          <p:nvPr>
            <p:ph idx="1"/>
          </p:nvPr>
        </p:nvSpPr>
        <p:spPr>
          <a:xfrm>
            <a:off x="838200" y="1825624"/>
            <a:ext cx="10515600" cy="4529455"/>
          </a:xfrm>
        </p:spPr>
        <p:txBody>
          <a:bodyPr>
            <a:normAutofit/>
          </a:bodyPr>
          <a:lstStyle/>
          <a:p>
            <a:r>
              <a:rPr lang="en-US" dirty="0">
                <a:latin typeface="Times New Roman" panose="02020603050405020304" pitchFamily="18" charset="0"/>
                <a:cs typeface="Times New Roman" panose="02020603050405020304" pitchFamily="18" charset="0"/>
              </a:rPr>
              <a:t>In the entire course, we will work on jupyter notebook which provides python environment called Interactive Python Notebook (</a:t>
            </a:r>
            <a:r>
              <a:rPr lang="en-US" dirty="0" err="1">
                <a:latin typeface="Times New Roman" panose="02020603050405020304" pitchFamily="18" charset="0"/>
                <a:cs typeface="Times New Roman" panose="02020603050405020304" pitchFamily="18" charset="0"/>
              </a:rPr>
              <a:t>Ipynb</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Allows you to run code in separate cells interactively, enabling step-by-step testing and debugging.</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Supports markdown cells for adding explanations, headings, and mathematical equations alongside code. This makes it excellent for documentation and reporting.</a:t>
            </a:r>
          </a:p>
        </p:txBody>
      </p:sp>
    </p:spTree>
    <p:extLst>
      <p:ext uri="{BB962C8B-B14F-4D97-AF65-F5344CB8AC3E}">
        <p14:creationId xmlns:p14="http://schemas.microsoft.com/office/powerpoint/2010/main" val="3058026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7E819D-7140-F24B-3018-BD6DD94A8B9A}"/>
              </a:ext>
            </a:extLst>
          </p:cNvPr>
          <p:cNvSpPr>
            <a:spLocks noGrp="1"/>
          </p:cNvSpPr>
          <p:nvPr>
            <p:ph type="title"/>
          </p:nvPr>
        </p:nvSpPr>
        <p:spPr/>
        <p:txBody>
          <a:bodyPr/>
          <a:lstStyle/>
          <a:p>
            <a:r>
              <a:rPr lang="en-US" dirty="0"/>
              <a:t>Data And Analytics</a:t>
            </a:r>
          </a:p>
        </p:txBody>
      </p:sp>
      <p:sp>
        <p:nvSpPr>
          <p:cNvPr id="5" name="Text Placeholder 4">
            <a:extLst>
              <a:ext uri="{FF2B5EF4-FFF2-40B4-BE49-F238E27FC236}">
                <a16:creationId xmlns:a16="http://schemas.microsoft.com/office/drawing/2014/main" id="{53DF4674-1D22-A7A8-D059-1CD24D59C0D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56360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59110-521A-376B-DA97-F918408B401D}"/>
              </a:ext>
            </a:extLst>
          </p:cNvPr>
          <p:cNvSpPr>
            <a:spLocks noGrp="1"/>
          </p:cNvSpPr>
          <p:nvPr>
            <p:ph type="title"/>
          </p:nvPr>
        </p:nvSpPr>
        <p:spPr/>
        <p:txBody>
          <a:bodyPr/>
          <a:lstStyle/>
          <a:p>
            <a:r>
              <a:rPr lang="en-US" dirty="0"/>
              <a:t>Data: </a:t>
            </a:r>
          </a:p>
        </p:txBody>
      </p:sp>
      <p:sp>
        <p:nvSpPr>
          <p:cNvPr id="3" name="Content Placeholder 2">
            <a:extLst>
              <a:ext uri="{FF2B5EF4-FFF2-40B4-BE49-F238E27FC236}">
                <a16:creationId xmlns:a16="http://schemas.microsoft.com/office/drawing/2014/main" id="{25E2971B-6073-BF63-B2BA-D79E5C774F9D}"/>
              </a:ext>
            </a:extLst>
          </p:cNvPr>
          <p:cNvSpPr>
            <a:spLocks noGrp="1"/>
          </p:cNvSpPr>
          <p:nvPr>
            <p:ph idx="1"/>
          </p:nvPr>
        </p:nvSpPr>
        <p:spPr>
          <a:xfrm>
            <a:off x="0" y="1311274"/>
            <a:ext cx="11818620" cy="4883785"/>
          </a:xfrm>
        </p:spPr>
        <p:txBody>
          <a:bodyPr>
            <a:normAutofit/>
          </a:bodyPr>
          <a:lstStyle/>
          <a:p>
            <a:r>
              <a:rPr lang="en-US" dirty="0"/>
              <a:t>Data refers to raw facts and figures that can be collected, stored, and analyzed to gain insights.</a:t>
            </a:r>
          </a:p>
          <a:p>
            <a:endParaRPr lang="en-US" dirty="0"/>
          </a:p>
          <a:p>
            <a:r>
              <a:rPr lang="en-US" dirty="0"/>
              <a:t>Data can be structured (e.g., databases, spreadsheets) or unstructured (e.g., text, images, videos).</a:t>
            </a:r>
          </a:p>
          <a:p>
            <a:endParaRPr lang="en-US" dirty="0"/>
          </a:p>
          <a:p>
            <a:r>
              <a:rPr lang="en-US" dirty="0"/>
              <a:t>Data is generated from various sources such as sensors, social media, transactions, and user activities.</a:t>
            </a:r>
          </a:p>
          <a:p>
            <a:endParaRPr lang="en-US" dirty="0"/>
          </a:p>
          <a:p>
            <a:r>
              <a:rPr lang="en-US" dirty="0"/>
              <a:t>Big data refers to extremely large datasets that are too complex or voluminous for traditional data processing tools to handle, requiring advanced technologies like Hadoop and machine learning to analyze and derive value.</a:t>
            </a:r>
          </a:p>
        </p:txBody>
      </p:sp>
    </p:spTree>
    <p:extLst>
      <p:ext uri="{BB962C8B-B14F-4D97-AF65-F5344CB8AC3E}">
        <p14:creationId xmlns:p14="http://schemas.microsoft.com/office/powerpoint/2010/main" val="3687125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49A67-4169-88AC-4428-645BE52A3D3A}"/>
              </a:ext>
            </a:extLst>
          </p:cNvPr>
          <p:cNvSpPr>
            <a:spLocks noGrp="1"/>
          </p:cNvSpPr>
          <p:nvPr>
            <p:ph type="title"/>
          </p:nvPr>
        </p:nvSpPr>
        <p:spPr>
          <a:xfrm>
            <a:off x="640080" y="325369"/>
            <a:ext cx="4368602" cy="1956841"/>
          </a:xfrm>
        </p:spPr>
        <p:txBody>
          <a:bodyPr anchor="b">
            <a:normAutofit/>
          </a:bodyPr>
          <a:lstStyle/>
          <a:p>
            <a:r>
              <a:rPr lang="en-US" sz="5400" dirty="0"/>
              <a:t>Big Data framework </a:t>
            </a:r>
          </a:p>
        </p:txBody>
      </p:sp>
      <p:sp>
        <p:nvSpPr>
          <p:cNvPr id="3" name="Content Placeholder 2">
            <a:extLst>
              <a:ext uri="{FF2B5EF4-FFF2-40B4-BE49-F238E27FC236}">
                <a16:creationId xmlns:a16="http://schemas.microsoft.com/office/drawing/2014/main" id="{1AA040E4-AC10-9751-70CB-B375D24030F7}"/>
              </a:ext>
            </a:extLst>
          </p:cNvPr>
          <p:cNvSpPr>
            <a:spLocks noGrp="1"/>
          </p:cNvSpPr>
          <p:nvPr>
            <p:ph idx="1"/>
          </p:nvPr>
        </p:nvSpPr>
        <p:spPr>
          <a:xfrm>
            <a:off x="640080" y="2872898"/>
            <a:ext cx="4243589" cy="3905091"/>
          </a:xfrm>
        </p:spPr>
        <p:txBody>
          <a:bodyPr>
            <a:normAutofit/>
          </a:bodyPr>
          <a:lstStyle/>
          <a:p>
            <a:pPr marL="514350" indent="-514350">
              <a:buFont typeface="+mj-lt"/>
              <a:buAutoNum type="arabicPeriod"/>
            </a:pPr>
            <a:r>
              <a:rPr lang="en-US" dirty="0"/>
              <a:t>Volume</a:t>
            </a:r>
          </a:p>
          <a:p>
            <a:pPr marL="514350" indent="-514350">
              <a:buFont typeface="+mj-lt"/>
              <a:buAutoNum type="arabicPeriod"/>
            </a:pPr>
            <a:endParaRPr lang="en-US" dirty="0"/>
          </a:p>
          <a:p>
            <a:pPr marL="514350" indent="-514350">
              <a:buFont typeface="+mj-lt"/>
              <a:buAutoNum type="arabicPeriod"/>
            </a:pPr>
            <a:r>
              <a:rPr lang="en-US" dirty="0"/>
              <a:t>Velocity</a:t>
            </a:r>
          </a:p>
          <a:p>
            <a:pPr marL="514350" indent="-514350">
              <a:buFont typeface="+mj-lt"/>
              <a:buAutoNum type="arabicPeriod"/>
            </a:pPr>
            <a:endParaRPr lang="en-US" dirty="0"/>
          </a:p>
          <a:p>
            <a:pPr marL="514350" indent="-514350">
              <a:buFont typeface="+mj-lt"/>
              <a:buAutoNum type="arabicPeriod"/>
            </a:pPr>
            <a:r>
              <a:rPr lang="en-US" dirty="0"/>
              <a:t>Variety</a:t>
            </a:r>
          </a:p>
          <a:p>
            <a:pPr marL="514350" indent="-514350">
              <a:buFont typeface="+mj-lt"/>
              <a:buAutoNum type="arabicPeriod"/>
            </a:pPr>
            <a:endParaRPr lang="en-US" dirty="0"/>
          </a:p>
          <a:p>
            <a:pPr marL="514350" indent="-514350">
              <a:buFont typeface="+mj-lt"/>
              <a:buAutoNum type="arabicPeriod"/>
            </a:pPr>
            <a:r>
              <a:rPr lang="en-US" dirty="0"/>
              <a:t>Veracity </a:t>
            </a:r>
          </a:p>
        </p:txBody>
      </p:sp>
      <p:pic>
        <p:nvPicPr>
          <p:cNvPr id="5" name="Picture 4" descr="Abstract background of data">
            <a:extLst>
              <a:ext uri="{FF2B5EF4-FFF2-40B4-BE49-F238E27FC236}">
                <a16:creationId xmlns:a16="http://schemas.microsoft.com/office/drawing/2014/main" id="{F79C5CF1-FAC1-DF95-4831-86B61E65DC4F}"/>
              </a:ext>
            </a:extLst>
          </p:cNvPr>
          <p:cNvPicPr>
            <a:picLocks noChangeAspect="1"/>
          </p:cNvPicPr>
          <p:nvPr/>
        </p:nvPicPr>
        <p:blipFill>
          <a:blip r:embed="rId2"/>
          <a:srcRect l="17580" r="25999"/>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332254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A90E-8B88-5978-D8E0-6921B587D168}"/>
              </a:ext>
            </a:extLst>
          </p:cNvPr>
          <p:cNvSpPr>
            <a:spLocks noGrp="1"/>
          </p:cNvSpPr>
          <p:nvPr>
            <p:ph type="title"/>
          </p:nvPr>
        </p:nvSpPr>
        <p:spPr/>
        <p:txBody>
          <a:bodyPr/>
          <a:lstStyle/>
          <a:p>
            <a:pPr algn="ctr"/>
            <a:r>
              <a:rPr lang="en-US" dirty="0"/>
              <a:t>Volume</a:t>
            </a:r>
          </a:p>
        </p:txBody>
      </p:sp>
      <p:sp>
        <p:nvSpPr>
          <p:cNvPr id="3" name="Content Placeholder 2">
            <a:extLst>
              <a:ext uri="{FF2B5EF4-FFF2-40B4-BE49-F238E27FC236}">
                <a16:creationId xmlns:a16="http://schemas.microsoft.com/office/drawing/2014/main" id="{66747A61-91CE-5428-3E88-07A910579C56}"/>
              </a:ext>
            </a:extLst>
          </p:cNvPr>
          <p:cNvSpPr>
            <a:spLocks noGrp="1"/>
          </p:cNvSpPr>
          <p:nvPr>
            <p:ph idx="1"/>
          </p:nvPr>
        </p:nvSpPr>
        <p:spPr/>
        <p:txBody>
          <a:bodyPr>
            <a:normAutofit fontScale="92500" lnSpcReduction="10000"/>
          </a:bodyPr>
          <a:lstStyle/>
          <a:p>
            <a:r>
              <a:rPr lang="en-US" dirty="0"/>
              <a:t>Definition of Volume: Volume refers to the sheer scale of data generated every second, ranging from kilobytes to terabytes and beyond.</a:t>
            </a:r>
          </a:p>
          <a:p>
            <a:endParaRPr lang="en-US" dirty="0"/>
          </a:p>
          <a:p>
            <a:r>
              <a:rPr lang="en-US" dirty="0"/>
              <a:t>Data Sources: High data volume comes from sources like social media, IoT devices, e-commerce, and multimedia content.</a:t>
            </a:r>
          </a:p>
          <a:p>
            <a:endParaRPr lang="en-US" dirty="0"/>
          </a:p>
          <a:p>
            <a:r>
              <a:rPr lang="en-US" dirty="0"/>
              <a:t>Storage Challenges: Managing and storing vast amounts of data require scalable solutions like cloud storage and distributed systems.</a:t>
            </a:r>
          </a:p>
          <a:p>
            <a:endParaRPr lang="en-US" dirty="0"/>
          </a:p>
          <a:p>
            <a:r>
              <a:rPr lang="en-US" dirty="0"/>
              <a:t>Relevance in Big Data: Volume is a defining characteristic of big data, emphasizing the need for technologies to process massive datasets efficiently.</a:t>
            </a:r>
          </a:p>
        </p:txBody>
      </p:sp>
    </p:spTree>
    <p:extLst>
      <p:ext uri="{BB962C8B-B14F-4D97-AF65-F5344CB8AC3E}">
        <p14:creationId xmlns:p14="http://schemas.microsoft.com/office/powerpoint/2010/main" val="1628453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9C328-8DB0-A26E-3DD4-C9043DFED9C2}"/>
              </a:ext>
            </a:extLst>
          </p:cNvPr>
          <p:cNvSpPr>
            <a:spLocks noGrp="1"/>
          </p:cNvSpPr>
          <p:nvPr>
            <p:ph type="title"/>
          </p:nvPr>
        </p:nvSpPr>
        <p:spPr/>
        <p:txBody>
          <a:bodyPr/>
          <a:lstStyle/>
          <a:p>
            <a:r>
              <a:rPr lang="en-US" dirty="0"/>
              <a:t>Variety </a:t>
            </a:r>
          </a:p>
        </p:txBody>
      </p:sp>
      <p:sp>
        <p:nvSpPr>
          <p:cNvPr id="3" name="Content Placeholder 2">
            <a:extLst>
              <a:ext uri="{FF2B5EF4-FFF2-40B4-BE49-F238E27FC236}">
                <a16:creationId xmlns:a16="http://schemas.microsoft.com/office/drawing/2014/main" id="{1128C9E4-D30F-01DA-C6F1-1423C724C16F}"/>
              </a:ext>
            </a:extLst>
          </p:cNvPr>
          <p:cNvSpPr>
            <a:spLocks noGrp="1"/>
          </p:cNvSpPr>
          <p:nvPr>
            <p:ph idx="1"/>
          </p:nvPr>
        </p:nvSpPr>
        <p:spPr/>
        <p:txBody>
          <a:bodyPr>
            <a:normAutofit fontScale="92500"/>
          </a:bodyPr>
          <a:lstStyle/>
          <a:p>
            <a:r>
              <a:rPr lang="en-US" dirty="0"/>
              <a:t>Variety refers to the different types and formats of data, ranging from structured to unstructured and semi-structured.</a:t>
            </a:r>
          </a:p>
          <a:p>
            <a:endParaRPr lang="en-US" dirty="0"/>
          </a:p>
          <a:p>
            <a:r>
              <a:rPr lang="en-US" dirty="0"/>
              <a:t>Data Formats: Includes text, images, videos, audio, sensor data, logs, and more.</a:t>
            </a:r>
          </a:p>
          <a:p>
            <a:endParaRPr lang="en-US" dirty="0"/>
          </a:p>
          <a:p>
            <a:r>
              <a:rPr lang="en-US" dirty="0"/>
              <a:t>Integration Challenges: Combining diverse data types into a cohesive analysis framework requires specialized tools and techniques.</a:t>
            </a:r>
          </a:p>
          <a:p>
            <a:endParaRPr lang="en-US" dirty="0"/>
          </a:p>
          <a:p>
            <a:r>
              <a:rPr lang="en-US" dirty="0"/>
              <a:t>Relevance in Big Data: Variety highlights the complexity of big data, emphasizing the need for flexible systems to handle heterogeneous datasets.</a:t>
            </a:r>
          </a:p>
        </p:txBody>
      </p:sp>
    </p:spTree>
    <p:extLst>
      <p:ext uri="{BB962C8B-B14F-4D97-AF65-F5344CB8AC3E}">
        <p14:creationId xmlns:p14="http://schemas.microsoft.com/office/powerpoint/2010/main" val="201108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CA459-0340-D213-113E-F71353644891}"/>
              </a:ext>
            </a:extLst>
          </p:cNvPr>
          <p:cNvSpPr>
            <a:spLocks noGrp="1"/>
          </p:cNvSpPr>
          <p:nvPr>
            <p:ph type="title"/>
          </p:nvPr>
        </p:nvSpPr>
        <p:spPr>
          <a:xfrm>
            <a:off x="838200" y="68897"/>
            <a:ext cx="10515600" cy="1108393"/>
          </a:xfrm>
        </p:spPr>
        <p:txBody>
          <a:bodyPr/>
          <a:lstStyle/>
          <a:p>
            <a:pPr algn="ctr"/>
            <a:r>
              <a:rPr lang="en-US" dirty="0"/>
              <a:t>Velocity </a:t>
            </a:r>
          </a:p>
        </p:txBody>
      </p:sp>
      <p:sp>
        <p:nvSpPr>
          <p:cNvPr id="3" name="Content Placeholder 2">
            <a:extLst>
              <a:ext uri="{FF2B5EF4-FFF2-40B4-BE49-F238E27FC236}">
                <a16:creationId xmlns:a16="http://schemas.microsoft.com/office/drawing/2014/main" id="{65F0D8A7-0224-E8C3-8B52-4BBA15206165}"/>
              </a:ext>
            </a:extLst>
          </p:cNvPr>
          <p:cNvSpPr>
            <a:spLocks noGrp="1"/>
          </p:cNvSpPr>
          <p:nvPr>
            <p:ph idx="1"/>
          </p:nvPr>
        </p:nvSpPr>
        <p:spPr>
          <a:xfrm>
            <a:off x="838200" y="1394460"/>
            <a:ext cx="10515600" cy="5314949"/>
          </a:xfrm>
        </p:spPr>
        <p:txBody>
          <a:bodyPr>
            <a:normAutofit/>
          </a:bodyPr>
          <a:lstStyle/>
          <a:p>
            <a:r>
              <a:rPr lang="en-US" dirty="0"/>
              <a:t>Definition of Velocity: Velocity refers to the speed at which data is generated, collected, processed, and analyzed.</a:t>
            </a:r>
          </a:p>
          <a:p>
            <a:endParaRPr lang="en-US" dirty="0"/>
          </a:p>
          <a:p>
            <a:r>
              <a:rPr lang="en-US" dirty="0"/>
              <a:t>Real-Time Data Sources: Includes streams from IoT devices, social media updates, financial transactions, and online interactions.</a:t>
            </a:r>
          </a:p>
          <a:p>
            <a:endParaRPr lang="en-US" dirty="0"/>
          </a:p>
          <a:p>
            <a:r>
              <a:rPr lang="en-US" dirty="0"/>
              <a:t>Processing Challenges: Managing and analyzing high-speed data streams requires real-time processing technologies like Apache Kafka and Spark.</a:t>
            </a:r>
          </a:p>
          <a:p>
            <a:endParaRPr lang="en-US" dirty="0"/>
          </a:p>
          <a:p>
            <a:r>
              <a:rPr lang="en-US" dirty="0"/>
              <a:t>Relevance in Big Data: Velocity emphasizes the need for systems that can handle continuous data flow and provide actionable insights in real time.</a:t>
            </a:r>
          </a:p>
        </p:txBody>
      </p:sp>
    </p:spTree>
    <p:extLst>
      <p:ext uri="{BB962C8B-B14F-4D97-AF65-F5344CB8AC3E}">
        <p14:creationId xmlns:p14="http://schemas.microsoft.com/office/powerpoint/2010/main" val="11899248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01FC0-124F-81C0-8D7B-E1290D39422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Structured and Unstructured Data </a:t>
            </a:r>
          </a:p>
        </p:txBody>
      </p:sp>
      <p:pic>
        <p:nvPicPr>
          <p:cNvPr id="4" name="Content Placeholder 3">
            <a:extLst>
              <a:ext uri="{FF2B5EF4-FFF2-40B4-BE49-F238E27FC236}">
                <a16:creationId xmlns:a16="http://schemas.microsoft.com/office/drawing/2014/main" id="{C64C152F-038D-334A-76A2-93DADCEA6CD1}"/>
              </a:ext>
            </a:extLst>
          </p:cNvPr>
          <p:cNvPicPr>
            <a:picLocks noGrp="1" noChangeAspect="1"/>
          </p:cNvPicPr>
          <p:nvPr>
            <p:ph idx="1"/>
          </p:nvPr>
        </p:nvPicPr>
        <p:blipFill>
          <a:blip r:embed="rId2"/>
          <a:stretch>
            <a:fillRect/>
          </a:stretch>
        </p:blipFill>
        <p:spPr>
          <a:xfrm>
            <a:off x="3392434" y="182881"/>
            <a:ext cx="8711936" cy="6446520"/>
          </a:xfrm>
          <a:prstGeom prst="rect">
            <a:avLst/>
          </a:prstGeom>
        </p:spPr>
      </p:pic>
    </p:spTree>
    <p:extLst>
      <p:ext uri="{BB962C8B-B14F-4D97-AF65-F5344CB8AC3E}">
        <p14:creationId xmlns:p14="http://schemas.microsoft.com/office/powerpoint/2010/main" val="2351761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7872-7295-2B98-BCE6-176787DB8FB5}"/>
              </a:ext>
            </a:extLst>
          </p:cNvPr>
          <p:cNvSpPr>
            <a:spLocks noGrp="1"/>
          </p:cNvSpPr>
          <p:nvPr>
            <p:ph type="title"/>
          </p:nvPr>
        </p:nvSpPr>
        <p:spPr/>
        <p:txBody>
          <a:bodyPr/>
          <a:lstStyle/>
          <a:p>
            <a:r>
              <a:rPr lang="en-US" dirty="0"/>
              <a:t>Data types from perspective of Analytics </a:t>
            </a:r>
          </a:p>
        </p:txBody>
      </p:sp>
      <p:sp>
        <p:nvSpPr>
          <p:cNvPr id="3" name="Content Placeholder 2">
            <a:extLst>
              <a:ext uri="{FF2B5EF4-FFF2-40B4-BE49-F238E27FC236}">
                <a16:creationId xmlns:a16="http://schemas.microsoft.com/office/drawing/2014/main" id="{B421C80A-A7EE-16A0-47A5-D2B3350E6D1C}"/>
              </a:ext>
            </a:extLst>
          </p:cNvPr>
          <p:cNvSpPr>
            <a:spLocks noGrp="1"/>
          </p:cNvSpPr>
          <p:nvPr>
            <p:ph idx="1"/>
          </p:nvPr>
        </p:nvSpPr>
        <p:spPr/>
        <p:txBody>
          <a:bodyPr/>
          <a:lstStyle/>
          <a:p>
            <a:r>
              <a:rPr lang="en-US" dirty="0"/>
              <a:t>Cross Sectional </a:t>
            </a:r>
          </a:p>
          <a:p>
            <a:endParaRPr lang="en-US" dirty="0"/>
          </a:p>
          <a:p>
            <a:r>
              <a:rPr lang="en-US" dirty="0"/>
              <a:t>Timeseries </a:t>
            </a:r>
          </a:p>
          <a:p>
            <a:endParaRPr lang="en-US" dirty="0"/>
          </a:p>
          <a:p>
            <a:r>
              <a:rPr lang="en-US" dirty="0"/>
              <a:t>Panel Data </a:t>
            </a:r>
          </a:p>
        </p:txBody>
      </p:sp>
    </p:spTree>
    <p:extLst>
      <p:ext uri="{BB962C8B-B14F-4D97-AF65-F5344CB8AC3E}">
        <p14:creationId xmlns:p14="http://schemas.microsoft.com/office/powerpoint/2010/main" val="3616369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5379AC-043B-2EBB-BC1D-68093386406C}"/>
              </a:ext>
            </a:extLst>
          </p:cNvPr>
          <p:cNvSpPr>
            <a:spLocks noGrp="1"/>
          </p:cNvSpPr>
          <p:nvPr>
            <p:ph type="title"/>
          </p:nvPr>
        </p:nvSpPr>
        <p:spPr/>
        <p:txBody>
          <a:bodyPr/>
          <a:lstStyle/>
          <a:p>
            <a:pPr algn="ctr"/>
            <a:r>
              <a:rPr lang="en-US" dirty="0"/>
              <a:t>Fundamental of Analytics</a:t>
            </a:r>
          </a:p>
        </p:txBody>
      </p:sp>
      <p:sp>
        <p:nvSpPr>
          <p:cNvPr id="5" name="Text Placeholder 4">
            <a:extLst>
              <a:ext uri="{FF2B5EF4-FFF2-40B4-BE49-F238E27FC236}">
                <a16:creationId xmlns:a16="http://schemas.microsoft.com/office/drawing/2014/main" id="{D9EB8A43-6F15-FB5A-76CA-46B11DFB6CE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08916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5E73A-7808-E2AD-4B1D-0292EEC063F9}"/>
              </a:ext>
            </a:extLst>
          </p:cNvPr>
          <p:cNvSpPr>
            <a:spLocks noGrp="1"/>
          </p:cNvSpPr>
          <p:nvPr>
            <p:ph type="title"/>
          </p:nvPr>
        </p:nvSpPr>
        <p:spPr>
          <a:xfrm>
            <a:off x="872490" y="2766218"/>
            <a:ext cx="4351020" cy="1325563"/>
          </a:xfrm>
        </p:spPr>
        <p:txBody>
          <a:bodyPr>
            <a:normAutofit/>
          </a:bodyPr>
          <a:lstStyle/>
          <a:p>
            <a:r>
              <a:rPr lang="en-US" sz="3600" dirty="0"/>
              <a:t>Types and Level of Business  Analytics</a:t>
            </a:r>
          </a:p>
        </p:txBody>
      </p:sp>
      <p:sp>
        <p:nvSpPr>
          <p:cNvPr id="4" name="Rectangle 3">
            <a:extLst>
              <a:ext uri="{FF2B5EF4-FFF2-40B4-BE49-F238E27FC236}">
                <a16:creationId xmlns:a16="http://schemas.microsoft.com/office/drawing/2014/main" id="{B79FD985-467C-B258-4A93-931D99F1C8A2}"/>
              </a:ext>
            </a:extLst>
          </p:cNvPr>
          <p:cNvSpPr/>
          <p:nvPr/>
        </p:nvSpPr>
        <p:spPr>
          <a:xfrm>
            <a:off x="6617970" y="508635"/>
            <a:ext cx="3817620" cy="9486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Descriptive </a:t>
            </a:r>
          </a:p>
        </p:txBody>
      </p:sp>
      <p:sp>
        <p:nvSpPr>
          <p:cNvPr id="5" name="Rectangle 4">
            <a:extLst>
              <a:ext uri="{FF2B5EF4-FFF2-40B4-BE49-F238E27FC236}">
                <a16:creationId xmlns:a16="http://schemas.microsoft.com/office/drawing/2014/main" id="{A5E90DFF-DFD3-EEDC-8C65-47D0296A3576}"/>
              </a:ext>
            </a:extLst>
          </p:cNvPr>
          <p:cNvSpPr/>
          <p:nvPr/>
        </p:nvSpPr>
        <p:spPr>
          <a:xfrm>
            <a:off x="6617970" y="4990933"/>
            <a:ext cx="3817620" cy="9486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Predictive</a:t>
            </a:r>
          </a:p>
        </p:txBody>
      </p:sp>
      <p:sp>
        <p:nvSpPr>
          <p:cNvPr id="6" name="Rectangle 5">
            <a:extLst>
              <a:ext uri="{FF2B5EF4-FFF2-40B4-BE49-F238E27FC236}">
                <a16:creationId xmlns:a16="http://schemas.microsoft.com/office/drawing/2014/main" id="{21195A53-BC01-129D-E098-AC3534D6F847}"/>
              </a:ext>
            </a:extLst>
          </p:cNvPr>
          <p:cNvSpPr/>
          <p:nvPr/>
        </p:nvSpPr>
        <p:spPr>
          <a:xfrm>
            <a:off x="6617970" y="3492497"/>
            <a:ext cx="3817620" cy="9486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Prescriptive </a:t>
            </a:r>
          </a:p>
        </p:txBody>
      </p:sp>
      <p:sp>
        <p:nvSpPr>
          <p:cNvPr id="7" name="Rectangle 6">
            <a:extLst>
              <a:ext uri="{FF2B5EF4-FFF2-40B4-BE49-F238E27FC236}">
                <a16:creationId xmlns:a16="http://schemas.microsoft.com/office/drawing/2014/main" id="{ABE41604-382B-57F3-0FDA-076C7E338692}"/>
              </a:ext>
            </a:extLst>
          </p:cNvPr>
          <p:cNvSpPr/>
          <p:nvPr/>
        </p:nvSpPr>
        <p:spPr>
          <a:xfrm>
            <a:off x="6617970" y="2006123"/>
            <a:ext cx="3817620" cy="9486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Diagnostics</a:t>
            </a:r>
          </a:p>
        </p:txBody>
      </p:sp>
    </p:spTree>
    <p:extLst>
      <p:ext uri="{BB962C8B-B14F-4D97-AF65-F5344CB8AC3E}">
        <p14:creationId xmlns:p14="http://schemas.microsoft.com/office/powerpoint/2010/main" val="4610636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8FE93-A0EA-F42E-BCC3-9A7CB73D886B}"/>
              </a:ext>
            </a:extLst>
          </p:cNvPr>
          <p:cNvSpPr>
            <a:spLocks noGrp="1"/>
          </p:cNvSpPr>
          <p:nvPr>
            <p:ph type="title"/>
          </p:nvPr>
        </p:nvSpPr>
        <p:spPr>
          <a:xfrm>
            <a:off x="1371597" y="348865"/>
            <a:ext cx="10044023" cy="877729"/>
          </a:xfrm>
        </p:spPr>
        <p:txBody>
          <a:bodyPr anchor="ctr">
            <a:normAutofit/>
          </a:bodyPr>
          <a:lstStyle/>
          <a:p>
            <a:pPr marL="0" marR="0" lvl="0" indent="0" algn="ctr" defTabSz="914400" rtl="0" eaLnBrk="0" fontAlgn="base" latinLnBrk="0" hangingPunct="0">
              <a:spcBef>
                <a:spcPct val="0"/>
              </a:spcBef>
              <a:spcAft>
                <a:spcPct val="0"/>
              </a:spcAft>
              <a:buClrTx/>
              <a:buSzTx/>
              <a:buFontTx/>
              <a:buNone/>
              <a:tabLst/>
            </a:pPr>
            <a:r>
              <a:rPr kumimoji="0" lang="en-US" altLang="en-US" sz="4000" b="0" i="0" u="none" strike="noStrike" cap="none" normalizeH="0" baseline="0" dirty="0">
                <a:ln>
                  <a:noFill/>
                </a:ln>
                <a:solidFill>
                  <a:srgbClr val="FF0000"/>
                </a:solidFill>
                <a:effectLst/>
                <a:latin typeface="Arial" panose="020B0604020202020204" pitchFamily="34" charset="0"/>
              </a:rPr>
              <a:t>Comparison </a:t>
            </a:r>
          </a:p>
          <a:p>
            <a:pPr marL="0" marR="0" lvl="0" indent="0" defTabSz="914400" rtl="0" eaLnBrk="0" fontAlgn="base" latinLnBrk="0" hangingPunct="0">
              <a:spcBef>
                <a:spcPct val="0"/>
              </a:spcBef>
              <a:spcAft>
                <a:spcPct val="0"/>
              </a:spcAft>
              <a:buClrTx/>
              <a:buSzTx/>
              <a:buFontTx/>
              <a:buNone/>
              <a:tabLst/>
            </a:pPr>
            <a:endParaRPr kumimoji="0" lang="en-US" altLang="en-US" sz="4000" b="0" i="0" u="none" strike="noStrike" cap="none" normalizeH="0" baseline="0" dirty="0">
              <a:ln>
                <a:noFill/>
              </a:ln>
              <a:solidFill>
                <a:srgbClr val="FFFFFF"/>
              </a:solidFill>
              <a:effectLst/>
              <a:latin typeface="Arial" panose="020B0604020202020204" pitchFamily="34" charset="0"/>
            </a:endParaRPr>
          </a:p>
        </p:txBody>
      </p:sp>
      <p:graphicFrame>
        <p:nvGraphicFramePr>
          <p:cNvPr id="8" name="Content Placeholder 7">
            <a:extLst>
              <a:ext uri="{FF2B5EF4-FFF2-40B4-BE49-F238E27FC236}">
                <a16:creationId xmlns:a16="http://schemas.microsoft.com/office/drawing/2014/main" id="{6CC03465-FED5-FCB7-8BDA-E62BC315C06B}"/>
              </a:ext>
            </a:extLst>
          </p:cNvPr>
          <p:cNvGraphicFramePr>
            <a:graphicFrameLocks noGrp="1"/>
          </p:cNvGraphicFramePr>
          <p:nvPr>
            <p:ph idx="1"/>
          </p:nvPr>
        </p:nvGraphicFramePr>
        <p:xfrm>
          <a:off x="182880" y="906560"/>
          <a:ext cx="10732771" cy="5057613"/>
        </p:xfrm>
        <a:graphic>
          <a:graphicData uri="http://schemas.openxmlformats.org/drawingml/2006/table">
            <a:tbl>
              <a:tblPr>
                <a:solidFill>
                  <a:schemeClr val="bg1"/>
                </a:solidFill>
              </a:tblPr>
              <a:tblGrid>
                <a:gridCol w="2672417">
                  <a:extLst>
                    <a:ext uri="{9D8B030D-6E8A-4147-A177-3AD203B41FA5}">
                      <a16:colId xmlns:a16="http://schemas.microsoft.com/office/drawing/2014/main" val="672998885"/>
                    </a:ext>
                  </a:extLst>
                </a:gridCol>
                <a:gridCol w="4295982">
                  <a:extLst>
                    <a:ext uri="{9D8B030D-6E8A-4147-A177-3AD203B41FA5}">
                      <a16:colId xmlns:a16="http://schemas.microsoft.com/office/drawing/2014/main" val="3054129750"/>
                    </a:ext>
                  </a:extLst>
                </a:gridCol>
                <a:gridCol w="3764372">
                  <a:extLst>
                    <a:ext uri="{9D8B030D-6E8A-4147-A177-3AD203B41FA5}">
                      <a16:colId xmlns:a16="http://schemas.microsoft.com/office/drawing/2014/main" val="729712021"/>
                    </a:ext>
                  </a:extLst>
                </a:gridCol>
              </a:tblGrid>
              <a:tr h="509719">
                <a:tc>
                  <a:txBody>
                    <a:bodyPr/>
                    <a:lstStyle/>
                    <a:p>
                      <a:r>
                        <a:rPr lang="en-US" sz="1800" b="1" cap="none" spc="0" dirty="0">
                          <a:solidFill>
                            <a:schemeClr val="tx1"/>
                          </a:solidFill>
                        </a:rPr>
                        <a:t>Type of Analytics</a:t>
                      </a:r>
                      <a:endParaRPr lang="en-US" sz="1800" cap="none" spc="0" dirty="0">
                        <a:solidFill>
                          <a:schemeClr val="tx1"/>
                        </a:solidFill>
                      </a:endParaRPr>
                    </a:p>
                  </a:txBody>
                  <a:tcPr marL="105670" marR="59509" marT="81285" marB="81285"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US" sz="1800" b="1" cap="none" spc="0" dirty="0">
                          <a:solidFill>
                            <a:schemeClr val="tx1"/>
                          </a:solidFill>
                        </a:rPr>
                        <a:t>Purpose</a:t>
                      </a:r>
                      <a:endParaRPr lang="en-US" sz="1800" cap="none" spc="0" dirty="0">
                        <a:solidFill>
                          <a:schemeClr val="tx1"/>
                        </a:solidFill>
                      </a:endParaRPr>
                    </a:p>
                  </a:txBody>
                  <a:tcPr marL="105670" marR="59509" marT="81285" marB="81285"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r>
                        <a:rPr lang="en-US" sz="1800" b="1" cap="none" spc="0" dirty="0">
                          <a:solidFill>
                            <a:schemeClr val="tx1"/>
                          </a:solidFill>
                        </a:rPr>
                        <a:t>Techniques </a:t>
                      </a:r>
                      <a:endParaRPr lang="en-US" sz="1800" cap="none" spc="0" dirty="0">
                        <a:solidFill>
                          <a:schemeClr val="tx1"/>
                        </a:solidFill>
                      </a:endParaRPr>
                    </a:p>
                  </a:txBody>
                  <a:tcPr marL="105670" marR="59509" marT="81285" marB="81285"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340687560"/>
                  </a:ext>
                </a:extLst>
              </a:tr>
              <a:tr h="1012258">
                <a:tc>
                  <a:txBody>
                    <a:bodyPr/>
                    <a:lstStyle/>
                    <a:p>
                      <a:r>
                        <a:rPr lang="en-US" sz="1800" b="1" cap="none" spc="0" dirty="0">
                          <a:solidFill>
                            <a:schemeClr val="tx1"/>
                          </a:solidFill>
                        </a:rPr>
                        <a:t>Descriptive</a:t>
                      </a:r>
                      <a:endParaRPr lang="en-US" sz="1800" cap="none" spc="0" dirty="0">
                        <a:solidFill>
                          <a:schemeClr val="tx1"/>
                        </a:solidFill>
                      </a:endParaRP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1800" cap="none" spc="0" dirty="0">
                          <a:solidFill>
                            <a:schemeClr val="tx1"/>
                          </a:solidFill>
                        </a:rPr>
                        <a:t>To Describe the data itself. What is in the data or what does data shows</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1800" cap="none" spc="0" dirty="0">
                          <a:solidFill>
                            <a:schemeClr val="tx1"/>
                          </a:solidFill>
                        </a:rPr>
                        <a:t>Mean, median, sum and others</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084556870"/>
                  </a:ext>
                </a:extLst>
              </a:tr>
              <a:tr h="1012258">
                <a:tc>
                  <a:txBody>
                    <a:bodyPr/>
                    <a:lstStyle/>
                    <a:p>
                      <a:r>
                        <a:rPr lang="en-US" sz="1800" b="1" cap="none" spc="0" dirty="0">
                          <a:solidFill>
                            <a:schemeClr val="tx1"/>
                          </a:solidFill>
                        </a:rPr>
                        <a:t>Diagnostic</a:t>
                      </a:r>
                      <a:endParaRPr lang="en-US" sz="1800" cap="none" spc="0" dirty="0">
                        <a:solidFill>
                          <a:schemeClr val="tx1"/>
                        </a:solidFill>
                      </a:endParaRP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1800" cap="none" spc="0" dirty="0">
                          <a:solidFill>
                            <a:schemeClr val="tx1"/>
                          </a:solidFill>
                        </a:rPr>
                        <a:t>(a) Reason behind what is being depicted description of data. (b) understanding a cause of any inconsistencies </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1800" cap="none" spc="0" dirty="0">
                          <a:solidFill>
                            <a:schemeClr val="tx1"/>
                          </a:solidFill>
                        </a:rPr>
                        <a:t>Correlation, Cronbach alpha, and others</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781042339"/>
                  </a:ext>
                </a:extLst>
              </a:tr>
              <a:tr h="1012258">
                <a:tc>
                  <a:txBody>
                    <a:bodyPr/>
                    <a:lstStyle/>
                    <a:p>
                      <a:r>
                        <a:rPr lang="en-US" sz="1800" b="1" cap="none" spc="0" dirty="0">
                          <a:solidFill>
                            <a:schemeClr val="tx1"/>
                          </a:solidFill>
                        </a:rPr>
                        <a:t>Predictive</a:t>
                      </a:r>
                      <a:endParaRPr lang="en-US" sz="1800" cap="none" spc="0" dirty="0">
                        <a:solidFill>
                          <a:schemeClr val="tx1"/>
                        </a:solidFill>
                      </a:endParaRP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1800" cap="none" spc="0" dirty="0">
                          <a:solidFill>
                            <a:schemeClr val="tx1"/>
                          </a:solidFill>
                        </a:rPr>
                        <a:t>Finding a relationship in between two variables of data and estimating an effect</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r>
                        <a:rPr lang="en-US" sz="1800" cap="none" spc="0" dirty="0">
                          <a:solidFill>
                            <a:schemeClr val="tx1"/>
                          </a:solidFill>
                        </a:rPr>
                        <a:t>Regression, mean difference, machine learning and etc. </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40447283"/>
                  </a:ext>
                </a:extLst>
              </a:tr>
              <a:tr h="1263528">
                <a:tc>
                  <a:txBody>
                    <a:bodyPr/>
                    <a:lstStyle/>
                    <a:p>
                      <a:r>
                        <a:rPr lang="en-US" sz="1800" b="1" cap="none" spc="0" dirty="0">
                          <a:solidFill>
                            <a:schemeClr val="tx1"/>
                          </a:solidFill>
                        </a:rPr>
                        <a:t>Prescriptive</a:t>
                      </a:r>
                      <a:endParaRPr lang="en-US" sz="1800" cap="none" spc="0" dirty="0">
                        <a:solidFill>
                          <a:schemeClr val="tx1"/>
                        </a:solidFill>
                      </a:endParaRP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n-US" sz="1800" cap="none" spc="0" dirty="0">
                          <a:solidFill>
                            <a:schemeClr val="tx1"/>
                          </a:solidFill>
                        </a:rPr>
                        <a:t>Suggesting a course of action and outcome as result of such action. </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r>
                        <a:rPr lang="en-US" sz="1800" cap="none" spc="0" dirty="0">
                          <a:solidFill>
                            <a:schemeClr val="tx1"/>
                          </a:solidFill>
                        </a:rPr>
                        <a:t>Simulations and machine learning. </a:t>
                      </a:r>
                    </a:p>
                  </a:txBody>
                  <a:tcPr marL="105670" marR="59509" marT="81285" marB="81285" anchor="ctr">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1426185407"/>
                  </a:ext>
                </a:extLst>
              </a:tr>
            </a:tbl>
          </a:graphicData>
        </a:graphic>
      </p:graphicFrame>
    </p:spTree>
    <p:extLst>
      <p:ext uri="{BB962C8B-B14F-4D97-AF65-F5344CB8AC3E}">
        <p14:creationId xmlns:p14="http://schemas.microsoft.com/office/powerpoint/2010/main" val="4184845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87A8-375D-3D35-E922-7E675832C8CE}"/>
              </a:ext>
            </a:extLst>
          </p:cNvPr>
          <p:cNvSpPr>
            <a:spLocks noGrp="1"/>
          </p:cNvSpPr>
          <p:nvPr>
            <p:ph type="title"/>
          </p:nvPr>
        </p:nvSpPr>
        <p:spPr>
          <a:xfrm>
            <a:off x="335280" y="2766218"/>
            <a:ext cx="5257800" cy="1325563"/>
          </a:xfrm>
        </p:spPr>
        <p:txBody>
          <a:bodyPr/>
          <a:lstStyle/>
          <a:p>
            <a:pPr algn="ctr"/>
            <a:r>
              <a:rPr lang="en-US" dirty="0"/>
              <a:t>Techniques of Descriptive Analytics</a:t>
            </a:r>
          </a:p>
        </p:txBody>
      </p:sp>
      <p:sp>
        <p:nvSpPr>
          <p:cNvPr id="4" name="Rectangle 3">
            <a:extLst>
              <a:ext uri="{FF2B5EF4-FFF2-40B4-BE49-F238E27FC236}">
                <a16:creationId xmlns:a16="http://schemas.microsoft.com/office/drawing/2014/main" id="{5F54EB99-4354-4035-2F01-EAFA68EF183A}"/>
              </a:ext>
            </a:extLst>
          </p:cNvPr>
          <p:cNvSpPr/>
          <p:nvPr/>
        </p:nvSpPr>
        <p:spPr>
          <a:xfrm>
            <a:off x="7795260" y="685800"/>
            <a:ext cx="2823210" cy="88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Measure of Frequency </a:t>
            </a:r>
          </a:p>
        </p:txBody>
      </p:sp>
      <p:sp>
        <p:nvSpPr>
          <p:cNvPr id="5" name="Rectangle 4">
            <a:extLst>
              <a:ext uri="{FF2B5EF4-FFF2-40B4-BE49-F238E27FC236}">
                <a16:creationId xmlns:a16="http://schemas.microsoft.com/office/drawing/2014/main" id="{DA9769DD-796C-61CE-61DE-4BA47A2C91C0}"/>
              </a:ext>
            </a:extLst>
          </p:cNvPr>
          <p:cNvSpPr/>
          <p:nvPr/>
        </p:nvSpPr>
        <p:spPr>
          <a:xfrm>
            <a:off x="7795260" y="2118360"/>
            <a:ext cx="2823210" cy="88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Central Tendency </a:t>
            </a:r>
          </a:p>
        </p:txBody>
      </p:sp>
      <p:sp>
        <p:nvSpPr>
          <p:cNvPr id="6" name="Rectangle 5">
            <a:extLst>
              <a:ext uri="{FF2B5EF4-FFF2-40B4-BE49-F238E27FC236}">
                <a16:creationId xmlns:a16="http://schemas.microsoft.com/office/drawing/2014/main" id="{1FE7D01B-8238-6473-6101-4A626D70D227}"/>
              </a:ext>
            </a:extLst>
          </p:cNvPr>
          <p:cNvSpPr/>
          <p:nvPr/>
        </p:nvSpPr>
        <p:spPr>
          <a:xfrm>
            <a:off x="7795260" y="3550920"/>
            <a:ext cx="2823210" cy="88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Measure of Dispersion </a:t>
            </a:r>
          </a:p>
        </p:txBody>
      </p:sp>
      <p:sp>
        <p:nvSpPr>
          <p:cNvPr id="7" name="Rectangle 6">
            <a:extLst>
              <a:ext uri="{FF2B5EF4-FFF2-40B4-BE49-F238E27FC236}">
                <a16:creationId xmlns:a16="http://schemas.microsoft.com/office/drawing/2014/main" id="{41D7DF25-4E6C-393F-380A-B8727642FCD9}"/>
              </a:ext>
            </a:extLst>
          </p:cNvPr>
          <p:cNvSpPr/>
          <p:nvPr/>
        </p:nvSpPr>
        <p:spPr>
          <a:xfrm>
            <a:off x="7795260" y="4983480"/>
            <a:ext cx="2823210" cy="88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Variability</a:t>
            </a:r>
          </a:p>
        </p:txBody>
      </p:sp>
    </p:spTree>
    <p:extLst>
      <p:ext uri="{BB962C8B-B14F-4D97-AF65-F5344CB8AC3E}">
        <p14:creationId xmlns:p14="http://schemas.microsoft.com/office/powerpoint/2010/main" val="34050117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E7CE6-7865-505F-9EBC-82E9998CCC82}"/>
              </a:ext>
            </a:extLst>
          </p:cNvPr>
          <p:cNvSpPr>
            <a:spLocks noGrp="1"/>
          </p:cNvSpPr>
          <p:nvPr>
            <p:ph type="title"/>
          </p:nvPr>
        </p:nvSpPr>
        <p:spPr/>
        <p:txBody>
          <a:bodyPr/>
          <a:lstStyle/>
          <a:p>
            <a:pPr algn="ctr"/>
            <a:r>
              <a:rPr lang="en-US" dirty="0"/>
              <a:t>Diagnostics Analytics</a:t>
            </a:r>
          </a:p>
        </p:txBody>
      </p:sp>
      <p:sp>
        <p:nvSpPr>
          <p:cNvPr id="3" name="Content Placeholder 2">
            <a:extLst>
              <a:ext uri="{FF2B5EF4-FFF2-40B4-BE49-F238E27FC236}">
                <a16:creationId xmlns:a16="http://schemas.microsoft.com/office/drawing/2014/main" id="{BEEBFC8D-E740-19E0-6BEA-438DD9BDAE5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Diagnostic analytics is the process of using data to determine the causes of trends and correlations between variables.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Diagnostic analytics examines data to understand the root causes of events, behaviors, and outcomes.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can be viewed as a logical next step after using descriptive analytics to identify trends. </a:t>
            </a:r>
          </a:p>
          <a:p>
            <a:endParaRPr lang="en-US" dirty="0"/>
          </a:p>
          <a:p>
            <a:endParaRPr lang="en-US" dirty="0"/>
          </a:p>
        </p:txBody>
      </p:sp>
    </p:spTree>
    <p:extLst>
      <p:ext uri="{BB962C8B-B14F-4D97-AF65-F5344CB8AC3E}">
        <p14:creationId xmlns:p14="http://schemas.microsoft.com/office/powerpoint/2010/main" val="33979405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32A83-3103-1D2E-13AB-E28DEDF72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E5558-D0CA-CC1C-F956-A6FC77420026}"/>
              </a:ext>
            </a:extLst>
          </p:cNvPr>
          <p:cNvSpPr>
            <a:spLocks noGrp="1"/>
          </p:cNvSpPr>
          <p:nvPr>
            <p:ph type="title"/>
          </p:nvPr>
        </p:nvSpPr>
        <p:spPr>
          <a:xfrm>
            <a:off x="335280" y="2766218"/>
            <a:ext cx="5257800" cy="1325563"/>
          </a:xfrm>
        </p:spPr>
        <p:txBody>
          <a:bodyPr/>
          <a:lstStyle/>
          <a:p>
            <a:pPr algn="ctr"/>
            <a:r>
              <a:rPr lang="en-US" dirty="0"/>
              <a:t>Techniques of Diagnostic Analytics</a:t>
            </a:r>
          </a:p>
        </p:txBody>
      </p:sp>
      <p:sp>
        <p:nvSpPr>
          <p:cNvPr id="4" name="Rectangle 3">
            <a:extLst>
              <a:ext uri="{FF2B5EF4-FFF2-40B4-BE49-F238E27FC236}">
                <a16:creationId xmlns:a16="http://schemas.microsoft.com/office/drawing/2014/main" id="{92D74D6D-5A47-DF37-688F-F837FF2CE8E4}"/>
              </a:ext>
            </a:extLst>
          </p:cNvPr>
          <p:cNvSpPr/>
          <p:nvPr/>
        </p:nvSpPr>
        <p:spPr>
          <a:xfrm>
            <a:off x="7886700" y="2074545"/>
            <a:ext cx="2823210" cy="88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Data Preprocessing</a:t>
            </a:r>
          </a:p>
        </p:txBody>
      </p:sp>
      <p:sp>
        <p:nvSpPr>
          <p:cNvPr id="5" name="Rectangle 4">
            <a:extLst>
              <a:ext uri="{FF2B5EF4-FFF2-40B4-BE49-F238E27FC236}">
                <a16:creationId xmlns:a16="http://schemas.microsoft.com/office/drawing/2014/main" id="{5C4A7C98-533E-E6FE-BAF5-E139B35AE3DE}"/>
              </a:ext>
            </a:extLst>
          </p:cNvPr>
          <p:cNvSpPr/>
          <p:nvPr/>
        </p:nvSpPr>
        <p:spPr>
          <a:xfrm>
            <a:off x="7886700" y="4223386"/>
            <a:ext cx="2823210" cy="8801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Correlations </a:t>
            </a:r>
          </a:p>
        </p:txBody>
      </p:sp>
    </p:spTree>
    <p:extLst>
      <p:ext uri="{BB962C8B-B14F-4D97-AF65-F5344CB8AC3E}">
        <p14:creationId xmlns:p14="http://schemas.microsoft.com/office/powerpoint/2010/main" val="33486266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AF95B-96FF-B3F2-B3F5-AEA121ABFB0D}"/>
              </a:ext>
            </a:extLst>
          </p:cNvPr>
          <p:cNvSpPr>
            <a:spLocks noGrp="1"/>
          </p:cNvSpPr>
          <p:nvPr>
            <p:ph type="title"/>
          </p:nvPr>
        </p:nvSpPr>
        <p:spPr>
          <a:xfrm>
            <a:off x="841248" y="256032"/>
            <a:ext cx="10506456" cy="1014984"/>
          </a:xfrm>
        </p:spPr>
        <p:txBody>
          <a:bodyPr anchor="b">
            <a:normAutofit/>
          </a:bodyPr>
          <a:lstStyle/>
          <a:p>
            <a:r>
              <a:rPr lang="en-US" b="1" dirty="0"/>
              <a:t>Predictive Analytics</a:t>
            </a:r>
          </a:p>
        </p:txBody>
      </p:sp>
      <p:graphicFrame>
        <p:nvGraphicFramePr>
          <p:cNvPr id="5" name="Content Placeholder 2">
            <a:extLst>
              <a:ext uri="{FF2B5EF4-FFF2-40B4-BE49-F238E27FC236}">
                <a16:creationId xmlns:a16="http://schemas.microsoft.com/office/drawing/2014/main" id="{DA1FB6F9-26C7-F335-A580-B36ABD49D968}"/>
              </a:ext>
            </a:extLst>
          </p:cNvPr>
          <p:cNvGraphicFramePr>
            <a:graphicFrameLocks noGrp="1"/>
          </p:cNvGraphicFramePr>
          <p:nvPr>
            <p:ph idx="1"/>
          </p:nvPr>
        </p:nvGraphicFramePr>
        <p:xfrm>
          <a:off x="838200" y="1926266"/>
          <a:ext cx="1107186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85250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EA8EF-0732-78D5-74A0-04D86FE8CCBE}"/>
              </a:ext>
            </a:extLst>
          </p:cNvPr>
          <p:cNvSpPr>
            <a:spLocks noGrp="1"/>
          </p:cNvSpPr>
          <p:nvPr>
            <p:ph type="title"/>
          </p:nvPr>
        </p:nvSpPr>
        <p:spPr>
          <a:xfrm>
            <a:off x="369570" y="2766218"/>
            <a:ext cx="2956560" cy="1325563"/>
          </a:xfrm>
        </p:spPr>
        <p:txBody>
          <a:bodyPr>
            <a:normAutofit/>
          </a:bodyPr>
          <a:lstStyle/>
          <a:p>
            <a:pPr algn="ctr"/>
            <a:r>
              <a:rPr lang="en-US" sz="4000" dirty="0"/>
              <a:t>Predictive Analytics</a:t>
            </a:r>
          </a:p>
        </p:txBody>
      </p:sp>
      <p:sp>
        <p:nvSpPr>
          <p:cNvPr id="4" name="Rectangle 3">
            <a:extLst>
              <a:ext uri="{FF2B5EF4-FFF2-40B4-BE49-F238E27FC236}">
                <a16:creationId xmlns:a16="http://schemas.microsoft.com/office/drawing/2014/main" id="{33CDD41A-E86F-40D4-8573-19B28C2EAA99}"/>
              </a:ext>
            </a:extLst>
          </p:cNvPr>
          <p:cNvSpPr/>
          <p:nvPr/>
        </p:nvSpPr>
        <p:spPr>
          <a:xfrm>
            <a:off x="5726430" y="217011"/>
            <a:ext cx="2800350"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Regression</a:t>
            </a:r>
          </a:p>
        </p:txBody>
      </p:sp>
      <p:sp>
        <p:nvSpPr>
          <p:cNvPr id="5" name="Rectangle 4">
            <a:extLst>
              <a:ext uri="{FF2B5EF4-FFF2-40B4-BE49-F238E27FC236}">
                <a16:creationId xmlns:a16="http://schemas.microsoft.com/office/drawing/2014/main" id="{5128C2C1-62F2-CAC7-EB6B-5EFDC9513412}"/>
              </a:ext>
            </a:extLst>
          </p:cNvPr>
          <p:cNvSpPr/>
          <p:nvPr/>
        </p:nvSpPr>
        <p:spPr>
          <a:xfrm>
            <a:off x="5726430" y="4987290"/>
            <a:ext cx="2800350"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Panel Data Analytics</a:t>
            </a:r>
          </a:p>
        </p:txBody>
      </p:sp>
      <p:sp>
        <p:nvSpPr>
          <p:cNvPr id="6" name="Rectangle 5">
            <a:extLst>
              <a:ext uri="{FF2B5EF4-FFF2-40B4-BE49-F238E27FC236}">
                <a16:creationId xmlns:a16="http://schemas.microsoft.com/office/drawing/2014/main" id="{2AA97E35-FA1A-9A5B-101C-48062866269F}"/>
              </a:ext>
            </a:extLst>
          </p:cNvPr>
          <p:cNvSpPr/>
          <p:nvPr/>
        </p:nvSpPr>
        <p:spPr>
          <a:xfrm>
            <a:off x="5726430" y="3291523"/>
            <a:ext cx="2800350"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Time-Series  Forecasting </a:t>
            </a:r>
          </a:p>
        </p:txBody>
      </p:sp>
      <p:sp>
        <p:nvSpPr>
          <p:cNvPr id="7" name="Rectangle 6">
            <a:extLst>
              <a:ext uri="{FF2B5EF4-FFF2-40B4-BE49-F238E27FC236}">
                <a16:creationId xmlns:a16="http://schemas.microsoft.com/office/drawing/2014/main" id="{D6DD2F9D-5038-23CE-C8DE-770DD809491E}"/>
              </a:ext>
            </a:extLst>
          </p:cNvPr>
          <p:cNvSpPr/>
          <p:nvPr/>
        </p:nvSpPr>
        <p:spPr>
          <a:xfrm>
            <a:off x="5726430" y="1718468"/>
            <a:ext cx="2800350" cy="10972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Mean Difference </a:t>
            </a:r>
          </a:p>
        </p:txBody>
      </p:sp>
      <p:sp>
        <p:nvSpPr>
          <p:cNvPr id="3" name="Rectangle 2">
            <a:extLst>
              <a:ext uri="{FF2B5EF4-FFF2-40B4-BE49-F238E27FC236}">
                <a16:creationId xmlns:a16="http://schemas.microsoft.com/office/drawing/2014/main" id="{06922282-FB25-F83D-F0E8-781CC1B98A98}"/>
              </a:ext>
            </a:extLst>
          </p:cNvPr>
          <p:cNvSpPr/>
          <p:nvPr/>
        </p:nvSpPr>
        <p:spPr>
          <a:xfrm>
            <a:off x="9022080" y="217011"/>
            <a:ext cx="2800350" cy="58675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Machine Learning</a:t>
            </a:r>
          </a:p>
        </p:txBody>
      </p:sp>
    </p:spTree>
    <p:extLst>
      <p:ext uri="{BB962C8B-B14F-4D97-AF65-F5344CB8AC3E}">
        <p14:creationId xmlns:p14="http://schemas.microsoft.com/office/powerpoint/2010/main" val="3525495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3F705-3564-04A8-5283-D93C31B30F02}"/>
              </a:ext>
            </a:extLst>
          </p:cNvPr>
          <p:cNvSpPr>
            <a:spLocks noGrp="1"/>
          </p:cNvSpPr>
          <p:nvPr>
            <p:ph type="title"/>
          </p:nvPr>
        </p:nvSpPr>
        <p:spPr/>
        <p:txBody>
          <a:bodyPr/>
          <a:lstStyle/>
          <a:p>
            <a:pPr algn="ctr"/>
            <a:r>
              <a:rPr lang="en-US" dirty="0"/>
              <a:t>Prescriptive Analytics: Data Drive Decision Making </a:t>
            </a:r>
          </a:p>
        </p:txBody>
      </p:sp>
      <p:sp>
        <p:nvSpPr>
          <p:cNvPr id="3" name="Content Placeholder 2">
            <a:extLst>
              <a:ext uri="{FF2B5EF4-FFF2-40B4-BE49-F238E27FC236}">
                <a16:creationId xmlns:a16="http://schemas.microsoft.com/office/drawing/2014/main" id="{32CD2FEC-B6F0-D2B4-9D63-9A916DBFF948}"/>
              </a:ext>
            </a:extLst>
          </p:cNvPr>
          <p:cNvSpPr>
            <a:spLocks noGrp="1"/>
          </p:cNvSpPr>
          <p:nvPr>
            <p:ph idx="1"/>
          </p:nvPr>
        </p:nvSpPr>
        <p:spPr/>
        <p:txBody>
          <a:bodyPr>
            <a:normAutofit/>
          </a:bodyPr>
          <a:lstStyle/>
          <a:p>
            <a:r>
              <a:rPr lang="en-US" dirty="0"/>
              <a:t>Prescriptive analytics is the process of using data to determine an optimal course of action. By considering all relevant factors, this type of analysis yields recommendations for next steps.</a:t>
            </a:r>
          </a:p>
          <a:p>
            <a:endParaRPr lang="en-US" dirty="0"/>
          </a:p>
          <a:p>
            <a:r>
              <a:rPr lang="en-US" dirty="0"/>
              <a:t>Machine-learning algorithms are often used in prescriptive analytics to parse through large amounts of data faster—and often more efficiently—than humans can. </a:t>
            </a:r>
          </a:p>
          <a:p>
            <a:endParaRPr lang="en-US" dirty="0"/>
          </a:p>
          <a:p>
            <a:r>
              <a:rPr lang="en-US" dirty="0"/>
              <a:t>Using “if” and “else” statements, algorithms comb through data and make recommendations based on a specific combination of requirements.</a:t>
            </a:r>
          </a:p>
        </p:txBody>
      </p:sp>
    </p:spTree>
    <p:extLst>
      <p:ext uri="{BB962C8B-B14F-4D97-AF65-F5344CB8AC3E}">
        <p14:creationId xmlns:p14="http://schemas.microsoft.com/office/powerpoint/2010/main" val="10959795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AA12B-5C9A-EA93-72EE-E7916320FB94}"/>
              </a:ext>
            </a:extLst>
          </p:cNvPr>
          <p:cNvSpPr>
            <a:spLocks noGrp="1"/>
          </p:cNvSpPr>
          <p:nvPr>
            <p:ph type="title"/>
          </p:nvPr>
        </p:nvSpPr>
        <p:spPr>
          <a:xfrm>
            <a:off x="838200" y="2925445"/>
            <a:ext cx="5642610" cy="1325563"/>
          </a:xfrm>
        </p:spPr>
        <p:txBody>
          <a:bodyPr/>
          <a:lstStyle/>
          <a:p>
            <a:r>
              <a:rPr lang="en-US" dirty="0"/>
              <a:t>Prescriptive Techniques</a:t>
            </a:r>
          </a:p>
        </p:txBody>
      </p:sp>
      <p:sp>
        <p:nvSpPr>
          <p:cNvPr id="4" name="Rectangle 3">
            <a:extLst>
              <a:ext uri="{FF2B5EF4-FFF2-40B4-BE49-F238E27FC236}">
                <a16:creationId xmlns:a16="http://schemas.microsoft.com/office/drawing/2014/main" id="{5A1528AF-A7F5-618A-B2CF-B2C95A18625B}"/>
              </a:ext>
            </a:extLst>
          </p:cNvPr>
          <p:cNvSpPr/>
          <p:nvPr/>
        </p:nvSpPr>
        <p:spPr>
          <a:xfrm>
            <a:off x="7749540" y="800100"/>
            <a:ext cx="3383280" cy="16230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t>Predefined Rules to Choose an Alternative</a:t>
            </a:r>
          </a:p>
        </p:txBody>
      </p:sp>
      <p:sp>
        <p:nvSpPr>
          <p:cNvPr id="5" name="Rectangle 4">
            <a:extLst>
              <a:ext uri="{FF2B5EF4-FFF2-40B4-BE49-F238E27FC236}">
                <a16:creationId xmlns:a16="http://schemas.microsoft.com/office/drawing/2014/main" id="{C3B83C8F-F72A-9869-AD74-8F16590AAFA7}"/>
              </a:ext>
            </a:extLst>
          </p:cNvPr>
          <p:cNvSpPr/>
          <p:nvPr/>
        </p:nvSpPr>
        <p:spPr>
          <a:xfrm>
            <a:off x="7749540" y="3840480"/>
            <a:ext cx="3695700" cy="13255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t>Optimizations</a:t>
            </a:r>
          </a:p>
        </p:txBody>
      </p:sp>
    </p:spTree>
    <p:extLst>
      <p:ext uri="{BB962C8B-B14F-4D97-AF65-F5344CB8AC3E}">
        <p14:creationId xmlns:p14="http://schemas.microsoft.com/office/powerpoint/2010/main" val="27210983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1CCD06-E993-8779-7FE8-4F7B06770B80}"/>
              </a:ext>
            </a:extLst>
          </p:cNvPr>
          <p:cNvSpPr>
            <a:spLocks noGrp="1"/>
          </p:cNvSpPr>
          <p:nvPr>
            <p:ph type="title"/>
          </p:nvPr>
        </p:nvSpPr>
        <p:spPr>
          <a:xfrm>
            <a:off x="831850" y="1709739"/>
            <a:ext cx="10515600" cy="1067752"/>
          </a:xfrm>
        </p:spPr>
        <p:txBody>
          <a:bodyPr/>
          <a:lstStyle/>
          <a:p>
            <a:pPr algn="ctr"/>
            <a:r>
              <a:rPr lang="en-US" dirty="0"/>
              <a:t>Important Consideration Before Analytics. </a:t>
            </a:r>
          </a:p>
        </p:txBody>
      </p:sp>
      <p:sp>
        <p:nvSpPr>
          <p:cNvPr id="5" name="Text Placeholder 4">
            <a:extLst>
              <a:ext uri="{FF2B5EF4-FFF2-40B4-BE49-F238E27FC236}">
                <a16:creationId xmlns:a16="http://schemas.microsoft.com/office/drawing/2014/main" id="{EBA1A8C2-B9DC-7CD9-6175-536B5DFC07D4}"/>
              </a:ext>
            </a:extLst>
          </p:cNvPr>
          <p:cNvSpPr>
            <a:spLocks noGrp="1"/>
          </p:cNvSpPr>
          <p:nvPr>
            <p:ph type="body" idx="1"/>
          </p:nvPr>
        </p:nvSpPr>
        <p:spPr>
          <a:xfrm>
            <a:off x="831850" y="3429001"/>
            <a:ext cx="10515600" cy="2660650"/>
          </a:xfrm>
        </p:spPr>
        <p:txBody>
          <a:bodyPr/>
          <a:lstStyle/>
          <a:p>
            <a:r>
              <a:rPr lang="en-US" dirty="0">
                <a:solidFill>
                  <a:srgbClr val="FF5F5E"/>
                </a:solidFill>
              </a:rPr>
              <a:t>It is not calculation and computation which matters in analytics.  </a:t>
            </a:r>
          </a:p>
          <a:p>
            <a:endParaRPr lang="en-US" dirty="0">
              <a:solidFill>
                <a:srgbClr val="FF5F5E"/>
              </a:solidFill>
            </a:endParaRPr>
          </a:p>
          <a:p>
            <a:r>
              <a:rPr lang="en-US" dirty="0">
                <a:solidFill>
                  <a:srgbClr val="FF5F5E"/>
                </a:solidFill>
              </a:rPr>
              <a:t>What truly matters is having the right combination of the objective, the data type, and the analytical approach. </a:t>
            </a:r>
          </a:p>
          <a:p>
            <a:endParaRPr lang="en-US" dirty="0">
              <a:solidFill>
                <a:srgbClr val="FF5F5E"/>
              </a:solidFill>
            </a:endParaRPr>
          </a:p>
          <a:p>
            <a:r>
              <a:rPr lang="en-US" dirty="0">
                <a:solidFill>
                  <a:srgbClr val="FF5F5E"/>
                </a:solidFill>
              </a:rPr>
              <a:t>So, following is perfect guide and cheat sheet.  </a:t>
            </a:r>
          </a:p>
        </p:txBody>
      </p:sp>
    </p:spTree>
    <p:extLst>
      <p:ext uri="{BB962C8B-B14F-4D97-AF65-F5344CB8AC3E}">
        <p14:creationId xmlns:p14="http://schemas.microsoft.com/office/powerpoint/2010/main" val="810581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CCB32-83B4-CD48-F751-F42F62F31B22}"/>
              </a:ext>
            </a:extLst>
          </p:cNvPr>
          <p:cNvSpPr>
            <a:spLocks noGrp="1"/>
          </p:cNvSpPr>
          <p:nvPr>
            <p:ph type="title"/>
          </p:nvPr>
        </p:nvSpPr>
        <p:spPr/>
        <p:txBody>
          <a:bodyPr/>
          <a:lstStyle/>
          <a:p>
            <a:r>
              <a:rPr lang="en-US" dirty="0"/>
              <a:t>Typical Analytical Flow </a:t>
            </a:r>
          </a:p>
        </p:txBody>
      </p:sp>
      <p:sp>
        <p:nvSpPr>
          <p:cNvPr id="4" name="Rectangle 3">
            <a:extLst>
              <a:ext uri="{FF2B5EF4-FFF2-40B4-BE49-F238E27FC236}">
                <a16:creationId xmlns:a16="http://schemas.microsoft.com/office/drawing/2014/main" id="{49A962D8-C80B-D313-7048-DAF4F26D6DF6}"/>
              </a:ext>
            </a:extLst>
          </p:cNvPr>
          <p:cNvSpPr/>
          <p:nvPr/>
        </p:nvSpPr>
        <p:spPr>
          <a:xfrm>
            <a:off x="838200" y="2080260"/>
            <a:ext cx="2385060" cy="834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Objective of Data Analytics</a:t>
            </a:r>
          </a:p>
        </p:txBody>
      </p:sp>
      <p:sp>
        <p:nvSpPr>
          <p:cNvPr id="5" name="Rectangle 4">
            <a:extLst>
              <a:ext uri="{FF2B5EF4-FFF2-40B4-BE49-F238E27FC236}">
                <a16:creationId xmlns:a16="http://schemas.microsoft.com/office/drawing/2014/main" id="{AA993454-A559-C9F1-6F75-F5E166E33584}"/>
              </a:ext>
            </a:extLst>
          </p:cNvPr>
          <p:cNvSpPr/>
          <p:nvPr/>
        </p:nvSpPr>
        <p:spPr>
          <a:xfrm>
            <a:off x="4442460" y="2080260"/>
            <a:ext cx="2385060" cy="834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Collection of data </a:t>
            </a:r>
          </a:p>
        </p:txBody>
      </p:sp>
      <p:sp>
        <p:nvSpPr>
          <p:cNvPr id="6" name="Rectangle 5">
            <a:extLst>
              <a:ext uri="{FF2B5EF4-FFF2-40B4-BE49-F238E27FC236}">
                <a16:creationId xmlns:a16="http://schemas.microsoft.com/office/drawing/2014/main" id="{4E19E57E-8823-2B31-0EA7-027463C55E7B}"/>
              </a:ext>
            </a:extLst>
          </p:cNvPr>
          <p:cNvSpPr/>
          <p:nvPr/>
        </p:nvSpPr>
        <p:spPr>
          <a:xfrm>
            <a:off x="8046720" y="2080260"/>
            <a:ext cx="2385060" cy="834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Understanding Sequence</a:t>
            </a:r>
          </a:p>
        </p:txBody>
      </p:sp>
      <p:sp>
        <p:nvSpPr>
          <p:cNvPr id="7" name="Rectangle 6">
            <a:extLst>
              <a:ext uri="{FF2B5EF4-FFF2-40B4-BE49-F238E27FC236}">
                <a16:creationId xmlns:a16="http://schemas.microsoft.com/office/drawing/2014/main" id="{75072E12-6F30-5932-986F-0DF8CBC7196B}"/>
              </a:ext>
            </a:extLst>
          </p:cNvPr>
          <p:cNvSpPr/>
          <p:nvPr/>
        </p:nvSpPr>
        <p:spPr>
          <a:xfrm>
            <a:off x="8046720" y="4461510"/>
            <a:ext cx="2385060" cy="834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Choosing Mix of techniques</a:t>
            </a:r>
          </a:p>
        </p:txBody>
      </p:sp>
      <p:sp>
        <p:nvSpPr>
          <p:cNvPr id="8" name="Rectangle 7">
            <a:extLst>
              <a:ext uri="{FF2B5EF4-FFF2-40B4-BE49-F238E27FC236}">
                <a16:creationId xmlns:a16="http://schemas.microsoft.com/office/drawing/2014/main" id="{CFE6BAD3-0BE3-ECE1-699B-8498FF97C293}"/>
              </a:ext>
            </a:extLst>
          </p:cNvPr>
          <p:cNvSpPr/>
          <p:nvPr/>
        </p:nvSpPr>
        <p:spPr>
          <a:xfrm>
            <a:off x="4789170" y="4461510"/>
            <a:ext cx="2385060" cy="834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Applying those techniques</a:t>
            </a:r>
          </a:p>
        </p:txBody>
      </p:sp>
      <p:sp>
        <p:nvSpPr>
          <p:cNvPr id="9" name="Rectangle 8">
            <a:extLst>
              <a:ext uri="{FF2B5EF4-FFF2-40B4-BE49-F238E27FC236}">
                <a16:creationId xmlns:a16="http://schemas.microsoft.com/office/drawing/2014/main" id="{AD5B4D99-7302-EA05-4179-5161E95CE6B8}"/>
              </a:ext>
            </a:extLst>
          </p:cNvPr>
          <p:cNvSpPr/>
          <p:nvPr/>
        </p:nvSpPr>
        <p:spPr>
          <a:xfrm>
            <a:off x="838200" y="4461510"/>
            <a:ext cx="2385060" cy="834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Interpreting results</a:t>
            </a:r>
          </a:p>
        </p:txBody>
      </p:sp>
      <p:sp>
        <p:nvSpPr>
          <p:cNvPr id="10" name="Arrow: Right 9">
            <a:extLst>
              <a:ext uri="{FF2B5EF4-FFF2-40B4-BE49-F238E27FC236}">
                <a16:creationId xmlns:a16="http://schemas.microsoft.com/office/drawing/2014/main" id="{544BB2DB-F397-5083-C7E8-7F8B32FA9445}"/>
              </a:ext>
            </a:extLst>
          </p:cNvPr>
          <p:cNvSpPr/>
          <p:nvPr/>
        </p:nvSpPr>
        <p:spPr>
          <a:xfrm>
            <a:off x="3223260" y="2497455"/>
            <a:ext cx="1219200" cy="742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EAA092B1-A443-B523-4157-C0DF0EDEB8C7}"/>
              </a:ext>
            </a:extLst>
          </p:cNvPr>
          <p:cNvSpPr/>
          <p:nvPr/>
        </p:nvSpPr>
        <p:spPr>
          <a:xfrm>
            <a:off x="6827520" y="2402205"/>
            <a:ext cx="1219200" cy="742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62527616-43A7-69FD-BA0B-B889BF63C1EC}"/>
              </a:ext>
            </a:extLst>
          </p:cNvPr>
          <p:cNvSpPr/>
          <p:nvPr/>
        </p:nvSpPr>
        <p:spPr>
          <a:xfrm>
            <a:off x="9239250" y="2914650"/>
            <a:ext cx="110490" cy="15468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19BD87F9-BDFA-25A5-8782-52444A0E5209}"/>
              </a:ext>
            </a:extLst>
          </p:cNvPr>
          <p:cNvSpPr/>
          <p:nvPr/>
        </p:nvSpPr>
        <p:spPr>
          <a:xfrm rot="10800000">
            <a:off x="7174230" y="4829172"/>
            <a:ext cx="872490" cy="742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073943FE-4F4B-6A98-AB28-5639C3137F9E}"/>
              </a:ext>
            </a:extLst>
          </p:cNvPr>
          <p:cNvSpPr/>
          <p:nvPr/>
        </p:nvSpPr>
        <p:spPr>
          <a:xfrm rot="10800000">
            <a:off x="3223260" y="4829171"/>
            <a:ext cx="1565910" cy="8668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5" name="Arrow: Up 14">
            <a:extLst>
              <a:ext uri="{FF2B5EF4-FFF2-40B4-BE49-F238E27FC236}">
                <a16:creationId xmlns:a16="http://schemas.microsoft.com/office/drawing/2014/main" id="{6B674A91-4FC5-B606-5E2D-4E241F6C74C9}"/>
              </a:ext>
            </a:extLst>
          </p:cNvPr>
          <p:cNvSpPr/>
          <p:nvPr/>
        </p:nvSpPr>
        <p:spPr>
          <a:xfrm>
            <a:off x="1783080" y="2914650"/>
            <a:ext cx="110490" cy="154686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0612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A3FA6-B4F3-CDE2-F10E-0143D2BEE293}"/>
              </a:ext>
            </a:extLst>
          </p:cNvPr>
          <p:cNvSpPr>
            <a:spLocks noGrp="1"/>
          </p:cNvSpPr>
          <p:nvPr>
            <p:ph type="title"/>
          </p:nvPr>
        </p:nvSpPr>
        <p:spPr/>
        <p:txBody>
          <a:bodyPr/>
          <a:lstStyle/>
          <a:p>
            <a:pPr algn="ctr"/>
            <a:r>
              <a:rPr lang="en-US" dirty="0"/>
              <a:t>Exercise 1: </a:t>
            </a:r>
          </a:p>
        </p:txBody>
      </p:sp>
      <p:sp>
        <p:nvSpPr>
          <p:cNvPr id="4" name="Rectangle 3">
            <a:extLst>
              <a:ext uri="{FF2B5EF4-FFF2-40B4-BE49-F238E27FC236}">
                <a16:creationId xmlns:a16="http://schemas.microsoft.com/office/drawing/2014/main" id="{4BC9CED6-ECEE-A865-CE7F-A3EDA8F0A927}"/>
              </a:ext>
            </a:extLst>
          </p:cNvPr>
          <p:cNvSpPr/>
          <p:nvPr/>
        </p:nvSpPr>
        <p:spPr>
          <a:xfrm>
            <a:off x="735330" y="1614249"/>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Business Problem</a:t>
            </a:r>
          </a:p>
        </p:txBody>
      </p:sp>
      <p:sp>
        <p:nvSpPr>
          <p:cNvPr id="5" name="Rectangle 4">
            <a:extLst>
              <a:ext uri="{FF2B5EF4-FFF2-40B4-BE49-F238E27FC236}">
                <a16:creationId xmlns:a16="http://schemas.microsoft.com/office/drawing/2014/main" id="{5F1CF624-FF10-6696-BE32-63E3725A43CB}"/>
              </a:ext>
            </a:extLst>
          </p:cNvPr>
          <p:cNvSpPr/>
          <p:nvPr/>
        </p:nvSpPr>
        <p:spPr>
          <a:xfrm>
            <a:off x="735330" y="4589620"/>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Type of Analytical techniques</a:t>
            </a:r>
          </a:p>
        </p:txBody>
      </p:sp>
      <p:sp>
        <p:nvSpPr>
          <p:cNvPr id="6" name="Rectangle 5">
            <a:extLst>
              <a:ext uri="{FF2B5EF4-FFF2-40B4-BE49-F238E27FC236}">
                <a16:creationId xmlns:a16="http://schemas.microsoft.com/office/drawing/2014/main" id="{E71D17A6-9BD5-D316-B886-948FA7C5334D}"/>
              </a:ext>
            </a:extLst>
          </p:cNvPr>
          <p:cNvSpPr/>
          <p:nvPr/>
        </p:nvSpPr>
        <p:spPr>
          <a:xfrm>
            <a:off x="735330" y="3014662"/>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 of Data and sequence of data  </a:t>
            </a:r>
          </a:p>
        </p:txBody>
      </p:sp>
      <p:sp>
        <p:nvSpPr>
          <p:cNvPr id="3" name="TextBox 2">
            <a:extLst>
              <a:ext uri="{FF2B5EF4-FFF2-40B4-BE49-F238E27FC236}">
                <a16:creationId xmlns:a16="http://schemas.microsoft.com/office/drawing/2014/main" id="{1136EC6B-DBDC-B7B5-A8CE-1F1E2E9AF55A}"/>
              </a:ext>
            </a:extLst>
          </p:cNvPr>
          <p:cNvSpPr txBox="1"/>
          <p:nvPr/>
        </p:nvSpPr>
        <p:spPr>
          <a:xfrm>
            <a:off x="3943350" y="1690688"/>
            <a:ext cx="6188489" cy="369332"/>
          </a:xfrm>
          <a:prstGeom prst="rect">
            <a:avLst/>
          </a:prstGeom>
          <a:noFill/>
        </p:spPr>
        <p:txBody>
          <a:bodyPr wrap="none" rtlCol="0">
            <a:spAutoFit/>
          </a:bodyPr>
          <a:lstStyle/>
          <a:p>
            <a:r>
              <a:rPr lang="en-US" dirty="0"/>
              <a:t>What will be Sales of Ice cream brand of Oreo in Winter?</a:t>
            </a:r>
          </a:p>
        </p:txBody>
      </p:sp>
      <p:sp>
        <p:nvSpPr>
          <p:cNvPr id="7" name="TextBox 6">
            <a:extLst>
              <a:ext uri="{FF2B5EF4-FFF2-40B4-BE49-F238E27FC236}">
                <a16:creationId xmlns:a16="http://schemas.microsoft.com/office/drawing/2014/main" id="{E476E6D4-7F05-70F5-681B-17E577A796EC}"/>
              </a:ext>
            </a:extLst>
          </p:cNvPr>
          <p:cNvSpPr txBox="1"/>
          <p:nvPr/>
        </p:nvSpPr>
        <p:spPr>
          <a:xfrm>
            <a:off x="4343400" y="3244334"/>
            <a:ext cx="671979" cy="369332"/>
          </a:xfrm>
          <a:prstGeom prst="rect">
            <a:avLst/>
          </a:prstGeom>
          <a:noFill/>
        </p:spPr>
        <p:txBody>
          <a:bodyPr wrap="none" rtlCol="0">
            <a:spAutoFit/>
          </a:bodyPr>
          <a:lstStyle/>
          <a:p>
            <a:r>
              <a:rPr lang="en-US" dirty="0"/>
              <a:t>Add </a:t>
            </a:r>
          </a:p>
        </p:txBody>
      </p:sp>
      <p:sp>
        <p:nvSpPr>
          <p:cNvPr id="8" name="TextBox 7">
            <a:extLst>
              <a:ext uri="{FF2B5EF4-FFF2-40B4-BE49-F238E27FC236}">
                <a16:creationId xmlns:a16="http://schemas.microsoft.com/office/drawing/2014/main" id="{AA508D81-8CC9-8D53-5C74-8EAB9251EE93}"/>
              </a:ext>
            </a:extLst>
          </p:cNvPr>
          <p:cNvSpPr txBox="1"/>
          <p:nvPr/>
        </p:nvSpPr>
        <p:spPr>
          <a:xfrm>
            <a:off x="4359349" y="4913589"/>
            <a:ext cx="671979" cy="369332"/>
          </a:xfrm>
          <a:prstGeom prst="rect">
            <a:avLst/>
          </a:prstGeom>
          <a:noFill/>
        </p:spPr>
        <p:txBody>
          <a:bodyPr wrap="none" rtlCol="0">
            <a:spAutoFit/>
          </a:bodyPr>
          <a:lstStyle/>
          <a:p>
            <a:r>
              <a:rPr lang="en-US" dirty="0"/>
              <a:t>Add </a:t>
            </a:r>
          </a:p>
        </p:txBody>
      </p:sp>
    </p:spTree>
    <p:extLst>
      <p:ext uri="{BB962C8B-B14F-4D97-AF65-F5344CB8AC3E}">
        <p14:creationId xmlns:p14="http://schemas.microsoft.com/office/powerpoint/2010/main" val="725411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1138-F760-EDB3-C2A8-8A7AE7959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A2CBE-57C3-D640-C2F1-615182C1815A}"/>
              </a:ext>
            </a:extLst>
          </p:cNvPr>
          <p:cNvSpPr>
            <a:spLocks noGrp="1"/>
          </p:cNvSpPr>
          <p:nvPr>
            <p:ph type="title"/>
          </p:nvPr>
        </p:nvSpPr>
        <p:spPr/>
        <p:txBody>
          <a:bodyPr/>
          <a:lstStyle/>
          <a:p>
            <a:pPr algn="ctr"/>
            <a:r>
              <a:rPr lang="en-US" dirty="0"/>
              <a:t>Exercise 2: </a:t>
            </a:r>
          </a:p>
        </p:txBody>
      </p:sp>
      <p:sp>
        <p:nvSpPr>
          <p:cNvPr id="4" name="Rectangle 3">
            <a:extLst>
              <a:ext uri="{FF2B5EF4-FFF2-40B4-BE49-F238E27FC236}">
                <a16:creationId xmlns:a16="http://schemas.microsoft.com/office/drawing/2014/main" id="{35251B06-455F-FA36-69B2-92BD4E9DE2B6}"/>
              </a:ext>
            </a:extLst>
          </p:cNvPr>
          <p:cNvSpPr/>
          <p:nvPr/>
        </p:nvSpPr>
        <p:spPr>
          <a:xfrm>
            <a:off x="735330" y="1614249"/>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Business Problem</a:t>
            </a:r>
          </a:p>
        </p:txBody>
      </p:sp>
      <p:sp>
        <p:nvSpPr>
          <p:cNvPr id="5" name="Rectangle 4">
            <a:extLst>
              <a:ext uri="{FF2B5EF4-FFF2-40B4-BE49-F238E27FC236}">
                <a16:creationId xmlns:a16="http://schemas.microsoft.com/office/drawing/2014/main" id="{F55DB6A8-2066-608A-A633-58C8DF8A0A36}"/>
              </a:ext>
            </a:extLst>
          </p:cNvPr>
          <p:cNvSpPr/>
          <p:nvPr/>
        </p:nvSpPr>
        <p:spPr>
          <a:xfrm>
            <a:off x="735330" y="4589620"/>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Type of Analytical techniques</a:t>
            </a:r>
          </a:p>
        </p:txBody>
      </p:sp>
      <p:sp>
        <p:nvSpPr>
          <p:cNvPr id="6" name="Rectangle 5">
            <a:extLst>
              <a:ext uri="{FF2B5EF4-FFF2-40B4-BE49-F238E27FC236}">
                <a16:creationId xmlns:a16="http://schemas.microsoft.com/office/drawing/2014/main" id="{056E4A70-4E47-9E1C-821F-AD5ABDCBFBF3}"/>
              </a:ext>
            </a:extLst>
          </p:cNvPr>
          <p:cNvSpPr/>
          <p:nvPr/>
        </p:nvSpPr>
        <p:spPr>
          <a:xfrm>
            <a:off x="735330" y="3014662"/>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 of Data and sequence of data  </a:t>
            </a:r>
          </a:p>
        </p:txBody>
      </p:sp>
      <p:sp>
        <p:nvSpPr>
          <p:cNvPr id="3" name="TextBox 2">
            <a:extLst>
              <a:ext uri="{FF2B5EF4-FFF2-40B4-BE49-F238E27FC236}">
                <a16:creationId xmlns:a16="http://schemas.microsoft.com/office/drawing/2014/main" id="{C5A6D561-3342-50BE-AC4C-22C38C88138A}"/>
              </a:ext>
            </a:extLst>
          </p:cNvPr>
          <p:cNvSpPr txBox="1"/>
          <p:nvPr/>
        </p:nvSpPr>
        <p:spPr>
          <a:xfrm>
            <a:off x="3943350" y="1690688"/>
            <a:ext cx="7088992" cy="369332"/>
          </a:xfrm>
          <a:prstGeom prst="rect">
            <a:avLst/>
          </a:prstGeom>
          <a:noFill/>
        </p:spPr>
        <p:txBody>
          <a:bodyPr wrap="none" rtlCol="0">
            <a:spAutoFit/>
          </a:bodyPr>
          <a:lstStyle/>
          <a:p>
            <a:r>
              <a:rPr lang="en-US" dirty="0"/>
              <a:t>What will be effect of new advertisement campaign on the Sales </a:t>
            </a:r>
          </a:p>
        </p:txBody>
      </p:sp>
      <p:sp>
        <p:nvSpPr>
          <p:cNvPr id="7" name="TextBox 6">
            <a:extLst>
              <a:ext uri="{FF2B5EF4-FFF2-40B4-BE49-F238E27FC236}">
                <a16:creationId xmlns:a16="http://schemas.microsoft.com/office/drawing/2014/main" id="{0DB7C299-3D0D-DD03-091C-F8D55850180D}"/>
              </a:ext>
            </a:extLst>
          </p:cNvPr>
          <p:cNvSpPr txBox="1"/>
          <p:nvPr/>
        </p:nvSpPr>
        <p:spPr>
          <a:xfrm>
            <a:off x="4343400" y="3244334"/>
            <a:ext cx="671979" cy="369332"/>
          </a:xfrm>
          <a:prstGeom prst="rect">
            <a:avLst/>
          </a:prstGeom>
          <a:noFill/>
        </p:spPr>
        <p:txBody>
          <a:bodyPr wrap="none" rtlCol="0">
            <a:spAutoFit/>
          </a:bodyPr>
          <a:lstStyle/>
          <a:p>
            <a:r>
              <a:rPr lang="en-US" dirty="0"/>
              <a:t>Add </a:t>
            </a:r>
          </a:p>
        </p:txBody>
      </p:sp>
      <p:sp>
        <p:nvSpPr>
          <p:cNvPr id="8" name="TextBox 7">
            <a:extLst>
              <a:ext uri="{FF2B5EF4-FFF2-40B4-BE49-F238E27FC236}">
                <a16:creationId xmlns:a16="http://schemas.microsoft.com/office/drawing/2014/main" id="{E421966F-953C-DD17-43AA-4BF48C61995A}"/>
              </a:ext>
            </a:extLst>
          </p:cNvPr>
          <p:cNvSpPr txBox="1"/>
          <p:nvPr/>
        </p:nvSpPr>
        <p:spPr>
          <a:xfrm>
            <a:off x="4359349" y="4913589"/>
            <a:ext cx="671979" cy="369332"/>
          </a:xfrm>
          <a:prstGeom prst="rect">
            <a:avLst/>
          </a:prstGeom>
          <a:noFill/>
        </p:spPr>
        <p:txBody>
          <a:bodyPr wrap="none" rtlCol="0">
            <a:spAutoFit/>
          </a:bodyPr>
          <a:lstStyle/>
          <a:p>
            <a:r>
              <a:rPr lang="en-US" dirty="0"/>
              <a:t>Add </a:t>
            </a:r>
          </a:p>
        </p:txBody>
      </p:sp>
    </p:spTree>
    <p:extLst>
      <p:ext uri="{BB962C8B-B14F-4D97-AF65-F5344CB8AC3E}">
        <p14:creationId xmlns:p14="http://schemas.microsoft.com/office/powerpoint/2010/main" val="22037488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4175F-099C-882D-1A18-2ABE5AF62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A68D5-10B8-CCC5-7276-8FB6249E2B8C}"/>
              </a:ext>
            </a:extLst>
          </p:cNvPr>
          <p:cNvSpPr>
            <a:spLocks noGrp="1"/>
          </p:cNvSpPr>
          <p:nvPr>
            <p:ph type="title"/>
          </p:nvPr>
        </p:nvSpPr>
        <p:spPr/>
        <p:txBody>
          <a:bodyPr/>
          <a:lstStyle/>
          <a:p>
            <a:pPr algn="ctr"/>
            <a:r>
              <a:rPr lang="en-US" dirty="0"/>
              <a:t>Exercise 3: </a:t>
            </a:r>
          </a:p>
        </p:txBody>
      </p:sp>
      <p:sp>
        <p:nvSpPr>
          <p:cNvPr id="4" name="Rectangle 3">
            <a:extLst>
              <a:ext uri="{FF2B5EF4-FFF2-40B4-BE49-F238E27FC236}">
                <a16:creationId xmlns:a16="http://schemas.microsoft.com/office/drawing/2014/main" id="{973AA1BD-7977-A6E5-8BF4-6C3EC692E7E0}"/>
              </a:ext>
            </a:extLst>
          </p:cNvPr>
          <p:cNvSpPr/>
          <p:nvPr/>
        </p:nvSpPr>
        <p:spPr>
          <a:xfrm>
            <a:off x="735330" y="1614249"/>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Business Problem</a:t>
            </a:r>
          </a:p>
        </p:txBody>
      </p:sp>
      <p:sp>
        <p:nvSpPr>
          <p:cNvPr id="5" name="Rectangle 4">
            <a:extLst>
              <a:ext uri="{FF2B5EF4-FFF2-40B4-BE49-F238E27FC236}">
                <a16:creationId xmlns:a16="http://schemas.microsoft.com/office/drawing/2014/main" id="{74967BF9-586A-C1AB-84A7-6C0A5C50ED42}"/>
              </a:ext>
            </a:extLst>
          </p:cNvPr>
          <p:cNvSpPr/>
          <p:nvPr/>
        </p:nvSpPr>
        <p:spPr>
          <a:xfrm>
            <a:off x="735330" y="4589620"/>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Type of Analytical techniques</a:t>
            </a:r>
          </a:p>
        </p:txBody>
      </p:sp>
      <p:sp>
        <p:nvSpPr>
          <p:cNvPr id="6" name="Rectangle 5">
            <a:extLst>
              <a:ext uri="{FF2B5EF4-FFF2-40B4-BE49-F238E27FC236}">
                <a16:creationId xmlns:a16="http://schemas.microsoft.com/office/drawing/2014/main" id="{2BE89075-E3B5-1244-EED8-9A0270196528}"/>
              </a:ext>
            </a:extLst>
          </p:cNvPr>
          <p:cNvSpPr/>
          <p:nvPr/>
        </p:nvSpPr>
        <p:spPr>
          <a:xfrm>
            <a:off x="735330" y="3014662"/>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 of Data and sequence of data  </a:t>
            </a:r>
          </a:p>
        </p:txBody>
      </p:sp>
      <p:sp>
        <p:nvSpPr>
          <p:cNvPr id="3" name="TextBox 2">
            <a:extLst>
              <a:ext uri="{FF2B5EF4-FFF2-40B4-BE49-F238E27FC236}">
                <a16:creationId xmlns:a16="http://schemas.microsoft.com/office/drawing/2014/main" id="{78ACEC1E-FA8F-0993-2BE6-54A4A43BF769}"/>
              </a:ext>
            </a:extLst>
          </p:cNvPr>
          <p:cNvSpPr txBox="1"/>
          <p:nvPr/>
        </p:nvSpPr>
        <p:spPr>
          <a:xfrm>
            <a:off x="3943350" y="1690688"/>
            <a:ext cx="6749540" cy="369332"/>
          </a:xfrm>
          <a:prstGeom prst="rect">
            <a:avLst/>
          </a:prstGeom>
          <a:noFill/>
        </p:spPr>
        <p:txBody>
          <a:bodyPr wrap="none" rtlCol="0">
            <a:spAutoFit/>
          </a:bodyPr>
          <a:lstStyle/>
          <a:p>
            <a:r>
              <a:rPr lang="en-US" dirty="0"/>
              <a:t>What will be percentage of return on AI stocks in near future?</a:t>
            </a:r>
          </a:p>
        </p:txBody>
      </p:sp>
      <p:sp>
        <p:nvSpPr>
          <p:cNvPr id="7" name="TextBox 6">
            <a:extLst>
              <a:ext uri="{FF2B5EF4-FFF2-40B4-BE49-F238E27FC236}">
                <a16:creationId xmlns:a16="http://schemas.microsoft.com/office/drawing/2014/main" id="{346085DF-97F7-3ACD-5C57-5F7717ABC954}"/>
              </a:ext>
            </a:extLst>
          </p:cNvPr>
          <p:cNvSpPr txBox="1"/>
          <p:nvPr/>
        </p:nvSpPr>
        <p:spPr>
          <a:xfrm>
            <a:off x="4343400" y="3244334"/>
            <a:ext cx="671979" cy="369332"/>
          </a:xfrm>
          <a:prstGeom prst="rect">
            <a:avLst/>
          </a:prstGeom>
          <a:noFill/>
        </p:spPr>
        <p:txBody>
          <a:bodyPr wrap="none" rtlCol="0">
            <a:spAutoFit/>
          </a:bodyPr>
          <a:lstStyle/>
          <a:p>
            <a:r>
              <a:rPr lang="en-US" dirty="0"/>
              <a:t>Add </a:t>
            </a:r>
          </a:p>
        </p:txBody>
      </p:sp>
      <p:sp>
        <p:nvSpPr>
          <p:cNvPr id="8" name="TextBox 7">
            <a:extLst>
              <a:ext uri="{FF2B5EF4-FFF2-40B4-BE49-F238E27FC236}">
                <a16:creationId xmlns:a16="http://schemas.microsoft.com/office/drawing/2014/main" id="{04DEC5C5-2486-FF02-3C2E-7B3321F40E9E}"/>
              </a:ext>
            </a:extLst>
          </p:cNvPr>
          <p:cNvSpPr txBox="1"/>
          <p:nvPr/>
        </p:nvSpPr>
        <p:spPr>
          <a:xfrm>
            <a:off x="4359349" y="4913589"/>
            <a:ext cx="671979" cy="369332"/>
          </a:xfrm>
          <a:prstGeom prst="rect">
            <a:avLst/>
          </a:prstGeom>
          <a:noFill/>
        </p:spPr>
        <p:txBody>
          <a:bodyPr wrap="none" rtlCol="0">
            <a:spAutoFit/>
          </a:bodyPr>
          <a:lstStyle/>
          <a:p>
            <a:r>
              <a:rPr lang="en-US" dirty="0"/>
              <a:t>Add </a:t>
            </a:r>
          </a:p>
        </p:txBody>
      </p:sp>
    </p:spTree>
    <p:extLst>
      <p:ext uri="{BB962C8B-B14F-4D97-AF65-F5344CB8AC3E}">
        <p14:creationId xmlns:p14="http://schemas.microsoft.com/office/powerpoint/2010/main" val="3021964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C5F39-F783-572B-8EC4-1172EECC86D9}"/>
              </a:ext>
            </a:extLst>
          </p:cNvPr>
          <p:cNvSpPr>
            <a:spLocks noGrp="1"/>
          </p:cNvSpPr>
          <p:nvPr>
            <p:ph type="title"/>
          </p:nvPr>
        </p:nvSpPr>
        <p:spPr/>
        <p:txBody>
          <a:bodyPr/>
          <a:lstStyle/>
          <a:p>
            <a:r>
              <a:rPr lang="en-US" dirty="0"/>
              <a:t>Look at following </a:t>
            </a:r>
          </a:p>
        </p:txBody>
      </p:sp>
      <p:pic>
        <p:nvPicPr>
          <p:cNvPr id="5" name="Content Placeholder 4">
            <a:extLst>
              <a:ext uri="{FF2B5EF4-FFF2-40B4-BE49-F238E27FC236}">
                <a16:creationId xmlns:a16="http://schemas.microsoft.com/office/drawing/2014/main" id="{FE966732-88E6-721D-3BDB-08817E4805CB}"/>
              </a:ext>
            </a:extLst>
          </p:cNvPr>
          <p:cNvPicPr>
            <a:picLocks noGrp="1" noChangeAspect="1"/>
          </p:cNvPicPr>
          <p:nvPr>
            <p:ph idx="1"/>
          </p:nvPr>
        </p:nvPicPr>
        <p:blipFill>
          <a:blip r:embed="rId3"/>
          <a:stretch>
            <a:fillRect/>
          </a:stretch>
        </p:blipFill>
        <p:spPr>
          <a:xfrm>
            <a:off x="2997040" y="2067619"/>
            <a:ext cx="6197919" cy="3867349"/>
          </a:xfrm>
          <a:prstGeom prst="rect">
            <a:avLst/>
          </a:prstGeom>
        </p:spPr>
      </p:pic>
    </p:spTree>
    <p:extLst>
      <p:ext uri="{BB962C8B-B14F-4D97-AF65-F5344CB8AC3E}">
        <p14:creationId xmlns:p14="http://schemas.microsoft.com/office/powerpoint/2010/main" val="27382408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6CC0C-FD1C-A7CD-3FDC-05BE229D9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D0860-CE8A-93A7-EDE0-BA83DE01813D}"/>
              </a:ext>
            </a:extLst>
          </p:cNvPr>
          <p:cNvSpPr>
            <a:spLocks noGrp="1"/>
          </p:cNvSpPr>
          <p:nvPr>
            <p:ph type="title"/>
          </p:nvPr>
        </p:nvSpPr>
        <p:spPr/>
        <p:txBody>
          <a:bodyPr/>
          <a:lstStyle/>
          <a:p>
            <a:pPr algn="ctr"/>
            <a:r>
              <a:rPr lang="en-US" dirty="0"/>
              <a:t>Exercise 4: </a:t>
            </a:r>
          </a:p>
        </p:txBody>
      </p:sp>
      <p:sp>
        <p:nvSpPr>
          <p:cNvPr id="4" name="Rectangle 3">
            <a:extLst>
              <a:ext uri="{FF2B5EF4-FFF2-40B4-BE49-F238E27FC236}">
                <a16:creationId xmlns:a16="http://schemas.microsoft.com/office/drawing/2014/main" id="{8F701E8B-B37C-C62D-15CE-4D7C0C3DE068}"/>
              </a:ext>
            </a:extLst>
          </p:cNvPr>
          <p:cNvSpPr/>
          <p:nvPr/>
        </p:nvSpPr>
        <p:spPr>
          <a:xfrm>
            <a:off x="735330" y="1614249"/>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Business Problem</a:t>
            </a:r>
          </a:p>
        </p:txBody>
      </p:sp>
      <p:sp>
        <p:nvSpPr>
          <p:cNvPr id="5" name="Rectangle 4">
            <a:extLst>
              <a:ext uri="{FF2B5EF4-FFF2-40B4-BE49-F238E27FC236}">
                <a16:creationId xmlns:a16="http://schemas.microsoft.com/office/drawing/2014/main" id="{4323E15B-4EC9-CFE9-DBC2-81C0CB8E9B1D}"/>
              </a:ext>
            </a:extLst>
          </p:cNvPr>
          <p:cNvSpPr/>
          <p:nvPr/>
        </p:nvSpPr>
        <p:spPr>
          <a:xfrm>
            <a:off x="735330" y="4589620"/>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Type of Analytical techniques</a:t>
            </a:r>
          </a:p>
        </p:txBody>
      </p:sp>
      <p:sp>
        <p:nvSpPr>
          <p:cNvPr id="6" name="Rectangle 5">
            <a:extLst>
              <a:ext uri="{FF2B5EF4-FFF2-40B4-BE49-F238E27FC236}">
                <a16:creationId xmlns:a16="http://schemas.microsoft.com/office/drawing/2014/main" id="{72076C89-8F79-89DA-71AD-AEF9755D3EAF}"/>
              </a:ext>
            </a:extLst>
          </p:cNvPr>
          <p:cNvSpPr/>
          <p:nvPr/>
        </p:nvSpPr>
        <p:spPr>
          <a:xfrm>
            <a:off x="735330" y="3014662"/>
            <a:ext cx="2777490" cy="10172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 of Data and sequence of data  </a:t>
            </a:r>
          </a:p>
        </p:txBody>
      </p:sp>
      <p:sp>
        <p:nvSpPr>
          <p:cNvPr id="3" name="TextBox 2">
            <a:extLst>
              <a:ext uri="{FF2B5EF4-FFF2-40B4-BE49-F238E27FC236}">
                <a16:creationId xmlns:a16="http://schemas.microsoft.com/office/drawing/2014/main" id="{49C3300A-900A-41EE-736C-36E6F618CE78}"/>
              </a:ext>
            </a:extLst>
          </p:cNvPr>
          <p:cNvSpPr txBox="1"/>
          <p:nvPr/>
        </p:nvSpPr>
        <p:spPr>
          <a:xfrm>
            <a:off x="3943350" y="1690688"/>
            <a:ext cx="4894481" cy="369332"/>
          </a:xfrm>
          <a:prstGeom prst="rect">
            <a:avLst/>
          </a:prstGeom>
          <a:noFill/>
        </p:spPr>
        <p:txBody>
          <a:bodyPr wrap="none" rtlCol="0">
            <a:spAutoFit/>
          </a:bodyPr>
          <a:lstStyle/>
          <a:p>
            <a:r>
              <a:rPr lang="en-US" dirty="0"/>
              <a:t>Which UI of our new app will be easy to use?</a:t>
            </a:r>
          </a:p>
        </p:txBody>
      </p:sp>
      <p:sp>
        <p:nvSpPr>
          <p:cNvPr id="7" name="TextBox 6">
            <a:extLst>
              <a:ext uri="{FF2B5EF4-FFF2-40B4-BE49-F238E27FC236}">
                <a16:creationId xmlns:a16="http://schemas.microsoft.com/office/drawing/2014/main" id="{F50C8795-39E4-1F98-9EB0-D27EFDF460F2}"/>
              </a:ext>
            </a:extLst>
          </p:cNvPr>
          <p:cNvSpPr txBox="1"/>
          <p:nvPr/>
        </p:nvSpPr>
        <p:spPr>
          <a:xfrm>
            <a:off x="4343400" y="3244334"/>
            <a:ext cx="671979" cy="369332"/>
          </a:xfrm>
          <a:prstGeom prst="rect">
            <a:avLst/>
          </a:prstGeom>
          <a:noFill/>
        </p:spPr>
        <p:txBody>
          <a:bodyPr wrap="none" rtlCol="0">
            <a:spAutoFit/>
          </a:bodyPr>
          <a:lstStyle/>
          <a:p>
            <a:r>
              <a:rPr lang="en-US" dirty="0"/>
              <a:t>Add </a:t>
            </a:r>
          </a:p>
        </p:txBody>
      </p:sp>
      <p:sp>
        <p:nvSpPr>
          <p:cNvPr id="8" name="TextBox 7">
            <a:extLst>
              <a:ext uri="{FF2B5EF4-FFF2-40B4-BE49-F238E27FC236}">
                <a16:creationId xmlns:a16="http://schemas.microsoft.com/office/drawing/2014/main" id="{BED7EB1D-E835-9882-511E-58CC559113D9}"/>
              </a:ext>
            </a:extLst>
          </p:cNvPr>
          <p:cNvSpPr txBox="1"/>
          <p:nvPr/>
        </p:nvSpPr>
        <p:spPr>
          <a:xfrm>
            <a:off x="4359349" y="4913589"/>
            <a:ext cx="671979" cy="369332"/>
          </a:xfrm>
          <a:prstGeom prst="rect">
            <a:avLst/>
          </a:prstGeom>
          <a:noFill/>
        </p:spPr>
        <p:txBody>
          <a:bodyPr wrap="none" rtlCol="0">
            <a:spAutoFit/>
          </a:bodyPr>
          <a:lstStyle/>
          <a:p>
            <a:r>
              <a:rPr lang="en-US" dirty="0"/>
              <a:t>Add </a:t>
            </a:r>
          </a:p>
        </p:txBody>
      </p:sp>
    </p:spTree>
    <p:extLst>
      <p:ext uri="{BB962C8B-B14F-4D97-AF65-F5344CB8AC3E}">
        <p14:creationId xmlns:p14="http://schemas.microsoft.com/office/powerpoint/2010/main" val="42395721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722932-D2A4-5A46-62C2-E22C603AB88A}"/>
              </a:ext>
            </a:extLst>
          </p:cNvPr>
          <p:cNvSpPr>
            <a:spLocks noGrp="1"/>
          </p:cNvSpPr>
          <p:nvPr>
            <p:ph type="title"/>
          </p:nvPr>
        </p:nvSpPr>
        <p:spPr/>
        <p:txBody>
          <a:bodyPr/>
          <a:lstStyle/>
          <a:p>
            <a:pPr algn="ctr"/>
            <a:r>
              <a:rPr lang="en-US" dirty="0" err="1"/>
              <a:t>Cheet</a:t>
            </a:r>
            <a:r>
              <a:rPr lang="en-US" dirty="0"/>
              <a:t> Sheet of Choosing Right Analytical techniques</a:t>
            </a:r>
          </a:p>
        </p:txBody>
      </p:sp>
      <p:sp>
        <p:nvSpPr>
          <p:cNvPr id="5" name="Text Placeholder 4">
            <a:extLst>
              <a:ext uri="{FF2B5EF4-FFF2-40B4-BE49-F238E27FC236}">
                <a16:creationId xmlns:a16="http://schemas.microsoft.com/office/drawing/2014/main" id="{2C8FBF90-B360-38BC-B25D-B4092825A3C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631526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5CAD4-1FFE-6D0D-0217-04F0CE9401CF}"/>
              </a:ext>
            </a:extLst>
          </p:cNvPr>
          <p:cNvSpPr>
            <a:spLocks noGrp="1"/>
          </p:cNvSpPr>
          <p:nvPr>
            <p:ph type="title"/>
          </p:nvPr>
        </p:nvSpPr>
        <p:spPr/>
        <p:txBody>
          <a:bodyPr/>
          <a:lstStyle/>
          <a:p>
            <a:r>
              <a:rPr lang="en-US" dirty="0"/>
              <a:t>Cheat Sheet </a:t>
            </a:r>
          </a:p>
        </p:txBody>
      </p:sp>
      <p:sp>
        <p:nvSpPr>
          <p:cNvPr id="3" name="Content Placeholder 2">
            <a:extLst>
              <a:ext uri="{FF2B5EF4-FFF2-40B4-BE49-F238E27FC236}">
                <a16:creationId xmlns:a16="http://schemas.microsoft.com/office/drawing/2014/main" id="{4C2ECFF0-F522-E0B6-A56C-7C9375770457}"/>
              </a:ext>
            </a:extLst>
          </p:cNvPr>
          <p:cNvSpPr>
            <a:spLocks noGrp="1"/>
          </p:cNvSpPr>
          <p:nvPr>
            <p:ph idx="1"/>
          </p:nvPr>
        </p:nvSpPr>
        <p:spPr/>
        <p:txBody>
          <a:bodyPr/>
          <a:lstStyle/>
          <a:p>
            <a:r>
              <a:rPr lang="en-US" b="1" dirty="0"/>
              <a:t>What is aim of Analytics</a:t>
            </a:r>
            <a:r>
              <a:rPr lang="en-US" dirty="0"/>
              <a:t>: (a) Descriptive (b) diagnostic (c) predictive </a:t>
            </a:r>
          </a:p>
          <a:p>
            <a:endParaRPr lang="en-US" dirty="0"/>
          </a:p>
          <a:p>
            <a:r>
              <a:rPr lang="en-US" b="1" dirty="0"/>
              <a:t>How data is collected</a:t>
            </a:r>
            <a:r>
              <a:rPr lang="en-US" dirty="0"/>
              <a:t>: </a:t>
            </a:r>
            <a:r>
              <a:rPr lang="en-US" dirty="0">
                <a:sym typeface="Wingdings" panose="05000000000000000000" pitchFamily="2" charset="2"/>
              </a:rPr>
              <a:t> </a:t>
            </a:r>
            <a:r>
              <a:rPr lang="en-US" dirty="0"/>
              <a:t>Surveys </a:t>
            </a:r>
            <a:r>
              <a:rPr lang="en-US" dirty="0">
                <a:sym typeface="Wingdings" panose="05000000000000000000" pitchFamily="2" charset="2"/>
              </a:rPr>
              <a:t> Census  </a:t>
            </a:r>
            <a:r>
              <a:rPr lang="en-US" dirty="0"/>
              <a:t> Experiments </a:t>
            </a:r>
            <a:r>
              <a:rPr lang="en-US" dirty="0">
                <a:sym typeface="Wingdings" panose="05000000000000000000" pitchFamily="2" charset="2"/>
              </a:rPr>
              <a:t> Transactional data (Sales, Share price etc.)  Digital trace data (likes, comments and etc.). </a:t>
            </a:r>
          </a:p>
          <a:p>
            <a:endParaRPr lang="en-US" dirty="0">
              <a:sym typeface="Wingdings" panose="05000000000000000000" pitchFamily="2" charset="2"/>
            </a:endParaRPr>
          </a:p>
          <a:p>
            <a:r>
              <a:rPr lang="en-US" b="1" dirty="0"/>
              <a:t>What Sequence data possess</a:t>
            </a:r>
            <a:r>
              <a:rPr lang="en-US" dirty="0"/>
              <a:t>: </a:t>
            </a:r>
            <a:r>
              <a:rPr lang="en-US" dirty="0">
                <a:sym typeface="Wingdings" panose="05000000000000000000" pitchFamily="2" charset="2"/>
              </a:rPr>
              <a:t> cross sectional  time  panel</a:t>
            </a:r>
          </a:p>
          <a:p>
            <a:endParaRPr lang="en-US" dirty="0">
              <a:sym typeface="Wingdings" panose="05000000000000000000" pitchFamily="2" charset="2"/>
            </a:endParaRPr>
          </a:p>
          <a:p>
            <a:r>
              <a:rPr lang="en-US" b="1" dirty="0"/>
              <a:t>Analytical techniques</a:t>
            </a:r>
            <a:r>
              <a:rPr lang="en-US" dirty="0">
                <a:sym typeface="Wingdings" panose="05000000000000000000" pitchFamily="2" charset="2"/>
              </a:rPr>
              <a:t> Range of such techniques falling diagnostic and predictive.  </a:t>
            </a:r>
            <a:endParaRPr lang="en-US" dirty="0"/>
          </a:p>
        </p:txBody>
      </p:sp>
    </p:spTree>
    <p:extLst>
      <p:ext uri="{BB962C8B-B14F-4D97-AF65-F5344CB8AC3E}">
        <p14:creationId xmlns:p14="http://schemas.microsoft.com/office/powerpoint/2010/main" val="20337857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0B8BDD-2193-5373-B3FB-82C48F8A73F0}"/>
              </a:ext>
            </a:extLst>
          </p:cNvPr>
          <p:cNvSpPr>
            <a:spLocks noGrp="1"/>
          </p:cNvSpPr>
          <p:nvPr>
            <p:ph type="ctrTitle"/>
          </p:nvPr>
        </p:nvSpPr>
        <p:spPr/>
        <p:txBody>
          <a:bodyPr/>
          <a:lstStyle/>
          <a:p>
            <a:r>
              <a:rPr lang="en-US" dirty="0"/>
              <a:t>Data Analytics Vis-Via-</a:t>
            </a:r>
            <a:r>
              <a:rPr lang="en-US" dirty="0" err="1"/>
              <a:t>Sequenece</a:t>
            </a:r>
            <a:r>
              <a:rPr lang="en-US" dirty="0"/>
              <a:t> </a:t>
            </a:r>
          </a:p>
        </p:txBody>
      </p:sp>
      <p:sp>
        <p:nvSpPr>
          <p:cNvPr id="5" name="Subtitle 4">
            <a:extLst>
              <a:ext uri="{FF2B5EF4-FFF2-40B4-BE49-F238E27FC236}">
                <a16:creationId xmlns:a16="http://schemas.microsoft.com/office/drawing/2014/main" id="{C24A71E8-D115-9FC4-6DBF-FCA0E7583FC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233454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B2428-E2E0-53E7-FDC8-BBD540292A56}"/>
              </a:ext>
            </a:extLst>
          </p:cNvPr>
          <p:cNvSpPr>
            <a:spLocks noGrp="1"/>
          </p:cNvSpPr>
          <p:nvPr>
            <p:ph type="title"/>
          </p:nvPr>
        </p:nvSpPr>
        <p:spPr>
          <a:xfrm>
            <a:off x="841248" y="334644"/>
            <a:ext cx="10509504" cy="1076914"/>
          </a:xfrm>
        </p:spPr>
        <p:txBody>
          <a:bodyPr anchor="ctr">
            <a:normAutofit/>
          </a:bodyPr>
          <a:lstStyle/>
          <a:p>
            <a:r>
              <a:rPr lang="en-US" sz="4000"/>
              <a:t>Time series </a:t>
            </a:r>
          </a:p>
        </p:txBody>
      </p:sp>
      <p:graphicFrame>
        <p:nvGraphicFramePr>
          <p:cNvPr id="4" name="Content Placeholder 3">
            <a:extLst>
              <a:ext uri="{FF2B5EF4-FFF2-40B4-BE49-F238E27FC236}">
                <a16:creationId xmlns:a16="http://schemas.microsoft.com/office/drawing/2014/main" id="{0593C33F-D7D5-5B72-D984-D82252B74CC5}"/>
              </a:ext>
            </a:extLst>
          </p:cNvPr>
          <p:cNvGraphicFramePr>
            <a:graphicFrameLocks noGrp="1"/>
          </p:cNvGraphicFramePr>
          <p:nvPr>
            <p:ph idx="1"/>
          </p:nvPr>
        </p:nvGraphicFramePr>
        <p:xfrm>
          <a:off x="897372" y="1737360"/>
          <a:ext cx="10388113" cy="4535426"/>
        </p:xfrm>
        <a:graphic>
          <a:graphicData uri="http://schemas.openxmlformats.org/drawingml/2006/table">
            <a:tbl>
              <a:tblPr/>
              <a:tblGrid>
                <a:gridCol w="1651122">
                  <a:extLst>
                    <a:ext uri="{9D8B030D-6E8A-4147-A177-3AD203B41FA5}">
                      <a16:colId xmlns:a16="http://schemas.microsoft.com/office/drawing/2014/main" val="1539270909"/>
                    </a:ext>
                  </a:extLst>
                </a:gridCol>
                <a:gridCol w="4390543">
                  <a:extLst>
                    <a:ext uri="{9D8B030D-6E8A-4147-A177-3AD203B41FA5}">
                      <a16:colId xmlns:a16="http://schemas.microsoft.com/office/drawing/2014/main" val="793557173"/>
                    </a:ext>
                  </a:extLst>
                </a:gridCol>
                <a:gridCol w="4346448">
                  <a:extLst>
                    <a:ext uri="{9D8B030D-6E8A-4147-A177-3AD203B41FA5}">
                      <a16:colId xmlns:a16="http://schemas.microsoft.com/office/drawing/2014/main" val="1326830952"/>
                    </a:ext>
                  </a:extLst>
                </a:gridCol>
              </a:tblGrid>
              <a:tr h="498897">
                <a:tc>
                  <a:txBody>
                    <a:bodyPr/>
                    <a:lstStyle/>
                    <a:p>
                      <a:pPr algn="l" fontAlgn="ctr">
                        <a:buNone/>
                      </a:pPr>
                      <a:r>
                        <a:rPr lang="en-US" sz="2200" b="0" i="0" u="none" strike="noStrike">
                          <a:effectLst/>
                          <a:latin typeface="Arial" panose="020B0604020202020204" pitchFamily="34" charset="0"/>
                        </a:rPr>
                        <a:t>S.No</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Aim</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Techniques</a:t>
                      </a:r>
                    </a:p>
                  </a:txBody>
                  <a:tcPr marL="113386" marR="113386" marT="56693" marB="56693" anchor="ctr">
                    <a:lnL>
                      <a:noFill/>
                    </a:lnL>
                    <a:lnR>
                      <a:noFill/>
                    </a:lnR>
                    <a:lnT>
                      <a:noFill/>
                    </a:lnT>
                    <a:lnB>
                      <a:noFill/>
                    </a:lnB>
                    <a:noFill/>
                  </a:tcPr>
                </a:tc>
                <a:extLst>
                  <a:ext uri="{0D108BD9-81ED-4DB2-BD59-A6C34878D82A}">
                    <a16:rowId xmlns:a16="http://schemas.microsoft.com/office/drawing/2014/main" val="118715614"/>
                  </a:ext>
                </a:extLst>
              </a:tr>
              <a:tr h="839054">
                <a:tc>
                  <a:txBody>
                    <a:bodyPr/>
                    <a:lstStyle/>
                    <a:p>
                      <a:pPr algn="l" fontAlgn="ctr">
                        <a:buNone/>
                      </a:pPr>
                      <a:r>
                        <a:rPr lang="en-US" sz="2200" b="0" i="0" u="none" strike="noStrike">
                          <a:effectLst/>
                          <a:latin typeface="Arial" panose="020B0604020202020204" pitchFamily="34" charset="0"/>
                        </a:rPr>
                        <a:t>1</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Understanding patterns and trends over time</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Line Plots, Moving Averages, Decomposition</a:t>
                      </a:r>
                    </a:p>
                  </a:txBody>
                  <a:tcPr marL="113386" marR="113386" marT="56693" marB="56693" anchor="ctr">
                    <a:lnL>
                      <a:noFill/>
                    </a:lnL>
                    <a:lnR>
                      <a:noFill/>
                    </a:lnR>
                    <a:lnT>
                      <a:noFill/>
                    </a:lnT>
                    <a:lnB>
                      <a:noFill/>
                    </a:lnB>
                    <a:noFill/>
                  </a:tcPr>
                </a:tc>
                <a:extLst>
                  <a:ext uri="{0D108BD9-81ED-4DB2-BD59-A6C34878D82A}">
                    <a16:rowId xmlns:a16="http://schemas.microsoft.com/office/drawing/2014/main" val="3472241124"/>
                  </a:ext>
                </a:extLst>
              </a:tr>
              <a:tr h="839054">
                <a:tc>
                  <a:txBody>
                    <a:bodyPr/>
                    <a:lstStyle/>
                    <a:p>
                      <a:pPr algn="l" fontAlgn="ctr">
                        <a:buNone/>
                      </a:pPr>
                      <a:r>
                        <a:rPr lang="en-US" sz="2200" b="0" i="0" u="none" strike="noStrike">
                          <a:effectLst/>
                          <a:latin typeface="Arial" panose="020B0604020202020204" pitchFamily="34" charset="0"/>
                        </a:rPr>
                        <a:t>2</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dirty="0">
                          <a:effectLst/>
                          <a:latin typeface="Arial" panose="020B0604020202020204" pitchFamily="34" charset="0"/>
                        </a:rPr>
                        <a:t>Diagnosing relationships across time</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Cross-Correlation, Granger Causality, Autocorrelation</a:t>
                      </a:r>
                    </a:p>
                  </a:txBody>
                  <a:tcPr marL="113386" marR="113386" marT="56693" marB="56693" anchor="ctr">
                    <a:lnL>
                      <a:noFill/>
                    </a:lnL>
                    <a:lnR>
                      <a:noFill/>
                    </a:lnR>
                    <a:lnT>
                      <a:noFill/>
                    </a:lnT>
                    <a:lnB>
                      <a:noFill/>
                    </a:lnB>
                    <a:noFill/>
                  </a:tcPr>
                </a:tc>
                <a:extLst>
                  <a:ext uri="{0D108BD9-81ED-4DB2-BD59-A6C34878D82A}">
                    <a16:rowId xmlns:a16="http://schemas.microsoft.com/office/drawing/2014/main" val="1067126227"/>
                  </a:ext>
                </a:extLst>
              </a:tr>
              <a:tr h="839054">
                <a:tc>
                  <a:txBody>
                    <a:bodyPr/>
                    <a:lstStyle/>
                    <a:p>
                      <a:pPr algn="l" fontAlgn="ctr">
                        <a:buNone/>
                      </a:pPr>
                      <a:r>
                        <a:rPr lang="en-US" sz="2200" b="0" i="0" u="none" strike="noStrike">
                          <a:effectLst/>
                          <a:latin typeface="Arial" panose="020B0604020202020204" pitchFamily="34" charset="0"/>
                        </a:rPr>
                        <a:t>3</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Predicting future values</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ARIMA, SARIMA, Exponential Smoothing, LSTM, Prophet</a:t>
                      </a:r>
                    </a:p>
                  </a:txBody>
                  <a:tcPr marL="113386" marR="113386" marT="56693" marB="56693" anchor="ctr">
                    <a:lnL>
                      <a:noFill/>
                    </a:lnL>
                    <a:lnR>
                      <a:noFill/>
                    </a:lnR>
                    <a:lnT>
                      <a:noFill/>
                    </a:lnT>
                    <a:lnB>
                      <a:noFill/>
                    </a:lnB>
                    <a:noFill/>
                  </a:tcPr>
                </a:tc>
                <a:extLst>
                  <a:ext uri="{0D108BD9-81ED-4DB2-BD59-A6C34878D82A}">
                    <a16:rowId xmlns:a16="http://schemas.microsoft.com/office/drawing/2014/main" val="3575363086"/>
                  </a:ext>
                </a:extLst>
              </a:tr>
              <a:tr h="1519367">
                <a:tc>
                  <a:txBody>
                    <a:bodyPr/>
                    <a:lstStyle/>
                    <a:p>
                      <a:pPr algn="l" fontAlgn="ctr">
                        <a:buNone/>
                      </a:pPr>
                      <a:r>
                        <a:rPr lang="en-US" sz="2200" b="0" i="0" u="none" strike="noStrike">
                          <a:effectLst/>
                          <a:latin typeface="Arial" panose="020B0604020202020204" pitchFamily="34" charset="0"/>
                        </a:rPr>
                        <a:t>4</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Prescribing actions based on forecasts</a:t>
                      </a:r>
                    </a:p>
                  </a:txBody>
                  <a:tcPr marL="113386" marR="113386" marT="56693" marB="56693" anchor="ctr">
                    <a:lnL>
                      <a:noFill/>
                    </a:lnL>
                    <a:lnR>
                      <a:noFill/>
                    </a:lnR>
                    <a:lnT>
                      <a:noFill/>
                    </a:lnT>
                    <a:lnB>
                      <a:noFill/>
                    </a:lnB>
                    <a:noFill/>
                  </a:tcPr>
                </a:tc>
                <a:tc>
                  <a:txBody>
                    <a:bodyPr/>
                    <a:lstStyle/>
                    <a:p>
                      <a:pPr algn="l" fontAlgn="ctr">
                        <a:buNone/>
                      </a:pPr>
                      <a:r>
                        <a:rPr lang="en-US" sz="2200" b="0" i="0" u="none" strike="noStrike">
                          <a:effectLst/>
                          <a:latin typeface="Arial" panose="020B0604020202020204" pitchFamily="34" charset="0"/>
                        </a:rPr>
                        <a:t>Scenario Analysis, Inventory/Capacity Planning, Optimization based on Forecasts</a:t>
                      </a:r>
                    </a:p>
                  </a:txBody>
                  <a:tcPr marL="113386" marR="113386" marT="56693" marB="56693" anchor="ctr">
                    <a:lnL>
                      <a:noFill/>
                    </a:lnL>
                    <a:lnR>
                      <a:noFill/>
                    </a:lnR>
                    <a:lnT>
                      <a:noFill/>
                    </a:lnT>
                    <a:lnB>
                      <a:noFill/>
                    </a:lnB>
                    <a:noFill/>
                  </a:tcPr>
                </a:tc>
                <a:extLst>
                  <a:ext uri="{0D108BD9-81ED-4DB2-BD59-A6C34878D82A}">
                    <a16:rowId xmlns:a16="http://schemas.microsoft.com/office/drawing/2014/main" val="3353163224"/>
                  </a:ext>
                </a:extLst>
              </a:tr>
            </a:tbl>
          </a:graphicData>
        </a:graphic>
      </p:graphicFrame>
    </p:spTree>
    <p:extLst>
      <p:ext uri="{BB962C8B-B14F-4D97-AF65-F5344CB8AC3E}">
        <p14:creationId xmlns:p14="http://schemas.microsoft.com/office/powerpoint/2010/main" val="4780542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31EEE-76CF-6248-5698-F1E99B0A3657}"/>
              </a:ext>
            </a:extLst>
          </p:cNvPr>
          <p:cNvSpPr>
            <a:spLocks noGrp="1"/>
          </p:cNvSpPr>
          <p:nvPr>
            <p:ph type="title"/>
          </p:nvPr>
        </p:nvSpPr>
        <p:spPr>
          <a:xfrm>
            <a:off x="841248" y="334644"/>
            <a:ext cx="10509504" cy="1076914"/>
          </a:xfrm>
        </p:spPr>
        <p:txBody>
          <a:bodyPr anchor="ctr">
            <a:normAutofit/>
          </a:bodyPr>
          <a:lstStyle/>
          <a:p>
            <a:pPr algn="ctr"/>
            <a:r>
              <a:rPr lang="en-US" sz="4000" dirty="0"/>
              <a:t>Panel Data Analytics</a:t>
            </a:r>
          </a:p>
        </p:txBody>
      </p:sp>
      <p:graphicFrame>
        <p:nvGraphicFramePr>
          <p:cNvPr id="4" name="Content Placeholder 3">
            <a:extLst>
              <a:ext uri="{FF2B5EF4-FFF2-40B4-BE49-F238E27FC236}">
                <a16:creationId xmlns:a16="http://schemas.microsoft.com/office/drawing/2014/main" id="{671CFEDF-2B59-8FD3-17A9-F67F35689987}"/>
              </a:ext>
            </a:extLst>
          </p:cNvPr>
          <p:cNvGraphicFramePr>
            <a:graphicFrameLocks noGrp="1"/>
          </p:cNvGraphicFramePr>
          <p:nvPr>
            <p:ph idx="1"/>
          </p:nvPr>
        </p:nvGraphicFramePr>
        <p:xfrm>
          <a:off x="1822538" y="1737360"/>
          <a:ext cx="8537781" cy="4535426"/>
        </p:xfrm>
        <a:graphic>
          <a:graphicData uri="http://schemas.openxmlformats.org/drawingml/2006/table">
            <a:tbl>
              <a:tblPr firstRow="1" bandRow="1"/>
              <a:tblGrid>
                <a:gridCol w="1321854">
                  <a:extLst>
                    <a:ext uri="{9D8B030D-6E8A-4147-A177-3AD203B41FA5}">
                      <a16:colId xmlns:a16="http://schemas.microsoft.com/office/drawing/2014/main" val="1465931983"/>
                    </a:ext>
                  </a:extLst>
                </a:gridCol>
                <a:gridCol w="3548121">
                  <a:extLst>
                    <a:ext uri="{9D8B030D-6E8A-4147-A177-3AD203B41FA5}">
                      <a16:colId xmlns:a16="http://schemas.microsoft.com/office/drawing/2014/main" val="3894757020"/>
                    </a:ext>
                  </a:extLst>
                </a:gridCol>
                <a:gridCol w="3667806">
                  <a:extLst>
                    <a:ext uri="{9D8B030D-6E8A-4147-A177-3AD203B41FA5}">
                      <a16:colId xmlns:a16="http://schemas.microsoft.com/office/drawing/2014/main" val="1417652952"/>
                    </a:ext>
                  </a:extLst>
                </a:gridCol>
              </a:tblGrid>
              <a:tr h="407263">
                <a:tc>
                  <a:txBody>
                    <a:bodyPr/>
                    <a:lstStyle/>
                    <a:p>
                      <a:pPr>
                        <a:buNone/>
                      </a:pPr>
                      <a:r>
                        <a:rPr lang="en-US" sz="1800"/>
                        <a:t>S.No</a:t>
                      </a:r>
                    </a:p>
                  </a:txBody>
                  <a:tcPr marL="92560" marR="92560" marT="46280" marB="46280" anchor="ctr">
                    <a:lnL>
                      <a:noFill/>
                    </a:lnL>
                    <a:lnR>
                      <a:noFill/>
                    </a:lnR>
                    <a:lnT>
                      <a:noFill/>
                    </a:lnT>
                    <a:lnB>
                      <a:noFill/>
                    </a:lnB>
                    <a:noFill/>
                  </a:tcPr>
                </a:tc>
                <a:tc>
                  <a:txBody>
                    <a:bodyPr/>
                    <a:lstStyle/>
                    <a:p>
                      <a:pPr>
                        <a:buNone/>
                      </a:pPr>
                      <a:r>
                        <a:rPr lang="en-US" sz="1800"/>
                        <a:t>Aim</a:t>
                      </a:r>
                    </a:p>
                  </a:txBody>
                  <a:tcPr marL="92560" marR="92560" marT="46280" marB="46280" anchor="ctr">
                    <a:lnL>
                      <a:noFill/>
                    </a:lnL>
                    <a:lnR>
                      <a:noFill/>
                    </a:lnR>
                    <a:lnT>
                      <a:noFill/>
                    </a:lnT>
                    <a:lnB>
                      <a:noFill/>
                    </a:lnB>
                    <a:noFill/>
                  </a:tcPr>
                </a:tc>
                <a:tc>
                  <a:txBody>
                    <a:bodyPr/>
                    <a:lstStyle/>
                    <a:p>
                      <a:pPr>
                        <a:buNone/>
                      </a:pPr>
                      <a:r>
                        <a:rPr lang="en-US" sz="1800"/>
                        <a:t>Techniques</a:t>
                      </a:r>
                    </a:p>
                  </a:txBody>
                  <a:tcPr marL="92560" marR="92560" marT="46280" marB="46280" anchor="ctr">
                    <a:lnL>
                      <a:noFill/>
                    </a:lnL>
                    <a:lnR>
                      <a:noFill/>
                    </a:lnR>
                    <a:lnT>
                      <a:noFill/>
                    </a:lnT>
                    <a:lnB>
                      <a:noFill/>
                    </a:lnB>
                    <a:noFill/>
                  </a:tcPr>
                </a:tc>
                <a:extLst>
                  <a:ext uri="{0D108BD9-81ED-4DB2-BD59-A6C34878D82A}">
                    <a16:rowId xmlns:a16="http://schemas.microsoft.com/office/drawing/2014/main" val="2135388355"/>
                  </a:ext>
                </a:extLst>
              </a:tr>
              <a:tr h="962621">
                <a:tc>
                  <a:txBody>
                    <a:bodyPr/>
                    <a:lstStyle/>
                    <a:p>
                      <a:pPr>
                        <a:buNone/>
                      </a:pPr>
                      <a:r>
                        <a:rPr lang="en-US" sz="1800"/>
                        <a:t>1</a:t>
                      </a:r>
                    </a:p>
                  </a:txBody>
                  <a:tcPr marL="92560" marR="92560" marT="46280" marB="46280" anchor="ctr">
                    <a:lnL>
                      <a:noFill/>
                    </a:lnL>
                    <a:lnR>
                      <a:noFill/>
                    </a:lnR>
                    <a:lnT>
                      <a:noFill/>
                    </a:lnT>
                    <a:lnB>
                      <a:noFill/>
                    </a:lnB>
                    <a:noFill/>
                  </a:tcPr>
                </a:tc>
                <a:tc>
                  <a:txBody>
                    <a:bodyPr/>
                    <a:lstStyle/>
                    <a:p>
                      <a:pPr>
                        <a:buNone/>
                      </a:pPr>
                      <a:r>
                        <a:rPr lang="en-US" sz="1800"/>
                        <a:t>Diagnosing relationships between variables over time and across entities</a:t>
                      </a:r>
                    </a:p>
                  </a:txBody>
                  <a:tcPr marL="92560" marR="92560" marT="46280" marB="46280" anchor="ctr">
                    <a:lnL>
                      <a:noFill/>
                    </a:lnL>
                    <a:lnR>
                      <a:noFill/>
                    </a:lnR>
                    <a:lnT>
                      <a:noFill/>
                    </a:lnT>
                    <a:lnB>
                      <a:noFill/>
                    </a:lnB>
                    <a:noFill/>
                  </a:tcPr>
                </a:tc>
                <a:tc>
                  <a:txBody>
                    <a:bodyPr/>
                    <a:lstStyle/>
                    <a:p>
                      <a:pPr>
                        <a:buNone/>
                      </a:pPr>
                      <a:r>
                        <a:rPr lang="en-US" sz="1800"/>
                        <a:t>Fixed Effects Model, Random Effects Model, Correlation, Granger Causality</a:t>
                      </a:r>
                    </a:p>
                  </a:txBody>
                  <a:tcPr marL="92560" marR="92560" marT="46280" marB="46280" anchor="ctr">
                    <a:lnL>
                      <a:noFill/>
                    </a:lnL>
                    <a:lnR>
                      <a:noFill/>
                    </a:lnR>
                    <a:lnT>
                      <a:noFill/>
                    </a:lnT>
                    <a:lnB>
                      <a:noFill/>
                    </a:lnB>
                    <a:noFill/>
                  </a:tcPr>
                </a:tc>
                <a:extLst>
                  <a:ext uri="{0D108BD9-81ED-4DB2-BD59-A6C34878D82A}">
                    <a16:rowId xmlns:a16="http://schemas.microsoft.com/office/drawing/2014/main" val="1311224977"/>
                  </a:ext>
                </a:extLst>
              </a:tr>
              <a:tr h="962621">
                <a:tc>
                  <a:txBody>
                    <a:bodyPr/>
                    <a:lstStyle/>
                    <a:p>
                      <a:pPr>
                        <a:buNone/>
                      </a:pPr>
                      <a:r>
                        <a:rPr lang="en-US" sz="1800"/>
                        <a:t>2</a:t>
                      </a:r>
                    </a:p>
                  </a:txBody>
                  <a:tcPr marL="92560" marR="92560" marT="46280" marB="46280" anchor="ctr">
                    <a:lnL>
                      <a:noFill/>
                    </a:lnL>
                    <a:lnR>
                      <a:noFill/>
                    </a:lnR>
                    <a:lnT>
                      <a:noFill/>
                    </a:lnT>
                    <a:lnB>
                      <a:noFill/>
                    </a:lnB>
                    <a:noFill/>
                  </a:tcPr>
                </a:tc>
                <a:tc>
                  <a:txBody>
                    <a:bodyPr/>
                    <a:lstStyle/>
                    <a:p>
                      <a:pPr>
                        <a:buNone/>
                      </a:pPr>
                      <a:r>
                        <a:rPr lang="en-US" sz="1800"/>
                        <a:t>Understanding differences between groups or entities over time</a:t>
                      </a:r>
                    </a:p>
                  </a:txBody>
                  <a:tcPr marL="92560" marR="92560" marT="46280" marB="46280" anchor="ctr">
                    <a:lnL>
                      <a:noFill/>
                    </a:lnL>
                    <a:lnR>
                      <a:noFill/>
                    </a:lnR>
                    <a:lnT>
                      <a:noFill/>
                    </a:lnT>
                    <a:lnB>
                      <a:noFill/>
                    </a:lnB>
                    <a:noFill/>
                  </a:tcPr>
                </a:tc>
                <a:tc>
                  <a:txBody>
                    <a:bodyPr/>
                    <a:lstStyle/>
                    <a:p>
                      <a:pPr>
                        <a:buNone/>
                      </a:pPr>
                      <a:r>
                        <a:rPr lang="en-US" sz="1800"/>
                        <a:t>Difference-in-Differences (DiD), ANOVA for repeated measures, Mixed Models</a:t>
                      </a:r>
                    </a:p>
                  </a:txBody>
                  <a:tcPr marL="92560" marR="92560" marT="46280" marB="46280" anchor="ctr">
                    <a:lnL>
                      <a:noFill/>
                    </a:lnL>
                    <a:lnR>
                      <a:noFill/>
                    </a:lnR>
                    <a:lnT>
                      <a:noFill/>
                    </a:lnT>
                    <a:lnB>
                      <a:noFill/>
                    </a:lnB>
                    <a:noFill/>
                  </a:tcPr>
                </a:tc>
                <a:extLst>
                  <a:ext uri="{0D108BD9-81ED-4DB2-BD59-A6C34878D82A}">
                    <a16:rowId xmlns:a16="http://schemas.microsoft.com/office/drawing/2014/main" val="252621996"/>
                  </a:ext>
                </a:extLst>
              </a:tr>
              <a:tr h="1240300">
                <a:tc>
                  <a:txBody>
                    <a:bodyPr/>
                    <a:lstStyle/>
                    <a:p>
                      <a:pPr>
                        <a:buNone/>
                      </a:pPr>
                      <a:r>
                        <a:rPr lang="en-US" sz="1800"/>
                        <a:t>3</a:t>
                      </a:r>
                    </a:p>
                  </a:txBody>
                  <a:tcPr marL="92560" marR="92560" marT="46280" marB="46280" anchor="ctr">
                    <a:lnL>
                      <a:noFill/>
                    </a:lnL>
                    <a:lnR>
                      <a:noFill/>
                    </a:lnR>
                    <a:lnT>
                      <a:noFill/>
                    </a:lnT>
                    <a:lnB>
                      <a:noFill/>
                    </a:lnB>
                    <a:noFill/>
                  </a:tcPr>
                </a:tc>
                <a:tc>
                  <a:txBody>
                    <a:bodyPr/>
                    <a:lstStyle/>
                    <a:p>
                      <a:pPr>
                        <a:buNone/>
                      </a:pPr>
                      <a:r>
                        <a:rPr lang="en-US" sz="1800"/>
                        <a:t>Predicting outcomes using past and current data</a:t>
                      </a:r>
                    </a:p>
                  </a:txBody>
                  <a:tcPr marL="92560" marR="92560" marT="46280" marB="46280" anchor="ctr">
                    <a:lnL>
                      <a:noFill/>
                    </a:lnL>
                    <a:lnR>
                      <a:noFill/>
                    </a:lnR>
                    <a:lnT>
                      <a:noFill/>
                    </a:lnT>
                    <a:lnB>
                      <a:noFill/>
                    </a:lnB>
                    <a:noFill/>
                  </a:tcPr>
                </a:tc>
                <a:tc>
                  <a:txBody>
                    <a:bodyPr/>
                    <a:lstStyle/>
                    <a:p>
                      <a:pPr>
                        <a:buNone/>
                      </a:pPr>
                      <a:r>
                        <a:rPr lang="en-US" sz="1800"/>
                        <a:t>Panel Regression, Dynamic Panel Models (e.g., Arellano-Bond), Machine Learning Models with temporal features</a:t>
                      </a:r>
                    </a:p>
                  </a:txBody>
                  <a:tcPr marL="92560" marR="92560" marT="46280" marB="46280" anchor="ctr">
                    <a:lnL>
                      <a:noFill/>
                    </a:lnL>
                    <a:lnR>
                      <a:noFill/>
                    </a:lnR>
                    <a:lnT>
                      <a:noFill/>
                    </a:lnT>
                    <a:lnB>
                      <a:noFill/>
                    </a:lnB>
                    <a:noFill/>
                  </a:tcPr>
                </a:tc>
                <a:extLst>
                  <a:ext uri="{0D108BD9-81ED-4DB2-BD59-A6C34878D82A}">
                    <a16:rowId xmlns:a16="http://schemas.microsoft.com/office/drawing/2014/main" val="1770153261"/>
                  </a:ext>
                </a:extLst>
              </a:tr>
              <a:tr h="962621">
                <a:tc>
                  <a:txBody>
                    <a:bodyPr/>
                    <a:lstStyle/>
                    <a:p>
                      <a:pPr>
                        <a:buNone/>
                      </a:pPr>
                      <a:r>
                        <a:rPr lang="en-US" sz="1800"/>
                        <a:t>4</a:t>
                      </a:r>
                    </a:p>
                  </a:txBody>
                  <a:tcPr marL="92560" marR="92560" marT="46280" marB="46280" anchor="ctr">
                    <a:lnL>
                      <a:noFill/>
                    </a:lnL>
                    <a:lnR>
                      <a:noFill/>
                    </a:lnR>
                    <a:lnT>
                      <a:noFill/>
                    </a:lnT>
                    <a:lnB>
                      <a:noFill/>
                    </a:lnB>
                    <a:noFill/>
                  </a:tcPr>
                </a:tc>
                <a:tc>
                  <a:txBody>
                    <a:bodyPr/>
                    <a:lstStyle/>
                    <a:p>
                      <a:pPr>
                        <a:buNone/>
                      </a:pPr>
                      <a:r>
                        <a:rPr lang="en-US" sz="1800"/>
                        <a:t>Prescribing actions based on insights and forecasts</a:t>
                      </a:r>
                    </a:p>
                  </a:txBody>
                  <a:tcPr marL="92560" marR="92560" marT="46280" marB="46280" anchor="ctr">
                    <a:lnL>
                      <a:noFill/>
                    </a:lnL>
                    <a:lnR>
                      <a:noFill/>
                    </a:lnR>
                    <a:lnT>
                      <a:noFill/>
                    </a:lnT>
                    <a:lnB>
                      <a:noFill/>
                    </a:lnB>
                    <a:noFill/>
                  </a:tcPr>
                </a:tc>
                <a:tc>
                  <a:txBody>
                    <a:bodyPr/>
                    <a:lstStyle/>
                    <a:p>
                      <a:pPr>
                        <a:buNone/>
                      </a:pPr>
                      <a:r>
                        <a:rPr lang="en-US" sz="1800"/>
                        <a:t>Scenario Analysis, Policy Simulation, Optimization based on panel forecasts</a:t>
                      </a:r>
                    </a:p>
                  </a:txBody>
                  <a:tcPr marL="92560" marR="92560" marT="46280" marB="46280" anchor="ctr">
                    <a:lnL>
                      <a:noFill/>
                    </a:lnL>
                    <a:lnR>
                      <a:noFill/>
                    </a:lnR>
                    <a:lnT>
                      <a:noFill/>
                    </a:lnT>
                    <a:lnB>
                      <a:noFill/>
                    </a:lnB>
                    <a:noFill/>
                  </a:tcPr>
                </a:tc>
                <a:extLst>
                  <a:ext uri="{0D108BD9-81ED-4DB2-BD59-A6C34878D82A}">
                    <a16:rowId xmlns:a16="http://schemas.microsoft.com/office/drawing/2014/main" val="1222048247"/>
                  </a:ext>
                </a:extLst>
              </a:tr>
            </a:tbl>
          </a:graphicData>
        </a:graphic>
      </p:graphicFrame>
    </p:spTree>
    <p:extLst>
      <p:ext uri="{BB962C8B-B14F-4D97-AF65-F5344CB8AC3E}">
        <p14:creationId xmlns:p14="http://schemas.microsoft.com/office/powerpoint/2010/main" val="16148031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C199C-393B-6F96-BE7A-FF39C820580A}"/>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1D3ADC74-A2A6-FFC0-ED9C-AA685CEAA027}"/>
              </a:ext>
            </a:extLst>
          </p:cNvPr>
          <p:cNvSpPr>
            <a:spLocks noGrp="1"/>
          </p:cNvSpPr>
          <p:nvPr>
            <p:ph idx="1"/>
          </p:nvPr>
        </p:nvSpPr>
        <p:spPr/>
        <p:txBody>
          <a:bodyPr/>
          <a:lstStyle/>
          <a:p>
            <a:r>
              <a:rPr lang="en-US" dirty="0"/>
              <a:t>So, starting from now, we will explore multiple dataset and apply these techniques.</a:t>
            </a:r>
          </a:p>
          <a:p>
            <a:endParaRPr lang="en-US" dirty="0"/>
          </a:p>
          <a:p>
            <a:r>
              <a:rPr lang="en-US" b="1" dirty="0">
                <a:solidFill>
                  <a:srgbClr val="FF0000"/>
                </a:solidFill>
              </a:rPr>
              <a:t>QUESTION, COMMENTS and SUGGESTION. </a:t>
            </a:r>
          </a:p>
        </p:txBody>
      </p:sp>
    </p:spTree>
    <p:extLst>
      <p:ext uri="{BB962C8B-B14F-4D97-AF65-F5344CB8AC3E}">
        <p14:creationId xmlns:p14="http://schemas.microsoft.com/office/powerpoint/2010/main" val="10180938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A85B52-2D04-B1C1-4D13-7CF699966F42}"/>
              </a:ext>
            </a:extLst>
          </p:cNvPr>
          <p:cNvSpPr>
            <a:spLocks noGrp="1"/>
          </p:cNvSpPr>
          <p:nvPr>
            <p:ph type="title"/>
          </p:nvPr>
        </p:nvSpPr>
        <p:spPr/>
        <p:txBody>
          <a:bodyPr/>
          <a:lstStyle/>
          <a:p>
            <a:pPr algn="ctr"/>
            <a:r>
              <a:rPr lang="en-US" dirty="0"/>
              <a:t>Sources of Business Data </a:t>
            </a:r>
          </a:p>
        </p:txBody>
      </p:sp>
      <p:sp>
        <p:nvSpPr>
          <p:cNvPr id="5" name="Text Placeholder 4">
            <a:extLst>
              <a:ext uri="{FF2B5EF4-FFF2-40B4-BE49-F238E27FC236}">
                <a16:creationId xmlns:a16="http://schemas.microsoft.com/office/drawing/2014/main" id="{D2BF3611-D75B-20DA-AF9A-A5DAE7A66FA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234835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8E75E7-4775-9522-285F-BB06CD61DD6D}"/>
              </a:ext>
            </a:extLst>
          </p:cNvPr>
          <p:cNvSpPr>
            <a:spLocks noGrp="1"/>
          </p:cNvSpPr>
          <p:nvPr>
            <p:ph type="title"/>
          </p:nvPr>
        </p:nvSpPr>
        <p:spPr>
          <a:xfrm>
            <a:off x="838200" y="365125"/>
            <a:ext cx="10515600" cy="766445"/>
          </a:xfrm>
        </p:spPr>
        <p:txBody>
          <a:bodyPr/>
          <a:lstStyle/>
          <a:p>
            <a:pPr algn="ctr"/>
            <a:r>
              <a:rPr lang="en-US" dirty="0"/>
              <a:t>Data </a:t>
            </a:r>
          </a:p>
        </p:txBody>
      </p:sp>
      <p:sp>
        <p:nvSpPr>
          <p:cNvPr id="5" name="Content Placeholder 4">
            <a:extLst>
              <a:ext uri="{FF2B5EF4-FFF2-40B4-BE49-F238E27FC236}">
                <a16:creationId xmlns:a16="http://schemas.microsoft.com/office/drawing/2014/main" id="{A67D40E0-9DEA-7DFD-D0FE-405574763E48}"/>
              </a:ext>
            </a:extLst>
          </p:cNvPr>
          <p:cNvSpPr>
            <a:spLocks noGrp="1"/>
          </p:cNvSpPr>
          <p:nvPr>
            <p:ph idx="1"/>
          </p:nvPr>
        </p:nvSpPr>
        <p:spPr>
          <a:xfrm>
            <a:off x="838200" y="1131570"/>
            <a:ext cx="10515600" cy="5045393"/>
          </a:xfrm>
        </p:spPr>
        <p:txBody>
          <a:bodyPr/>
          <a:lstStyle/>
          <a:p>
            <a:r>
              <a:rPr lang="en-US" b="1" dirty="0"/>
              <a:t>Primary Data </a:t>
            </a:r>
          </a:p>
          <a:p>
            <a:pPr marL="457200" indent="-457200">
              <a:buFont typeface="+mj-lt"/>
              <a:buAutoNum type="arabicPeriod"/>
            </a:pPr>
            <a:r>
              <a:rPr lang="en-US" dirty="0"/>
              <a:t>Survey </a:t>
            </a:r>
          </a:p>
          <a:p>
            <a:pPr marL="457200" indent="-457200">
              <a:buFont typeface="+mj-lt"/>
              <a:buAutoNum type="arabicPeriod"/>
            </a:pPr>
            <a:r>
              <a:rPr lang="en-US" dirty="0"/>
              <a:t>Interviews</a:t>
            </a:r>
          </a:p>
          <a:p>
            <a:pPr marL="457200" indent="-457200">
              <a:buFont typeface="+mj-lt"/>
              <a:buAutoNum type="arabicPeriod"/>
            </a:pPr>
            <a:r>
              <a:rPr lang="en-US" dirty="0"/>
              <a:t>Focus group discussion</a:t>
            </a:r>
          </a:p>
          <a:p>
            <a:pPr marL="457200" indent="-457200">
              <a:buFont typeface="+mj-lt"/>
              <a:buAutoNum type="arabicPeriod"/>
            </a:pPr>
            <a:endParaRPr lang="en-US" dirty="0"/>
          </a:p>
          <a:p>
            <a:r>
              <a:rPr lang="en-US" b="1" dirty="0"/>
              <a:t>Secondary Source</a:t>
            </a:r>
          </a:p>
          <a:p>
            <a:r>
              <a:rPr lang="en-US" dirty="0"/>
              <a:t>The data which is second-hand in nature meaning already collected and reported (e.g. stock price) by </a:t>
            </a:r>
            <a:r>
              <a:rPr lang="en-US" b="1" i="1" dirty="0"/>
              <a:t>other </a:t>
            </a:r>
            <a:r>
              <a:rPr lang="en-US" i="1" dirty="0"/>
              <a:t>(government, companies, individual).</a:t>
            </a:r>
          </a:p>
          <a:p>
            <a:endParaRPr lang="en-US" i="1" dirty="0"/>
          </a:p>
          <a:p>
            <a:r>
              <a:rPr lang="en-US" i="1" dirty="0">
                <a:solidFill>
                  <a:srgbClr val="FF0000"/>
                </a:solidFill>
              </a:rPr>
              <a:t>Most of course focuses upon secondary source of data.</a:t>
            </a:r>
          </a:p>
          <a:p>
            <a:endParaRPr lang="en-US" i="1" dirty="0"/>
          </a:p>
        </p:txBody>
      </p:sp>
    </p:spTree>
    <p:extLst>
      <p:ext uri="{BB962C8B-B14F-4D97-AF65-F5344CB8AC3E}">
        <p14:creationId xmlns:p14="http://schemas.microsoft.com/office/powerpoint/2010/main" val="2661770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0997-5EDF-F901-DFE5-47502C22856A}"/>
              </a:ext>
            </a:extLst>
          </p:cNvPr>
          <p:cNvSpPr>
            <a:spLocks noGrp="1"/>
          </p:cNvSpPr>
          <p:nvPr>
            <p:ph type="title"/>
          </p:nvPr>
        </p:nvSpPr>
        <p:spPr>
          <a:xfrm>
            <a:off x="640080" y="325369"/>
            <a:ext cx="4368602" cy="1956841"/>
          </a:xfrm>
        </p:spPr>
        <p:txBody>
          <a:bodyPr anchor="b">
            <a:normAutofit fontScale="90000"/>
          </a:bodyPr>
          <a:lstStyle/>
          <a:p>
            <a:r>
              <a:rPr lang="en-US" sz="4200" dirty="0"/>
              <a:t>Open Access Datasets: Traditional Sources </a:t>
            </a:r>
          </a:p>
        </p:txBody>
      </p:sp>
      <p:sp>
        <p:nvSpPr>
          <p:cNvPr id="3" name="Content Placeholder 2">
            <a:extLst>
              <a:ext uri="{FF2B5EF4-FFF2-40B4-BE49-F238E27FC236}">
                <a16:creationId xmlns:a16="http://schemas.microsoft.com/office/drawing/2014/main" id="{A1FB419C-88FD-0513-ECD5-A7744C459C4B}"/>
              </a:ext>
            </a:extLst>
          </p:cNvPr>
          <p:cNvSpPr>
            <a:spLocks noGrp="1"/>
          </p:cNvSpPr>
          <p:nvPr>
            <p:ph idx="1"/>
          </p:nvPr>
        </p:nvSpPr>
        <p:spPr>
          <a:xfrm>
            <a:off x="640080" y="2872899"/>
            <a:ext cx="4243589" cy="3320668"/>
          </a:xfrm>
        </p:spPr>
        <p:txBody>
          <a:bodyPr>
            <a:normAutofit/>
          </a:bodyPr>
          <a:lstStyle/>
          <a:p>
            <a:r>
              <a:rPr lang="en-US" sz="2200" dirty="0">
                <a:hlinkClick r:id="rId2">
                  <a:extLst>
                    <a:ext uri="{A12FA001-AC4F-418D-AE19-62706E023703}">
                      <ahyp:hlinkClr xmlns:ahyp="http://schemas.microsoft.com/office/drawing/2018/hyperlinkcolor" val="tx"/>
                    </a:ext>
                  </a:extLst>
                </a:hlinkClick>
              </a:rPr>
              <a:t>https://datasetsearch.research.google.com/</a:t>
            </a:r>
            <a:r>
              <a:rPr lang="en-US" sz="2200" dirty="0"/>
              <a:t> </a:t>
            </a:r>
          </a:p>
          <a:p>
            <a:endParaRPr lang="en-US" sz="2200" dirty="0"/>
          </a:p>
          <a:p>
            <a:r>
              <a:rPr lang="en-US" sz="2200" dirty="0">
                <a:hlinkClick r:id="rId3">
                  <a:extLst>
                    <a:ext uri="{A12FA001-AC4F-418D-AE19-62706E023703}">
                      <ahyp:hlinkClr xmlns:ahyp="http://schemas.microsoft.com/office/drawing/2018/hyperlinkcolor" val="tx"/>
                    </a:ext>
                  </a:extLst>
                </a:hlinkClick>
              </a:rPr>
              <a:t>https://data.gov/</a:t>
            </a:r>
            <a:r>
              <a:rPr lang="en-US" sz="2200" dirty="0"/>
              <a:t> </a:t>
            </a:r>
          </a:p>
          <a:p>
            <a:endParaRPr lang="en-US" sz="2200" dirty="0"/>
          </a:p>
          <a:p>
            <a:endParaRPr lang="en-US" sz="2200" dirty="0"/>
          </a:p>
        </p:txBody>
      </p:sp>
      <p:pic>
        <p:nvPicPr>
          <p:cNvPr id="5" name="Picture 4" descr="Locator flag on a city map">
            <a:extLst>
              <a:ext uri="{FF2B5EF4-FFF2-40B4-BE49-F238E27FC236}">
                <a16:creationId xmlns:a16="http://schemas.microsoft.com/office/drawing/2014/main" id="{D1542D38-F2B9-67D5-7623-DF74D9FD6E62}"/>
              </a:ext>
            </a:extLst>
          </p:cNvPr>
          <p:cNvPicPr>
            <a:picLocks noChangeAspect="1"/>
          </p:cNvPicPr>
          <p:nvPr/>
        </p:nvPicPr>
        <p:blipFill>
          <a:blip r:embed="rId4"/>
          <a:srcRect r="3304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6991785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79466-0822-4418-432C-F77A641BDDB5}"/>
              </a:ext>
            </a:extLst>
          </p:cNvPr>
          <p:cNvSpPr>
            <a:spLocks noGrp="1"/>
          </p:cNvSpPr>
          <p:nvPr>
            <p:ph type="title"/>
          </p:nvPr>
        </p:nvSpPr>
        <p:spPr>
          <a:xfrm>
            <a:off x="640080" y="325369"/>
            <a:ext cx="4368602" cy="1956841"/>
          </a:xfrm>
        </p:spPr>
        <p:txBody>
          <a:bodyPr anchor="b">
            <a:normAutofit/>
          </a:bodyPr>
          <a:lstStyle/>
          <a:p>
            <a:r>
              <a:rPr lang="en-US" sz="5400"/>
              <a:t>Some more </a:t>
            </a:r>
          </a:p>
        </p:txBody>
      </p:sp>
      <p:sp>
        <p:nvSpPr>
          <p:cNvPr id="3" name="Content Placeholder 2">
            <a:extLst>
              <a:ext uri="{FF2B5EF4-FFF2-40B4-BE49-F238E27FC236}">
                <a16:creationId xmlns:a16="http://schemas.microsoft.com/office/drawing/2014/main" id="{261CD3E7-9908-FF71-C409-30231A48BB90}"/>
              </a:ext>
            </a:extLst>
          </p:cNvPr>
          <p:cNvSpPr>
            <a:spLocks noGrp="1"/>
          </p:cNvSpPr>
          <p:nvPr>
            <p:ph idx="1"/>
          </p:nvPr>
        </p:nvSpPr>
        <p:spPr>
          <a:xfrm>
            <a:off x="640080" y="2872899"/>
            <a:ext cx="4243589" cy="3320668"/>
          </a:xfrm>
        </p:spPr>
        <p:txBody>
          <a:bodyPr>
            <a:normAutofit/>
          </a:bodyPr>
          <a:lstStyle/>
          <a:p>
            <a:r>
              <a:rPr lang="en-US" sz="2200" dirty="0"/>
              <a:t>Kaggle.com </a:t>
            </a:r>
          </a:p>
          <a:p>
            <a:endParaRPr lang="en-US" sz="2200" dirty="0"/>
          </a:p>
          <a:p>
            <a:r>
              <a:rPr lang="en-US" sz="2200" dirty="0"/>
              <a:t>huggingface.com </a:t>
            </a:r>
          </a:p>
        </p:txBody>
      </p:sp>
      <p:pic>
        <p:nvPicPr>
          <p:cNvPr id="5" name="Picture 4" descr="Red thumbtacks on a map">
            <a:extLst>
              <a:ext uri="{FF2B5EF4-FFF2-40B4-BE49-F238E27FC236}">
                <a16:creationId xmlns:a16="http://schemas.microsoft.com/office/drawing/2014/main" id="{44435156-68FE-DBDC-3FDB-11177351CEE1}"/>
              </a:ext>
            </a:extLst>
          </p:cNvPr>
          <p:cNvPicPr>
            <a:picLocks noChangeAspect="1"/>
          </p:cNvPicPr>
          <p:nvPr/>
        </p:nvPicPr>
        <p:blipFill>
          <a:blip r:embed="rId2"/>
          <a:srcRect l="8471" r="16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8918499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9B8C5-BAF5-00CF-0AAE-055C3B69BF23}"/>
              </a:ext>
            </a:extLst>
          </p:cNvPr>
          <p:cNvSpPr>
            <a:spLocks noGrp="1"/>
          </p:cNvSpPr>
          <p:nvPr>
            <p:ph type="title"/>
          </p:nvPr>
        </p:nvSpPr>
        <p:spPr/>
        <p:txBody>
          <a:bodyPr/>
          <a:lstStyle/>
          <a:p>
            <a:r>
              <a:rPr lang="en-US" dirty="0"/>
              <a:t>10 minute exercise</a:t>
            </a:r>
          </a:p>
        </p:txBody>
      </p:sp>
      <p:sp>
        <p:nvSpPr>
          <p:cNvPr id="3" name="Content Placeholder 2">
            <a:extLst>
              <a:ext uri="{FF2B5EF4-FFF2-40B4-BE49-F238E27FC236}">
                <a16:creationId xmlns:a16="http://schemas.microsoft.com/office/drawing/2014/main" id="{5DE5345D-9592-FCB1-7B0B-FF8871A4F494}"/>
              </a:ext>
            </a:extLst>
          </p:cNvPr>
          <p:cNvSpPr>
            <a:spLocks noGrp="1"/>
          </p:cNvSpPr>
          <p:nvPr>
            <p:ph idx="1"/>
          </p:nvPr>
        </p:nvSpPr>
        <p:spPr/>
        <p:txBody>
          <a:bodyPr/>
          <a:lstStyle/>
          <a:p>
            <a:r>
              <a:rPr lang="en-US" dirty="0"/>
              <a:t>Think of a problem, business, social, economic or cultural</a:t>
            </a:r>
          </a:p>
          <a:p>
            <a:endParaRPr lang="en-US" dirty="0"/>
          </a:p>
          <a:p>
            <a:r>
              <a:rPr lang="en-US" dirty="0"/>
              <a:t>Search suitable data that can be used to address this problem</a:t>
            </a:r>
          </a:p>
        </p:txBody>
      </p:sp>
    </p:spTree>
    <p:extLst>
      <p:ext uri="{BB962C8B-B14F-4D97-AF65-F5344CB8AC3E}">
        <p14:creationId xmlns:p14="http://schemas.microsoft.com/office/powerpoint/2010/main" val="22682889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FD26-A13B-5D41-52AC-A74CB38F5F55}"/>
              </a:ext>
            </a:extLst>
          </p:cNvPr>
          <p:cNvSpPr>
            <a:spLocks noGrp="1"/>
          </p:cNvSpPr>
          <p:nvPr>
            <p:ph type="title"/>
          </p:nvPr>
        </p:nvSpPr>
        <p:spPr>
          <a:xfrm>
            <a:off x="838200" y="365125"/>
            <a:ext cx="10515600" cy="823595"/>
          </a:xfrm>
        </p:spPr>
        <p:txBody>
          <a:bodyPr/>
          <a:lstStyle/>
          <a:p>
            <a:r>
              <a:rPr lang="en-US" dirty="0"/>
              <a:t>2. Third party Data</a:t>
            </a:r>
          </a:p>
        </p:txBody>
      </p:sp>
      <p:sp>
        <p:nvSpPr>
          <p:cNvPr id="3" name="Content Placeholder 2">
            <a:extLst>
              <a:ext uri="{FF2B5EF4-FFF2-40B4-BE49-F238E27FC236}">
                <a16:creationId xmlns:a16="http://schemas.microsoft.com/office/drawing/2014/main" id="{7BE1A5DD-8081-A23F-34DC-55EFE44DC494}"/>
              </a:ext>
            </a:extLst>
          </p:cNvPr>
          <p:cNvSpPr>
            <a:spLocks noGrp="1"/>
          </p:cNvSpPr>
          <p:nvPr>
            <p:ph idx="1"/>
          </p:nvPr>
        </p:nvSpPr>
        <p:spPr>
          <a:xfrm>
            <a:off x="125730" y="1253330"/>
            <a:ext cx="11921490" cy="5604669"/>
          </a:xfrm>
        </p:spPr>
        <p:txBody>
          <a:bodyPr>
            <a:normAutofit/>
          </a:bodyPr>
          <a:lstStyle/>
          <a:p>
            <a:r>
              <a:rPr lang="en-US" dirty="0"/>
              <a:t>There are specialized companies and agencies which provides various kinds of the data used for addressing business problems and opportunities. </a:t>
            </a:r>
          </a:p>
          <a:p>
            <a:endParaRPr lang="en-US" dirty="0"/>
          </a:p>
          <a:p>
            <a:r>
              <a:rPr lang="en-US" dirty="0"/>
              <a:t>These companies utilize a method to collect the data which is scientifically validated methods. </a:t>
            </a:r>
          </a:p>
          <a:p>
            <a:endParaRPr lang="en-US" dirty="0"/>
          </a:p>
          <a:p>
            <a:r>
              <a:rPr lang="en-US" dirty="0"/>
              <a:t>Some methods can be very simple such as surveys, interview and focus group discussion. Some data can be as result of data monitors as utilized by Bloomberg.</a:t>
            </a:r>
          </a:p>
          <a:p>
            <a:endParaRPr lang="en-US" dirty="0"/>
          </a:p>
          <a:p>
            <a:r>
              <a:rPr lang="en-US" dirty="0"/>
              <a:t>Other companies include Nielson, Young and </a:t>
            </a:r>
            <a:r>
              <a:rPr lang="en-US" dirty="0" err="1"/>
              <a:t>Rubicom</a:t>
            </a:r>
            <a:r>
              <a:rPr lang="en-US" dirty="0"/>
              <a:t> and others. </a:t>
            </a:r>
          </a:p>
          <a:p>
            <a:endParaRPr lang="en-US" dirty="0"/>
          </a:p>
        </p:txBody>
      </p:sp>
    </p:spTree>
    <p:extLst>
      <p:ext uri="{BB962C8B-B14F-4D97-AF65-F5344CB8AC3E}">
        <p14:creationId xmlns:p14="http://schemas.microsoft.com/office/powerpoint/2010/main" val="17839869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4F675-610D-0ABF-5EC2-F9BBD367B6D9}"/>
              </a:ext>
            </a:extLst>
          </p:cNvPr>
          <p:cNvSpPr>
            <a:spLocks noGrp="1"/>
          </p:cNvSpPr>
          <p:nvPr>
            <p:ph type="title"/>
          </p:nvPr>
        </p:nvSpPr>
        <p:spPr/>
        <p:txBody>
          <a:bodyPr/>
          <a:lstStyle/>
          <a:p>
            <a:r>
              <a:rPr lang="en-US" dirty="0"/>
              <a:t>3. Propriety data sources </a:t>
            </a:r>
          </a:p>
        </p:txBody>
      </p:sp>
      <p:sp>
        <p:nvSpPr>
          <p:cNvPr id="3" name="Content Placeholder 2">
            <a:extLst>
              <a:ext uri="{FF2B5EF4-FFF2-40B4-BE49-F238E27FC236}">
                <a16:creationId xmlns:a16="http://schemas.microsoft.com/office/drawing/2014/main" id="{4E924D3F-1546-1CF0-E280-BDFEAA0925FF}"/>
              </a:ext>
            </a:extLst>
          </p:cNvPr>
          <p:cNvSpPr>
            <a:spLocks noGrp="1"/>
          </p:cNvSpPr>
          <p:nvPr>
            <p:ph idx="1"/>
          </p:nvPr>
        </p:nvSpPr>
        <p:spPr/>
        <p:txBody>
          <a:bodyPr/>
          <a:lstStyle/>
          <a:p>
            <a:r>
              <a:rPr lang="en-US" b="1" dirty="0"/>
              <a:t>Definition</a:t>
            </a:r>
            <a:r>
              <a:rPr lang="en-US" dirty="0"/>
              <a:t>: Proprietary data is exclusive, privately owned information collected and controlled by a specific organization.</a:t>
            </a:r>
          </a:p>
          <a:p>
            <a:endParaRPr lang="en-US" dirty="0"/>
          </a:p>
          <a:p>
            <a:r>
              <a:rPr lang="en-US" b="1" dirty="0"/>
              <a:t>Types of Data</a:t>
            </a:r>
            <a:r>
              <a:rPr lang="en-US" dirty="0"/>
              <a:t>: Includes customer purchase history, internal business metrics, and confidential research data.</a:t>
            </a:r>
          </a:p>
          <a:p>
            <a:endParaRPr lang="en-US" dirty="0"/>
          </a:p>
          <a:p>
            <a:r>
              <a:rPr lang="en-US" b="1" dirty="0"/>
              <a:t>Applications</a:t>
            </a:r>
            <a:r>
              <a:rPr lang="en-US" dirty="0"/>
              <a:t>: Used for competitive advantage, personalized marketing, and strategic decision-making.</a:t>
            </a:r>
          </a:p>
        </p:txBody>
      </p:sp>
    </p:spTree>
    <p:extLst>
      <p:ext uri="{BB962C8B-B14F-4D97-AF65-F5344CB8AC3E}">
        <p14:creationId xmlns:p14="http://schemas.microsoft.com/office/powerpoint/2010/main" val="19687059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8DB55-95F6-31EC-F0DD-BC1D1E856316}"/>
              </a:ext>
            </a:extLst>
          </p:cNvPr>
          <p:cNvSpPr>
            <a:spLocks noGrp="1"/>
          </p:cNvSpPr>
          <p:nvPr>
            <p:ph type="title"/>
          </p:nvPr>
        </p:nvSpPr>
        <p:spPr>
          <a:xfrm>
            <a:off x="838200" y="365125"/>
            <a:ext cx="10515600" cy="915035"/>
          </a:xfrm>
        </p:spPr>
        <p:txBody>
          <a:bodyPr/>
          <a:lstStyle/>
          <a:p>
            <a:r>
              <a:rPr lang="en-US" dirty="0"/>
              <a:t>4. Digital Source of Data: A </a:t>
            </a:r>
            <a:r>
              <a:rPr lang="en-US" dirty="0" err="1"/>
              <a:t>Glodmine</a:t>
            </a:r>
            <a:r>
              <a:rPr lang="en-US" dirty="0"/>
              <a:t> </a:t>
            </a:r>
          </a:p>
        </p:txBody>
      </p:sp>
      <p:sp>
        <p:nvSpPr>
          <p:cNvPr id="3" name="Content Placeholder 2">
            <a:extLst>
              <a:ext uri="{FF2B5EF4-FFF2-40B4-BE49-F238E27FC236}">
                <a16:creationId xmlns:a16="http://schemas.microsoft.com/office/drawing/2014/main" id="{38D4F3A1-1763-7CAB-BBC2-01DF8A013D81}"/>
              </a:ext>
            </a:extLst>
          </p:cNvPr>
          <p:cNvSpPr>
            <a:spLocks noGrp="1"/>
          </p:cNvSpPr>
          <p:nvPr>
            <p:ph idx="1"/>
          </p:nvPr>
        </p:nvSpPr>
        <p:spPr>
          <a:xfrm>
            <a:off x="838200" y="1174114"/>
            <a:ext cx="10515600" cy="4860925"/>
          </a:xfrm>
        </p:spPr>
        <p:txBody>
          <a:bodyPr>
            <a:normAutofit/>
          </a:bodyPr>
          <a:lstStyle/>
          <a:p>
            <a:r>
              <a:rPr lang="en-US" dirty="0"/>
              <a:t>The publicly available data mostly in form of unstructured data such as discussion on the  social media, websites information and other is considered to be goldmine data. </a:t>
            </a:r>
          </a:p>
          <a:p>
            <a:endParaRPr lang="en-US" dirty="0"/>
          </a:p>
          <a:p>
            <a:r>
              <a:rPr lang="en-US" dirty="0"/>
              <a:t>Allegro product listing to social media comments and discussion is data which is already public and can be utilized for research and the solving business problems</a:t>
            </a:r>
          </a:p>
          <a:p>
            <a:endParaRPr lang="en-US" dirty="0"/>
          </a:p>
          <a:p>
            <a:r>
              <a:rPr lang="en-US" dirty="0"/>
              <a:t>Ethical: Any data which can seriously threaten the emotional-physical wellbeing is subject to ethical standards.  </a:t>
            </a:r>
          </a:p>
          <a:p>
            <a:endParaRPr lang="en-US" dirty="0"/>
          </a:p>
          <a:p>
            <a:r>
              <a:rPr lang="en-US" b="1" dirty="0">
                <a:solidFill>
                  <a:srgbClr val="FF0000"/>
                </a:solidFill>
              </a:rPr>
              <a:t>However, legality issues remains persistent and debatable. </a:t>
            </a:r>
          </a:p>
        </p:txBody>
      </p:sp>
    </p:spTree>
    <p:extLst>
      <p:ext uri="{BB962C8B-B14F-4D97-AF65-F5344CB8AC3E}">
        <p14:creationId xmlns:p14="http://schemas.microsoft.com/office/powerpoint/2010/main" val="21367909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EAF6-0ABA-3153-F98B-47E227BCC608}"/>
              </a:ext>
            </a:extLst>
          </p:cNvPr>
          <p:cNvSpPr>
            <a:spLocks noGrp="1"/>
          </p:cNvSpPr>
          <p:nvPr>
            <p:ph type="title"/>
          </p:nvPr>
        </p:nvSpPr>
        <p:spPr/>
        <p:txBody>
          <a:bodyPr/>
          <a:lstStyle/>
          <a:p>
            <a:pPr algn="ctr"/>
            <a:r>
              <a:rPr lang="en-US" dirty="0"/>
              <a:t>Digital Source of Data: Application programming interface</a:t>
            </a:r>
          </a:p>
        </p:txBody>
      </p:sp>
      <p:sp>
        <p:nvSpPr>
          <p:cNvPr id="3" name="Content Placeholder 2">
            <a:extLst>
              <a:ext uri="{FF2B5EF4-FFF2-40B4-BE49-F238E27FC236}">
                <a16:creationId xmlns:a16="http://schemas.microsoft.com/office/drawing/2014/main" id="{AAA6B016-D109-5FAA-418E-1E8D01D72A77}"/>
              </a:ext>
            </a:extLst>
          </p:cNvPr>
          <p:cNvSpPr>
            <a:spLocks noGrp="1"/>
          </p:cNvSpPr>
          <p:nvPr>
            <p:ph idx="1"/>
          </p:nvPr>
        </p:nvSpPr>
        <p:spPr>
          <a:xfrm>
            <a:off x="838200" y="1825624"/>
            <a:ext cx="10515600" cy="4918075"/>
          </a:xfrm>
        </p:spPr>
        <p:txBody>
          <a:bodyPr>
            <a:normAutofit lnSpcReduction="10000"/>
          </a:bodyPr>
          <a:lstStyle/>
          <a:p>
            <a:r>
              <a:rPr lang="en-US" dirty="0"/>
              <a:t>An API is a set of rules and protocols that allow different software systems to communicate with each other and exchange data.</a:t>
            </a:r>
          </a:p>
          <a:p>
            <a:endParaRPr lang="en-US" dirty="0"/>
          </a:p>
          <a:p>
            <a:r>
              <a:rPr lang="en-US" dirty="0"/>
              <a:t>APIs provide structured data in formats like JSON, XML, or CSV, often with real-time access.</a:t>
            </a:r>
          </a:p>
          <a:p>
            <a:endParaRPr lang="en-US" dirty="0"/>
          </a:p>
          <a:p>
            <a:r>
              <a:rPr lang="en-US" dirty="0"/>
              <a:t>APIs are widely used to retrieve data from online services, such as social media platforms, financial systems, weather services, and databases, enabling integration across platforms</a:t>
            </a:r>
          </a:p>
          <a:p>
            <a:endParaRPr lang="en-US" dirty="0"/>
          </a:p>
          <a:p>
            <a:r>
              <a:rPr lang="en-US" dirty="0"/>
              <a:t>APIs offer controlled, secure access to data and enable automated data retrieval without manual scraping, reducing data extraction complexity and ensuring reliable, real-time data flow</a:t>
            </a:r>
          </a:p>
        </p:txBody>
      </p:sp>
    </p:spTree>
    <p:extLst>
      <p:ext uri="{BB962C8B-B14F-4D97-AF65-F5344CB8AC3E}">
        <p14:creationId xmlns:p14="http://schemas.microsoft.com/office/powerpoint/2010/main" val="1672681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9EC817-6D82-F584-9F57-F52812F651EB}"/>
              </a:ext>
            </a:extLst>
          </p:cNvPr>
          <p:cNvSpPr>
            <a:spLocks noGrp="1"/>
          </p:cNvSpPr>
          <p:nvPr>
            <p:ph type="title"/>
          </p:nvPr>
        </p:nvSpPr>
        <p:spPr/>
        <p:txBody>
          <a:bodyPr/>
          <a:lstStyle/>
          <a:p>
            <a:pPr algn="ctr"/>
            <a:r>
              <a:rPr lang="en-US" dirty="0"/>
              <a:t>Want to test API?</a:t>
            </a:r>
          </a:p>
        </p:txBody>
      </p:sp>
      <p:sp>
        <p:nvSpPr>
          <p:cNvPr id="5" name="Text Placeholder 4">
            <a:extLst>
              <a:ext uri="{FF2B5EF4-FFF2-40B4-BE49-F238E27FC236}">
                <a16:creationId xmlns:a16="http://schemas.microsoft.com/office/drawing/2014/main" id="{2BD540E6-0BB6-D204-8C64-D294D17692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536792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D54222-E275-4F80-9CB0-B7350B607B24}"/>
              </a:ext>
            </a:extLst>
          </p:cNvPr>
          <p:cNvSpPr>
            <a:spLocks noGrp="1"/>
          </p:cNvSpPr>
          <p:nvPr>
            <p:ph type="title"/>
          </p:nvPr>
        </p:nvSpPr>
        <p:spPr>
          <a:xfrm>
            <a:off x="838200" y="365125"/>
            <a:ext cx="10515600" cy="835025"/>
          </a:xfrm>
        </p:spPr>
        <p:txBody>
          <a:bodyPr/>
          <a:lstStyle/>
          <a:p>
            <a:pPr algn="ctr"/>
            <a:r>
              <a:rPr lang="en-US" b="1" dirty="0"/>
              <a:t>Web Scrapping</a:t>
            </a:r>
          </a:p>
        </p:txBody>
      </p:sp>
      <p:sp>
        <p:nvSpPr>
          <p:cNvPr id="5" name="Content Placeholder 4">
            <a:extLst>
              <a:ext uri="{FF2B5EF4-FFF2-40B4-BE49-F238E27FC236}">
                <a16:creationId xmlns:a16="http://schemas.microsoft.com/office/drawing/2014/main" id="{8CF4556B-BE27-578A-6445-9A75EAA2E972}"/>
              </a:ext>
            </a:extLst>
          </p:cNvPr>
          <p:cNvSpPr>
            <a:spLocks noGrp="1"/>
          </p:cNvSpPr>
          <p:nvPr>
            <p:ph idx="1"/>
          </p:nvPr>
        </p:nvSpPr>
        <p:spPr>
          <a:xfrm>
            <a:off x="194310" y="1200150"/>
            <a:ext cx="11692890" cy="5383530"/>
          </a:xfrm>
        </p:spPr>
        <p:txBody>
          <a:bodyPr>
            <a:normAutofit/>
          </a:bodyPr>
          <a:lstStyle/>
          <a:p>
            <a:r>
              <a:rPr lang="en-US" dirty="0"/>
              <a:t>Web scraping is the automated process of extracting data from websites by parsing the HTML content of web pages.</a:t>
            </a:r>
          </a:p>
          <a:p>
            <a:endParaRPr lang="en-US" dirty="0"/>
          </a:p>
          <a:p>
            <a:r>
              <a:rPr lang="en-US" dirty="0"/>
              <a:t>Ensure compliance with the website’s </a:t>
            </a:r>
            <a:r>
              <a:rPr lang="en-US" b="1" dirty="0"/>
              <a:t>robots.txt</a:t>
            </a:r>
            <a:r>
              <a:rPr lang="en-US" dirty="0"/>
              <a:t> and terms of service, and avoid excessive requests to prevent server overload.</a:t>
            </a:r>
          </a:p>
          <a:p>
            <a:endParaRPr lang="en-US" dirty="0"/>
          </a:p>
          <a:p>
            <a:r>
              <a:rPr lang="en-US" dirty="0"/>
              <a:t>The </a:t>
            </a:r>
            <a:r>
              <a:rPr lang="en-US" dirty="0" err="1"/>
              <a:t>webscrapping</a:t>
            </a:r>
            <a:r>
              <a:rPr lang="en-US" dirty="0"/>
              <a:t> is an important source of the for big data, and innovation implications. </a:t>
            </a:r>
          </a:p>
          <a:p>
            <a:endParaRPr lang="en-US" dirty="0"/>
          </a:p>
          <a:p>
            <a:r>
              <a:rPr lang="en-US" dirty="0"/>
              <a:t>It is also being suspected that, Wikipedia was scrapped and its data been used for the development of large language models (LLM)</a:t>
            </a:r>
          </a:p>
        </p:txBody>
      </p:sp>
    </p:spTree>
    <p:extLst>
      <p:ext uri="{BB962C8B-B14F-4D97-AF65-F5344CB8AC3E}">
        <p14:creationId xmlns:p14="http://schemas.microsoft.com/office/powerpoint/2010/main" val="3719116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399ED-2D52-3539-055D-A7C2C0B8034D}"/>
              </a:ext>
            </a:extLst>
          </p:cNvPr>
          <p:cNvSpPr>
            <a:spLocks noGrp="1"/>
          </p:cNvSpPr>
          <p:nvPr>
            <p:ph type="title"/>
          </p:nvPr>
        </p:nvSpPr>
        <p:spPr/>
        <p:txBody>
          <a:bodyPr/>
          <a:lstStyle/>
          <a:p>
            <a:pPr algn="ctr"/>
            <a:r>
              <a:rPr lang="en-US" dirty="0"/>
              <a:t>Common frameworks</a:t>
            </a:r>
          </a:p>
        </p:txBody>
      </p:sp>
      <p:pic>
        <p:nvPicPr>
          <p:cNvPr id="5122" name="Picture 2">
            <a:extLst>
              <a:ext uri="{FF2B5EF4-FFF2-40B4-BE49-F238E27FC236}">
                <a16:creationId xmlns:a16="http://schemas.microsoft.com/office/drawing/2014/main" id="{CCE5F93A-9D5C-7D28-BA6B-E3A8FF69C76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72050" y="2861151"/>
            <a:ext cx="270510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0C939519-49A7-4FE7-6A1D-84F27CEA0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05" y="2861151"/>
            <a:ext cx="30289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FEE3BE7E-DB32-AF32-626E-3AB387D5DD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99170" y="2823051"/>
            <a:ext cx="2943225"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9754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6D8C-483B-D2DF-4FEC-8695221EA516}"/>
              </a:ext>
            </a:extLst>
          </p:cNvPr>
          <p:cNvSpPr>
            <a:spLocks noGrp="1"/>
          </p:cNvSpPr>
          <p:nvPr>
            <p:ph type="title"/>
          </p:nvPr>
        </p:nvSpPr>
        <p:spPr>
          <a:xfrm>
            <a:off x="495300" y="2948305"/>
            <a:ext cx="2202180" cy="1325563"/>
          </a:xfrm>
        </p:spPr>
        <p:txBody>
          <a:bodyPr/>
          <a:lstStyle/>
          <a:p>
            <a:r>
              <a:rPr lang="en-US" dirty="0"/>
              <a:t>Steps</a:t>
            </a:r>
          </a:p>
        </p:txBody>
      </p:sp>
      <p:sp>
        <p:nvSpPr>
          <p:cNvPr id="4" name="Rectangle 3">
            <a:extLst>
              <a:ext uri="{FF2B5EF4-FFF2-40B4-BE49-F238E27FC236}">
                <a16:creationId xmlns:a16="http://schemas.microsoft.com/office/drawing/2014/main" id="{5B7DE891-504F-18D8-08CA-8B034760A67E}"/>
              </a:ext>
            </a:extLst>
          </p:cNvPr>
          <p:cNvSpPr/>
          <p:nvPr/>
        </p:nvSpPr>
        <p:spPr>
          <a:xfrm>
            <a:off x="4537710" y="571500"/>
            <a:ext cx="2846070" cy="9029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Identify website </a:t>
            </a:r>
          </a:p>
        </p:txBody>
      </p:sp>
      <p:sp>
        <p:nvSpPr>
          <p:cNvPr id="5" name="Rectangle 4">
            <a:extLst>
              <a:ext uri="{FF2B5EF4-FFF2-40B4-BE49-F238E27FC236}">
                <a16:creationId xmlns:a16="http://schemas.microsoft.com/office/drawing/2014/main" id="{B95F2664-F957-888D-5BC8-8D77188116C8}"/>
              </a:ext>
            </a:extLst>
          </p:cNvPr>
          <p:cNvSpPr/>
          <p:nvPr/>
        </p:nvSpPr>
        <p:spPr>
          <a:xfrm>
            <a:off x="4415790" y="2101532"/>
            <a:ext cx="2846070" cy="9029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Send a Request and obtain HTML elements </a:t>
            </a:r>
          </a:p>
        </p:txBody>
      </p:sp>
      <p:sp>
        <p:nvSpPr>
          <p:cNvPr id="6" name="Rectangle 5">
            <a:extLst>
              <a:ext uri="{FF2B5EF4-FFF2-40B4-BE49-F238E27FC236}">
                <a16:creationId xmlns:a16="http://schemas.microsoft.com/office/drawing/2014/main" id="{20709856-41F8-02AD-C804-561AD78CD050}"/>
              </a:ext>
            </a:extLst>
          </p:cNvPr>
          <p:cNvSpPr/>
          <p:nvPr/>
        </p:nvSpPr>
        <p:spPr>
          <a:xfrm>
            <a:off x="4415790" y="3611086"/>
            <a:ext cx="2846070" cy="9029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Parse and Locate the data of interests </a:t>
            </a:r>
          </a:p>
        </p:txBody>
      </p:sp>
      <p:sp>
        <p:nvSpPr>
          <p:cNvPr id="7" name="Rectangle 6">
            <a:extLst>
              <a:ext uri="{FF2B5EF4-FFF2-40B4-BE49-F238E27FC236}">
                <a16:creationId xmlns:a16="http://schemas.microsoft.com/office/drawing/2014/main" id="{0A6B5622-AE8D-712A-620E-AC867C862B41}"/>
              </a:ext>
            </a:extLst>
          </p:cNvPr>
          <p:cNvSpPr/>
          <p:nvPr/>
        </p:nvSpPr>
        <p:spPr>
          <a:xfrm>
            <a:off x="4415790" y="5120640"/>
            <a:ext cx="2846070" cy="9029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Extract and store Data</a:t>
            </a:r>
          </a:p>
        </p:txBody>
      </p:sp>
    </p:spTree>
    <p:extLst>
      <p:ext uri="{BB962C8B-B14F-4D97-AF65-F5344CB8AC3E}">
        <p14:creationId xmlns:p14="http://schemas.microsoft.com/office/powerpoint/2010/main" val="7445259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34DF9-42FD-5CF8-B452-223EFBE67F91}"/>
              </a:ext>
            </a:extLst>
          </p:cNvPr>
          <p:cNvSpPr>
            <a:spLocks noGrp="1"/>
          </p:cNvSpPr>
          <p:nvPr>
            <p:ph type="title"/>
          </p:nvPr>
        </p:nvSpPr>
        <p:spPr/>
        <p:txBody>
          <a:bodyPr/>
          <a:lstStyle/>
          <a:p>
            <a:r>
              <a:rPr lang="en-US" dirty="0"/>
              <a:t>HTML </a:t>
            </a:r>
          </a:p>
        </p:txBody>
      </p:sp>
      <p:sp>
        <p:nvSpPr>
          <p:cNvPr id="3" name="Content Placeholder 2">
            <a:extLst>
              <a:ext uri="{FF2B5EF4-FFF2-40B4-BE49-F238E27FC236}">
                <a16:creationId xmlns:a16="http://schemas.microsoft.com/office/drawing/2014/main" id="{34612202-5E63-9A26-3552-E2485360072F}"/>
              </a:ext>
            </a:extLst>
          </p:cNvPr>
          <p:cNvSpPr>
            <a:spLocks noGrp="1"/>
          </p:cNvSpPr>
          <p:nvPr>
            <p:ph idx="1"/>
          </p:nvPr>
        </p:nvSpPr>
        <p:spPr/>
        <p:txBody>
          <a:bodyPr/>
          <a:lstStyle/>
          <a:p>
            <a:r>
              <a:rPr lang="en-US" dirty="0"/>
              <a:t> Explain that HTML (</a:t>
            </a:r>
            <a:r>
              <a:rPr lang="en-US" dirty="0" err="1"/>
              <a:t>HyperText</a:t>
            </a:r>
            <a:r>
              <a:rPr lang="en-US" dirty="0"/>
              <a:t> Markup Language) is the standard language used to create and design webpages. It structures the content using elements such as tags, attributes, and text.</a:t>
            </a:r>
          </a:p>
          <a:p>
            <a:endParaRPr lang="en-US" dirty="0"/>
          </a:p>
          <a:p>
            <a:r>
              <a:rPr lang="en-US" dirty="0"/>
              <a:t>Key HTML Elements: Introduce common HTML tags like:</a:t>
            </a:r>
          </a:p>
          <a:p>
            <a:r>
              <a:rPr lang="en-US" dirty="0"/>
              <a:t>&lt;html&gt;, &lt;body&gt;, &lt;head&gt;</a:t>
            </a:r>
          </a:p>
          <a:p>
            <a:r>
              <a:rPr lang="en-US" dirty="0"/>
              <a:t>Structural tags: &lt;div&gt;, &lt;header&gt;, &lt;footer&gt;</a:t>
            </a:r>
          </a:p>
          <a:p>
            <a:r>
              <a:rPr lang="en-US" dirty="0"/>
              <a:t>Content tags: &lt;h1&gt;, &lt;p&gt;, &lt;</a:t>
            </a:r>
            <a:r>
              <a:rPr lang="en-US" dirty="0" err="1"/>
              <a:t>ul</a:t>
            </a:r>
            <a:r>
              <a:rPr lang="en-US" dirty="0"/>
              <a:t>&gt;, &lt;li&gt;, &lt;a&gt;, &lt;span&gt;</a:t>
            </a:r>
          </a:p>
          <a:p>
            <a:r>
              <a:rPr lang="en-US" dirty="0"/>
              <a:t>Attributes like id, class, </a:t>
            </a:r>
            <a:r>
              <a:rPr lang="en-US" dirty="0" err="1"/>
              <a:t>href</a:t>
            </a:r>
            <a:r>
              <a:rPr lang="en-US" dirty="0"/>
              <a:t>, </a:t>
            </a:r>
            <a:r>
              <a:rPr lang="en-US" dirty="0" err="1"/>
              <a:t>src</a:t>
            </a:r>
            <a:r>
              <a:rPr lang="en-US" dirty="0"/>
              <a:t>, etc.</a:t>
            </a:r>
          </a:p>
        </p:txBody>
      </p:sp>
    </p:spTree>
    <p:extLst>
      <p:ext uri="{BB962C8B-B14F-4D97-AF65-F5344CB8AC3E}">
        <p14:creationId xmlns:p14="http://schemas.microsoft.com/office/powerpoint/2010/main" val="6040771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FC071-7DA3-9E00-453C-28889A23CEF9}"/>
              </a:ext>
            </a:extLst>
          </p:cNvPr>
          <p:cNvSpPr>
            <a:spLocks noGrp="1"/>
          </p:cNvSpPr>
          <p:nvPr>
            <p:ph type="title"/>
          </p:nvPr>
        </p:nvSpPr>
        <p:spPr/>
        <p:txBody>
          <a:bodyPr/>
          <a:lstStyle/>
          <a:p>
            <a:pPr algn="ctr"/>
            <a:r>
              <a:rPr lang="en-US" dirty="0"/>
              <a:t>For example: Identifying, locating and extracting the Book title </a:t>
            </a:r>
          </a:p>
        </p:txBody>
      </p:sp>
      <p:sp>
        <p:nvSpPr>
          <p:cNvPr id="3" name="Content Placeholder 2">
            <a:extLst>
              <a:ext uri="{FF2B5EF4-FFF2-40B4-BE49-F238E27FC236}">
                <a16:creationId xmlns:a16="http://schemas.microsoft.com/office/drawing/2014/main" id="{5BF0D80E-38D2-05A4-CFF0-E6C08B47B0CF}"/>
              </a:ext>
            </a:extLst>
          </p:cNvPr>
          <p:cNvSpPr>
            <a:spLocks noGrp="1"/>
          </p:cNvSpPr>
          <p:nvPr>
            <p:ph idx="1"/>
          </p:nvPr>
        </p:nvSpPr>
        <p:spPr/>
        <p:txBody>
          <a:bodyPr/>
          <a:lstStyle/>
          <a:p>
            <a:r>
              <a:rPr lang="en-US" dirty="0"/>
              <a:t>&lt;h3&gt;&lt;a </a:t>
            </a:r>
            <a:r>
              <a:rPr lang="en-US" dirty="0" err="1"/>
              <a:t>href</a:t>
            </a:r>
            <a:r>
              <a:rPr lang="en-US" dirty="0"/>
              <a:t>="</a:t>
            </a:r>
            <a:r>
              <a:rPr lang="en-US" dirty="0" err="1"/>
              <a:t>book_link</a:t>
            </a:r>
            <a:r>
              <a:rPr lang="en-US" dirty="0"/>
              <a:t>" title="Book Title"&gt;Book Title&lt;/a&gt;&lt;/h3&gt;</a:t>
            </a:r>
          </a:p>
          <a:p>
            <a:endParaRPr lang="en-US" dirty="0"/>
          </a:p>
          <a:p>
            <a:r>
              <a:rPr lang="en-US" dirty="0" err="1"/>
              <a:t>soup.find</a:t>
            </a:r>
            <a:r>
              <a:rPr lang="en-US" dirty="0"/>
              <a:t>('h3')</a:t>
            </a:r>
          </a:p>
          <a:p>
            <a:endParaRPr lang="en-US" dirty="0"/>
          </a:p>
        </p:txBody>
      </p:sp>
    </p:spTree>
    <p:extLst>
      <p:ext uri="{BB962C8B-B14F-4D97-AF65-F5344CB8AC3E}">
        <p14:creationId xmlns:p14="http://schemas.microsoft.com/office/powerpoint/2010/main" val="23077434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E94D82-DFD0-3877-8B44-879A02CAA4D9}"/>
              </a:ext>
            </a:extLst>
          </p:cNvPr>
          <p:cNvSpPr>
            <a:spLocks noGrp="1"/>
          </p:cNvSpPr>
          <p:nvPr>
            <p:ph type="title"/>
          </p:nvPr>
        </p:nvSpPr>
        <p:spPr>
          <a:xfrm>
            <a:off x="638882" y="639193"/>
            <a:ext cx="3571810" cy="3573516"/>
          </a:xfrm>
        </p:spPr>
        <p:txBody>
          <a:bodyPr vert="horz" lIns="91440" tIns="45720" rIns="91440" bIns="45720" rtlCol="0" anchor="b">
            <a:normAutofit fontScale="90000"/>
          </a:bodyPr>
          <a:lstStyle/>
          <a:p>
            <a:r>
              <a:rPr lang="en-US" sz="4600" kern="1200">
                <a:solidFill>
                  <a:schemeClr val="tx1"/>
                </a:solidFill>
                <a:latin typeface="+mj-lt"/>
                <a:ea typeface="+mj-ea"/>
                <a:cs typeface="+mj-cs"/>
              </a:rPr>
              <a:t>So, May be we are ready for the web scrapping as well. </a:t>
            </a:r>
          </a:p>
        </p:txBody>
      </p:sp>
      <p:pic>
        <p:nvPicPr>
          <p:cNvPr id="9" name="Graphic 8" descr="Web Design">
            <a:extLst>
              <a:ext uri="{FF2B5EF4-FFF2-40B4-BE49-F238E27FC236}">
                <a16:creationId xmlns:a16="http://schemas.microsoft.com/office/drawing/2014/main" id="{29E53308-FB3D-C6A0-7B9D-BEFF39860D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86400" y="640080"/>
            <a:ext cx="5550408" cy="5550408"/>
          </a:xfrm>
          <a:prstGeom prst="rect">
            <a:avLst/>
          </a:prstGeom>
        </p:spPr>
      </p:pic>
    </p:spTree>
    <p:extLst>
      <p:ext uri="{BB962C8B-B14F-4D97-AF65-F5344CB8AC3E}">
        <p14:creationId xmlns:p14="http://schemas.microsoft.com/office/powerpoint/2010/main" val="2352789979"/>
      </p:ext>
    </p:extLst>
  </p:cSld>
  <p:clrMapOvr>
    <a:masterClrMapping/>
  </p:clrMapOvr>
</p:sld>
</file>

<file path=ppt/theme/theme1.xml><?xml version="1.0" encoding="utf-8"?>
<a:theme xmlns:a="http://schemas.openxmlformats.org/drawingml/2006/main" name="Motyw pakietu Office">
  <a:themeElements>
    <a:clrScheme name="Kozminski colorurs">
      <a:dk1>
        <a:srgbClr val="030928"/>
      </a:dk1>
      <a:lt1>
        <a:srgbClr val="EFF2FC"/>
      </a:lt1>
      <a:dk2>
        <a:srgbClr val="030928"/>
      </a:dk2>
      <a:lt2>
        <a:srgbClr val="EFF2FC"/>
      </a:lt2>
      <a:accent1>
        <a:srgbClr val="030928"/>
      </a:accent1>
      <a:accent2>
        <a:srgbClr val="B4865E"/>
      </a:accent2>
      <a:accent3>
        <a:srgbClr val="C5A181"/>
      </a:accent3>
      <a:accent4>
        <a:srgbClr val="CFB399"/>
      </a:accent4>
      <a:accent5>
        <a:srgbClr val="DAC4B0"/>
      </a:accent5>
      <a:accent6>
        <a:srgbClr val="EBDFD5"/>
      </a:accent6>
      <a:hlink>
        <a:srgbClr val="EFF2FC"/>
      </a:hlink>
      <a:folHlink>
        <a:srgbClr val="EFF2FC"/>
      </a:folHlink>
    </a:clrScheme>
    <a:fontScheme name="Open Sans">
      <a:majorFont>
        <a:latin typeface="Open Sans Semibold"/>
        <a:ea typeface=""/>
        <a:cs typeface=""/>
      </a:majorFont>
      <a:minorFont>
        <a:latin typeface="Open Sans"/>
        <a:ea typeface=""/>
        <a:cs typeface=""/>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087EC81CD302847A068D809FADF129F" ma:contentTypeVersion="12" ma:contentTypeDescription="Utwórz nowy dokument." ma:contentTypeScope="" ma:versionID="1d423d4257ff3fd06dd0772382489a65">
  <xsd:schema xmlns:xsd="http://www.w3.org/2001/XMLSchema" xmlns:xs="http://www.w3.org/2001/XMLSchema" xmlns:p="http://schemas.microsoft.com/office/2006/metadata/properties" xmlns:ns2="21fa3d60-a86e-4c60-8f27-59c4e388d1ad" xmlns:ns3="48ac5622-f5e7-4f97-81dc-8c6ca390e375" targetNamespace="http://schemas.microsoft.com/office/2006/metadata/properties" ma:root="true" ma:fieldsID="df8f133732c9693d310959024c05c1ba" ns2:_="" ns3:_="">
    <xsd:import namespace="21fa3d60-a86e-4c60-8f27-59c4e388d1ad"/>
    <xsd:import namespace="48ac5622-f5e7-4f97-81dc-8c6ca390e37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fa3d60-a86e-4c60-8f27-59c4e388d1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Tagi obrazów" ma:readOnly="false" ma:fieldId="{5cf76f15-5ced-4ddc-b409-7134ff3c332f}" ma:taxonomyMulti="true" ma:sspId="62f00050-6f92-4a47-8685-96d6877a5fc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8ac5622-f5e7-4f97-81dc-8c6ca390e37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7ba7d68-6a58-4809-bacd-20ab7cea6658}" ma:internalName="TaxCatchAll" ma:showField="CatchAllData" ma:web="48ac5622-f5e7-4f97-81dc-8c6ca390e3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8ac5622-f5e7-4f97-81dc-8c6ca390e375" xsi:nil="true"/>
    <lcf76f155ced4ddcb4097134ff3c332f xmlns="21fa3d60-a86e-4c60-8f27-59c4e388d1a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2F777C7-9B9A-4AAB-AF7A-3BE966C27784}">
  <ds:schemaRefs>
    <ds:schemaRef ds:uri="http://schemas.microsoft.com/sharepoint/v3/contenttype/forms"/>
  </ds:schemaRefs>
</ds:datastoreItem>
</file>

<file path=customXml/itemProps2.xml><?xml version="1.0" encoding="utf-8"?>
<ds:datastoreItem xmlns:ds="http://schemas.openxmlformats.org/officeDocument/2006/customXml" ds:itemID="{D095BC0E-BAD3-4EA8-98EA-B8C3F4AD47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fa3d60-a86e-4c60-8f27-59c4e388d1ad"/>
    <ds:schemaRef ds:uri="48ac5622-f5e7-4f97-81dc-8c6ca390e3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C89341-392B-47EC-B7AB-C2189C21864A}">
  <ds:schemaRefs>
    <ds:schemaRef ds:uri="http://schemas.microsoft.com/office/2006/metadata/properties"/>
    <ds:schemaRef ds:uri="http://schemas.microsoft.com/office/infopath/2007/PartnerControls"/>
    <ds:schemaRef ds:uri="48ac5622-f5e7-4f97-81dc-8c6ca390e375"/>
    <ds:schemaRef ds:uri="21fa3d60-a86e-4c60-8f27-59c4e388d1ad"/>
  </ds:schemaRefs>
</ds:datastoreItem>
</file>

<file path=docProps/app.xml><?xml version="1.0" encoding="utf-8"?>
<Properties xmlns="http://schemas.openxmlformats.org/officeDocument/2006/extended-properties" xmlns:vt="http://schemas.openxmlformats.org/officeDocument/2006/docPropsVTypes">
  <TotalTime>5554</TotalTime>
  <Words>2852</Words>
  <Application>Microsoft Office PowerPoint</Application>
  <PresentationFormat>Widescreen</PresentationFormat>
  <Paragraphs>449</Paragraphs>
  <Slides>74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Aptos</vt:lpstr>
      <vt:lpstr>Arial</vt:lpstr>
      <vt:lpstr>Open Sans</vt:lpstr>
      <vt:lpstr>Open Sans Semibold</vt:lpstr>
      <vt:lpstr>Times New Roman</vt:lpstr>
      <vt:lpstr>Wingdings</vt:lpstr>
      <vt:lpstr>Motyw pakietu Office</vt:lpstr>
      <vt:lpstr>Business Analytics-Elective </vt:lpstr>
      <vt:lpstr>Course Introduction</vt:lpstr>
      <vt:lpstr>Course Introduction</vt:lpstr>
      <vt:lpstr>How to pass course </vt:lpstr>
      <vt:lpstr>What are you studying? </vt:lpstr>
      <vt:lpstr>Python Knowledge</vt:lpstr>
      <vt:lpstr>Sallybus </vt:lpstr>
      <vt:lpstr>PowerPoint Presentation</vt:lpstr>
      <vt:lpstr>Question, Comments and thoughts </vt:lpstr>
      <vt:lpstr>Day 1: Fundamental of Analytics</vt:lpstr>
      <vt:lpstr>Todays agenda</vt:lpstr>
      <vt:lpstr>Python?</vt:lpstr>
      <vt:lpstr>Git Hub</vt:lpstr>
      <vt:lpstr>An Introduction to Version Control: Git and GitHub </vt:lpstr>
      <vt:lpstr>Versioning </vt:lpstr>
      <vt:lpstr>Hands on Git hub Workflow </vt:lpstr>
      <vt:lpstr>Working with terminal</vt:lpstr>
      <vt:lpstr>Working with github</vt:lpstr>
      <vt:lpstr>MacBook </vt:lpstr>
      <vt:lpstr>Working with GitHub </vt:lpstr>
      <vt:lpstr>Now its your turn Working in the Github</vt:lpstr>
      <vt:lpstr>4 Essential Git Commands</vt:lpstr>
      <vt:lpstr>Working with jupyternotebook from anaconda</vt:lpstr>
      <vt:lpstr>Virtual Environment </vt:lpstr>
      <vt:lpstr>Essential commands </vt:lpstr>
      <vt:lpstr>Let’s Do practices</vt:lpstr>
      <vt:lpstr>Code Editor Settings: Jupyter Notebook </vt:lpstr>
      <vt:lpstr>Data And Analytics</vt:lpstr>
      <vt:lpstr>Data: </vt:lpstr>
      <vt:lpstr>Big Data framework </vt:lpstr>
      <vt:lpstr>Volume</vt:lpstr>
      <vt:lpstr>Variety </vt:lpstr>
      <vt:lpstr>Velocity </vt:lpstr>
      <vt:lpstr>Structured and Unstructured Data </vt:lpstr>
      <vt:lpstr>Data types from perspective of Analytics </vt:lpstr>
      <vt:lpstr>Fundamental of Analytics</vt:lpstr>
      <vt:lpstr>Types and Level of Business  Analytics</vt:lpstr>
      <vt:lpstr>Comparison  </vt:lpstr>
      <vt:lpstr>Techniques of Descriptive Analytics</vt:lpstr>
      <vt:lpstr>Diagnostics Analytics</vt:lpstr>
      <vt:lpstr>Techniques of Diagnostic Analytics</vt:lpstr>
      <vt:lpstr>Predictive Analytics</vt:lpstr>
      <vt:lpstr>Predictive Analytics</vt:lpstr>
      <vt:lpstr>Prescriptive Analytics: Data Drive Decision Making </vt:lpstr>
      <vt:lpstr>Prescriptive Techniques</vt:lpstr>
      <vt:lpstr>Important Consideration Before Analytics. </vt:lpstr>
      <vt:lpstr>Typical Analytical Flow </vt:lpstr>
      <vt:lpstr>Exercise 1: </vt:lpstr>
      <vt:lpstr>Exercise 2: </vt:lpstr>
      <vt:lpstr>Exercise 3: </vt:lpstr>
      <vt:lpstr>Look at following </vt:lpstr>
      <vt:lpstr>Exercise 4: </vt:lpstr>
      <vt:lpstr>Cheet Sheet of Choosing Right Analytical techniques</vt:lpstr>
      <vt:lpstr>Cheat Sheet </vt:lpstr>
      <vt:lpstr>Data Analytics Vis-Via-Sequenece </vt:lpstr>
      <vt:lpstr>Time series </vt:lpstr>
      <vt:lpstr>Panel Data Analytics</vt:lpstr>
      <vt:lpstr>Conclusion </vt:lpstr>
      <vt:lpstr>Sources of Business Data </vt:lpstr>
      <vt:lpstr>Data </vt:lpstr>
      <vt:lpstr>Open Access Datasets: Traditional Sources </vt:lpstr>
      <vt:lpstr>Some more </vt:lpstr>
      <vt:lpstr>10 minute exercise</vt:lpstr>
      <vt:lpstr>2. Third party Data</vt:lpstr>
      <vt:lpstr>3. Propriety data sources </vt:lpstr>
      <vt:lpstr>4. Digital Source of Data: A Glodmine </vt:lpstr>
      <vt:lpstr>Digital Source of Data: Application programming interface</vt:lpstr>
      <vt:lpstr>Want to test API?</vt:lpstr>
      <vt:lpstr>Web Scrapping</vt:lpstr>
      <vt:lpstr>Common frameworks</vt:lpstr>
      <vt:lpstr>Steps</vt:lpstr>
      <vt:lpstr>HTML </vt:lpstr>
      <vt:lpstr>For example: Identifying, locating and extracting the Book title </vt:lpstr>
      <vt:lpstr>So, May be we are ready for the web scrapping as well.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Tatiana Burchuladze-Sobczyńska</dc:creator>
  <cp:lastModifiedBy>Junaid Ahmed</cp:lastModifiedBy>
  <cp:revision>48</cp:revision>
  <dcterms:created xsi:type="dcterms:W3CDTF">2024-10-15T11:10:46Z</dcterms:created>
  <dcterms:modified xsi:type="dcterms:W3CDTF">2026-09-28T15:11:07Z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0x010100B087EC81CD302847A068D809FADF129F</vt:lpwstr>
  </property>
</Properties>
</file>